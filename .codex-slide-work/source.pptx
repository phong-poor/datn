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chart2.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7" r:id="rId2"/>
    <p:sldId id="256" r:id="rId3"/>
    <p:sldId id="258" r:id="rId4"/>
    <p:sldId id="259" r:id="rId5"/>
    <p:sldId id="260" r:id="rId6"/>
    <p:sldId id="261" r:id="rId7"/>
    <p:sldId id="262" r:id="rId8"/>
    <p:sldId id="263" r:id="rId9"/>
    <p:sldId id="264" r:id="rId10"/>
    <p:sldId id="265" r:id="rId11"/>
    <p:sldId id="266" r:id="rId12"/>
    <p:sldId id="271" r:id="rId13"/>
    <p:sldId id="268" r:id="rId14"/>
    <p:sldId id="269" r:id="rId15"/>
    <p:sldId id="270"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4" d="100"/>
          <a:sy n="74" d="100"/>
        </p:scale>
        <p:origin x="1013" y="8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overlay val="0"/>
    </c:title>
    <c:autoTitleDeleted val="0"/>
    <c:plotArea>
      <c:layout/>
      <c:pieChart>
        <c:varyColors val="1"/>
        <c:ser>
          <c:idx val="0"/>
          <c:order val="0"/>
          <c:tx>
            <c:strRef>
              <c:f>Sheet1!$B$1</c:f>
              <c:strCache>
                <c:ptCount val="1"/>
                <c:pt idx="0">
                  <c:v>Kết quả</c:v>
                </c:pt>
              </c:strCache>
            </c:strRef>
          </c:tx>
          <c:dPt>
            <c:idx val="0"/>
            <c:bubble3D val="0"/>
            <c:spPr>
              <a:solidFill>
                <a:srgbClr val="32B25C"/>
              </a:solidFill>
            </c:spPr>
            <c:extLst>
              <c:ext xmlns:c16="http://schemas.microsoft.com/office/drawing/2014/chart" uri="{C3380CC4-5D6E-409C-BE32-E72D297353CC}">
                <c16:uniqueId val="{00000001-F09A-4D57-A158-522F403AA3E8}"/>
              </c:ext>
            </c:extLst>
          </c:dPt>
          <c:dPt>
            <c:idx val="1"/>
            <c:bubble3D val="0"/>
            <c:spPr>
              <a:solidFill>
                <a:srgbClr val="F43B30"/>
              </a:solidFill>
            </c:spPr>
            <c:extLst>
              <c:ext xmlns:c16="http://schemas.microsoft.com/office/drawing/2014/chart" uri="{C3380CC4-5D6E-409C-BE32-E72D297353CC}">
                <c16:uniqueId val="{00000003-F09A-4D57-A158-522F403AA3E8}"/>
              </c:ext>
            </c:extLst>
          </c:dPt>
          <c:dLbls>
            <c:spPr>
              <a:noFill/>
              <a:ln>
                <a:noFill/>
              </a:ln>
              <a:effectLst/>
            </c:spPr>
            <c:txPr>
              <a:bodyPr/>
              <a:lstStyle/>
              <a:p>
                <a:pPr>
                  <a:defRPr sz="900" b="1">
                    <a:latin typeface="Arial"/>
                  </a:defRPr>
                </a:pPr>
                <a:endParaRPr lang="en-US"/>
              </a:p>
            </c:txPr>
            <c:dLblPos val="bestFit"/>
            <c:showLegendKey val="0"/>
            <c:showVal val="1"/>
            <c:showCatName val="0"/>
            <c:showSerName val="0"/>
            <c:showPercent val="1"/>
            <c:showBubbleSize val="0"/>
            <c:showLeaderLines val="1"/>
            <c:extLst>
              <c:ext xmlns:c15="http://schemas.microsoft.com/office/drawing/2012/chart" uri="{CE6537A1-D6FC-4f65-9D91-7224C49458BB}"/>
            </c:extLst>
          </c:dLbls>
          <c:cat>
            <c:strRef>
              <c:f>Sheet1!$A$2:$A$3</c:f>
              <c:strCache>
                <c:ptCount val="2"/>
                <c:pt idx="0">
                  <c:v>Pass</c:v>
                </c:pt>
                <c:pt idx="1">
                  <c:v>Fail</c:v>
                </c:pt>
              </c:strCache>
            </c:strRef>
          </c:cat>
          <c:val>
            <c:numRef>
              <c:f>Sheet1!$B$2:$B$3</c:f>
              <c:numCache>
                <c:formatCode>General</c:formatCode>
                <c:ptCount val="2"/>
                <c:pt idx="0">
                  <c:v>83.5</c:v>
                </c:pt>
                <c:pt idx="1">
                  <c:v>16.5</c:v>
                </c:pt>
              </c:numCache>
            </c:numRef>
          </c:val>
          <c:extLst>
            <c:ext xmlns:c16="http://schemas.microsoft.com/office/drawing/2014/chart" uri="{C3380CC4-5D6E-409C-BE32-E72D297353CC}">
              <c16:uniqueId val="{00000004-F09A-4D57-A158-522F403AA3E8}"/>
            </c:ext>
          </c:extLst>
        </c:ser>
        <c:dLbls>
          <c:dLblPos val="bestFit"/>
          <c:showLegendKey val="0"/>
          <c:showVal val="1"/>
          <c:showCatName val="0"/>
          <c:showSerName val="0"/>
          <c:showPercent val="1"/>
          <c:showBubbleSize val="0"/>
          <c:showLeaderLines val="1"/>
        </c:dLbls>
        <c:firstSliceAng val="0"/>
      </c:pieChart>
    </c:plotArea>
    <c:plotVisOnly val="1"/>
    <c:dispBlanksAs val="gap"/>
    <c:showDLblsOverMax val="1"/>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overlay val="0"/>
    </c:title>
    <c:autoTitleDeleted val="0"/>
    <c:plotArea>
      <c:layout/>
      <c:pieChart>
        <c:varyColors val="1"/>
        <c:ser>
          <c:idx val="0"/>
          <c:order val="0"/>
          <c:tx>
            <c:strRef>
              <c:f>Sheet1!$B$1</c:f>
              <c:strCache>
                <c:ptCount val="1"/>
                <c:pt idx="0">
                  <c:v>Test case</c:v>
                </c:pt>
              </c:strCache>
            </c:strRef>
          </c:tx>
          <c:dPt>
            <c:idx val="0"/>
            <c:bubble3D val="0"/>
            <c:spPr>
              <a:solidFill>
                <a:srgbClr val="1964E1"/>
              </a:solidFill>
            </c:spPr>
            <c:extLst>
              <c:ext xmlns:c16="http://schemas.microsoft.com/office/drawing/2014/chart" uri="{C3380CC4-5D6E-409C-BE32-E72D297353CC}">
                <c16:uniqueId val="{00000001-065B-43E3-AE5F-900025722554}"/>
              </c:ext>
            </c:extLst>
          </c:dPt>
          <c:dPt>
            <c:idx val="1"/>
            <c:bubble3D val="0"/>
            <c:spPr>
              <a:solidFill>
                <a:srgbClr val="F43B30"/>
              </a:solidFill>
            </c:spPr>
            <c:extLst>
              <c:ext xmlns:c16="http://schemas.microsoft.com/office/drawing/2014/chart" uri="{C3380CC4-5D6E-409C-BE32-E72D297353CC}">
                <c16:uniqueId val="{00000003-065B-43E3-AE5F-900025722554}"/>
              </c:ext>
            </c:extLst>
          </c:dPt>
          <c:dPt>
            <c:idx val="2"/>
            <c:bubble3D val="0"/>
            <c:spPr>
              <a:solidFill>
                <a:srgbClr val="FFB80C"/>
              </a:solidFill>
            </c:spPr>
            <c:extLst>
              <c:ext xmlns:c16="http://schemas.microsoft.com/office/drawing/2014/chart" uri="{C3380CC4-5D6E-409C-BE32-E72D297353CC}">
                <c16:uniqueId val="{00000005-065B-43E3-AE5F-900025722554}"/>
              </c:ext>
            </c:extLst>
          </c:dPt>
          <c:dPt>
            <c:idx val="3"/>
            <c:bubble3D val="0"/>
            <c:spPr>
              <a:solidFill>
                <a:srgbClr val="32B25C"/>
              </a:solidFill>
            </c:spPr>
            <c:extLst>
              <c:ext xmlns:c16="http://schemas.microsoft.com/office/drawing/2014/chart" uri="{C3380CC4-5D6E-409C-BE32-E72D297353CC}">
                <c16:uniqueId val="{00000007-065B-43E3-AE5F-900025722554}"/>
              </c:ext>
            </c:extLst>
          </c:dPt>
          <c:dPt>
            <c:idx val="4"/>
            <c:bubble3D val="0"/>
            <c:spPr>
              <a:solidFill>
                <a:srgbClr val="FF7000"/>
              </a:solidFill>
            </c:spPr>
            <c:extLst>
              <c:ext xmlns:c16="http://schemas.microsoft.com/office/drawing/2014/chart" uri="{C3380CC4-5D6E-409C-BE32-E72D297353CC}">
                <c16:uniqueId val="{00000009-065B-43E3-AE5F-900025722554}"/>
              </c:ext>
            </c:extLst>
          </c:dPt>
          <c:dPt>
            <c:idx val="5"/>
            <c:bubble3D val="0"/>
            <c:spPr>
              <a:solidFill>
                <a:srgbClr val="44B8BF"/>
              </a:solidFill>
            </c:spPr>
            <c:extLst>
              <c:ext xmlns:c16="http://schemas.microsoft.com/office/drawing/2014/chart" uri="{C3380CC4-5D6E-409C-BE32-E72D297353CC}">
                <c16:uniqueId val="{0000000B-065B-43E3-AE5F-900025722554}"/>
              </c:ext>
            </c:extLst>
          </c:dPt>
          <c:dPt>
            <c:idx val="6"/>
            <c:bubble3D val="0"/>
            <c:spPr>
              <a:solidFill>
                <a:srgbClr val="709FEB"/>
              </a:solidFill>
            </c:spPr>
            <c:extLst>
              <c:ext xmlns:c16="http://schemas.microsoft.com/office/drawing/2014/chart" uri="{C3380CC4-5D6E-409C-BE32-E72D297353CC}">
                <c16:uniqueId val="{0000000D-065B-43E3-AE5F-900025722554}"/>
              </c:ext>
            </c:extLst>
          </c:dPt>
          <c:dLbls>
            <c:spPr>
              <a:noFill/>
              <a:ln>
                <a:noFill/>
              </a:ln>
              <a:effectLst/>
            </c:spPr>
            <c:txPr>
              <a:bodyPr/>
              <a:lstStyle/>
              <a:p>
                <a:pPr>
                  <a:defRPr sz="750" b="1">
                    <a:latin typeface="Arial"/>
                  </a:defRPr>
                </a:pPr>
                <a:endParaRPr lang="en-US"/>
              </a:p>
            </c:txPr>
            <c:dLblPos val="bestFit"/>
            <c:showLegendKey val="0"/>
            <c:showVal val="1"/>
            <c:showCatName val="0"/>
            <c:showSerName val="0"/>
            <c:showPercent val="1"/>
            <c:showBubbleSize val="0"/>
            <c:showLeaderLines val="1"/>
            <c:extLst>
              <c:ext xmlns:c15="http://schemas.microsoft.com/office/drawing/2012/chart" uri="{CE6537A1-D6FC-4f65-9D91-7224C49458BB}"/>
            </c:extLst>
          </c:dLbls>
          <c:cat>
            <c:strRef>
              <c:f>Sheet1!$A$2:$A$8</c:f>
              <c:strCache>
                <c:ptCount val="7"/>
                <c:pt idx="0">
                  <c:v>Trần Quốc Phong</c:v>
                </c:pt>
                <c:pt idx="1">
                  <c:v>Y Đăng Niê</c:v>
                </c:pt>
                <c:pt idx="2">
                  <c:v>Y Pak Ayun</c:v>
                </c:pt>
                <c:pt idx="3">
                  <c:v>Lê Ngọc Tài</c:v>
                </c:pt>
                <c:pt idx="4">
                  <c:v>Quách Đức Thành</c:v>
                </c:pt>
                <c:pt idx="5">
                  <c:v>Lạc Mạnh Quân Êban</c:v>
                </c:pt>
                <c:pt idx="6">
                  <c:v>Y Thiết Niê</c:v>
                </c:pt>
              </c:strCache>
            </c:strRef>
          </c:cat>
          <c:val>
            <c:numRef>
              <c:f>Sheet1!$B$2:$B$8</c:f>
              <c:numCache>
                <c:formatCode>General</c:formatCode>
                <c:ptCount val="7"/>
                <c:pt idx="0">
                  <c:v>13.1</c:v>
                </c:pt>
                <c:pt idx="1">
                  <c:v>12.4</c:v>
                </c:pt>
                <c:pt idx="2">
                  <c:v>10.9</c:v>
                </c:pt>
                <c:pt idx="3">
                  <c:v>16.600000000000001</c:v>
                </c:pt>
                <c:pt idx="4">
                  <c:v>12.2</c:v>
                </c:pt>
                <c:pt idx="5">
                  <c:v>19.899999999999999</c:v>
                </c:pt>
                <c:pt idx="6">
                  <c:v>14.8</c:v>
                </c:pt>
              </c:numCache>
            </c:numRef>
          </c:val>
          <c:extLst>
            <c:ext xmlns:c16="http://schemas.microsoft.com/office/drawing/2014/chart" uri="{C3380CC4-5D6E-409C-BE32-E72D297353CC}">
              <c16:uniqueId val="{0000000E-065B-43E3-AE5F-900025722554}"/>
            </c:ext>
          </c:extLst>
        </c:ser>
        <c:dLbls>
          <c:dLblPos val="bestFit"/>
          <c:showLegendKey val="0"/>
          <c:showVal val="1"/>
          <c:showCatName val="0"/>
          <c:showSerName val="0"/>
          <c:showPercent val="1"/>
          <c:showBubbleSize val="0"/>
          <c:showLeaderLines val="1"/>
        </c:dLbls>
        <c:firstSliceAng val="0"/>
      </c:pieChart>
    </c:plotArea>
    <c:plotVisOnly val="1"/>
    <c:dispBlanksAs val="gap"/>
    <c:showDLblsOverMax val="1"/>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2.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164939" y="597477"/>
            <a:ext cx="6583680" cy="5852160"/>
          </a:xfrm>
          <a:prstGeom prst="ellipse">
            <a:avLst/>
          </a:prstGeom>
          <a:solidFill>
            <a:srgbClr val="E2F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960120" y="5321808"/>
            <a:ext cx="4572000" cy="109728"/>
          </a:xfrm>
          <a:prstGeom prst="rect">
            <a:avLst/>
          </a:prstGeom>
          <a:solidFill>
            <a:srgbClr val="2A34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417320" y="5413248"/>
            <a:ext cx="128016" cy="822960"/>
          </a:xfrm>
          <a:prstGeom prst="rect">
            <a:avLst/>
          </a:prstGeom>
          <a:solidFill>
            <a:srgbClr val="2A34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983480" y="5413248"/>
            <a:ext cx="128016" cy="822960"/>
          </a:xfrm>
          <a:prstGeom prst="rect">
            <a:avLst/>
          </a:prstGeom>
          <a:solidFill>
            <a:srgbClr val="2A34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630936" y="795528"/>
            <a:ext cx="237744" cy="237744"/>
          </a:xfrm>
          <a:prstGeom prst="ellipse">
            <a:avLst/>
          </a:prstGeom>
          <a:solidFill>
            <a:srgbClr val="FFFFFF"/>
          </a:solidFill>
          <a:ln w="16510">
            <a:solidFill>
              <a:srgbClr val="2A89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694944" y="859536"/>
            <a:ext cx="109728" cy="109728"/>
          </a:xfrm>
          <a:prstGeom prst="ellipse">
            <a:avLst/>
          </a:prstGeom>
          <a:solidFill>
            <a:srgbClr val="68BEF5"/>
          </a:solidFill>
          <a:ln w="3810">
            <a:solidFill>
              <a:srgbClr val="68B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0" name="Connector 39"/>
          <p:cNvCxnSpPr/>
          <p:nvPr/>
        </p:nvCxnSpPr>
        <p:spPr>
          <a:xfrm>
            <a:off x="868680" y="914400"/>
            <a:ext cx="731520" cy="164592"/>
          </a:xfrm>
          <a:prstGeom prst="line">
            <a:avLst/>
          </a:prstGeom>
          <a:ln w="12700">
            <a:solidFill>
              <a:srgbClr val="8CBEE6"/>
            </a:solidFill>
          </a:ln>
        </p:spPr>
        <p:style>
          <a:lnRef idx="2">
            <a:schemeClr val="accent1"/>
          </a:lnRef>
          <a:fillRef idx="0">
            <a:schemeClr val="accent1"/>
          </a:fillRef>
          <a:effectRef idx="1">
            <a:schemeClr val="accent1"/>
          </a:effectRef>
          <a:fontRef idx="minor">
            <a:schemeClr val="tx1"/>
          </a:fontRef>
        </p:style>
      </p:cxnSp>
      <p:sp>
        <p:nvSpPr>
          <p:cNvPr id="41" name="Oval 40"/>
          <p:cNvSpPr/>
          <p:nvPr/>
        </p:nvSpPr>
        <p:spPr>
          <a:xfrm>
            <a:off x="1673351" y="1051560"/>
            <a:ext cx="128016" cy="128016"/>
          </a:xfrm>
          <a:prstGeom prst="ellipse">
            <a:avLst/>
          </a:prstGeom>
          <a:solidFill>
            <a:srgbClr val="2A89E0"/>
          </a:solidFill>
          <a:ln w="3810">
            <a:solidFill>
              <a:srgbClr val="2A89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9445752" y="576072"/>
            <a:ext cx="219456" cy="219456"/>
          </a:xfrm>
          <a:prstGeom prst="ellipse">
            <a:avLst/>
          </a:prstGeom>
          <a:solidFill>
            <a:srgbClr val="FFFFFF"/>
          </a:solidFill>
          <a:ln w="15240">
            <a:solidFill>
              <a:srgbClr val="2A89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p:cNvSpPr/>
          <p:nvPr/>
        </p:nvSpPr>
        <p:spPr>
          <a:xfrm>
            <a:off x="9505188" y="635508"/>
            <a:ext cx="100584" cy="100584"/>
          </a:xfrm>
          <a:prstGeom prst="ellipse">
            <a:avLst/>
          </a:prstGeom>
          <a:solidFill>
            <a:srgbClr val="68BEF5"/>
          </a:solidFill>
          <a:ln w="2540">
            <a:solidFill>
              <a:srgbClr val="68B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4" name="Connector 43"/>
          <p:cNvCxnSpPr/>
          <p:nvPr/>
        </p:nvCxnSpPr>
        <p:spPr>
          <a:xfrm flipV="1">
            <a:off x="9665208" y="566928"/>
            <a:ext cx="1033272" cy="118872"/>
          </a:xfrm>
          <a:prstGeom prst="line">
            <a:avLst/>
          </a:prstGeom>
          <a:ln w="12700">
            <a:solidFill>
              <a:srgbClr val="82AFDC"/>
            </a:solidFill>
          </a:ln>
        </p:spPr>
        <p:style>
          <a:lnRef idx="2">
            <a:schemeClr val="accent1"/>
          </a:lnRef>
          <a:fillRef idx="0">
            <a:schemeClr val="accent1"/>
          </a:fillRef>
          <a:effectRef idx="1">
            <a:schemeClr val="accent1"/>
          </a:effectRef>
          <a:fontRef idx="minor">
            <a:schemeClr val="tx1"/>
          </a:fontRef>
        </p:style>
      </p:cxnSp>
      <p:sp>
        <p:nvSpPr>
          <p:cNvPr id="45" name="Oval 44"/>
          <p:cNvSpPr/>
          <p:nvPr/>
        </p:nvSpPr>
        <p:spPr>
          <a:xfrm>
            <a:off x="10707624" y="448056"/>
            <a:ext cx="201168" cy="201168"/>
          </a:xfrm>
          <a:prstGeom prst="ellipse">
            <a:avLst/>
          </a:prstGeom>
          <a:solidFill>
            <a:srgbClr val="E2F3FF"/>
          </a:solidFill>
          <a:ln w="10160">
            <a:solidFill>
              <a:srgbClr val="0B306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6" name="Connector 45"/>
          <p:cNvCxnSpPr/>
          <p:nvPr/>
        </p:nvCxnSpPr>
        <p:spPr>
          <a:xfrm>
            <a:off x="10881360" y="621792"/>
            <a:ext cx="594360" cy="548640"/>
          </a:xfrm>
          <a:prstGeom prst="line">
            <a:avLst/>
          </a:prstGeom>
          <a:ln w="12700">
            <a:solidFill>
              <a:srgbClr val="82AFDC"/>
            </a:solidFill>
          </a:ln>
        </p:spPr>
        <p:style>
          <a:lnRef idx="2">
            <a:schemeClr val="accent1"/>
          </a:lnRef>
          <a:fillRef idx="0">
            <a:schemeClr val="accent1"/>
          </a:fillRef>
          <a:effectRef idx="1">
            <a:schemeClr val="accent1"/>
          </a:effectRef>
          <a:fontRef idx="minor">
            <a:schemeClr val="tx1"/>
          </a:fontRef>
        </p:style>
      </p:cxnSp>
      <p:sp>
        <p:nvSpPr>
          <p:cNvPr id="47" name="Oval 46"/>
          <p:cNvSpPr/>
          <p:nvPr/>
        </p:nvSpPr>
        <p:spPr>
          <a:xfrm>
            <a:off x="11320272" y="1014983"/>
            <a:ext cx="621792" cy="621792"/>
          </a:xfrm>
          <a:prstGeom prst="ellipse">
            <a:avLst/>
          </a:prstGeom>
          <a:solidFill>
            <a:srgbClr val="FFFFFF"/>
          </a:solidFill>
          <a:ln w="12700">
            <a:solidFill>
              <a:srgbClr val="0B306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val 47"/>
          <p:cNvSpPr/>
          <p:nvPr/>
        </p:nvSpPr>
        <p:spPr>
          <a:xfrm>
            <a:off x="11448288" y="1143000"/>
            <a:ext cx="365760" cy="365760"/>
          </a:xfrm>
          <a:prstGeom prst="ellipse">
            <a:avLst/>
          </a:prstGeom>
          <a:solidFill>
            <a:srgbClr val="68BEF5"/>
          </a:solidFill>
          <a:ln w="10160">
            <a:solidFill>
              <a:srgbClr val="2A89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11548872" y="1243584"/>
            <a:ext cx="164592" cy="164592"/>
          </a:xfrm>
          <a:prstGeom prst="ellipse">
            <a:avLst/>
          </a:prstGeom>
          <a:solidFill>
            <a:srgbClr val="E2F3FF"/>
          </a:solidFill>
          <a:ln w="2540">
            <a:solidFill>
              <a:srgbClr val="E2F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6458095" y="1337455"/>
            <a:ext cx="4754880" cy="320040"/>
          </a:xfrm>
          <a:prstGeom prst="rect">
            <a:avLst/>
          </a:prstGeom>
          <a:noFill/>
        </p:spPr>
        <p:txBody>
          <a:bodyPr wrap="square" anchor="ctr">
            <a:spAutoFit/>
          </a:bodyPr>
          <a:lstStyle/>
          <a:p>
            <a:pPr algn="l"/>
            <a:r>
              <a:rPr sz="1100" b="1">
                <a:solidFill>
                  <a:srgbClr val="2A89E0"/>
                </a:solidFill>
                <a:latin typeface="Arial"/>
              </a:rPr>
              <a:t>ĐỒ ÁN / PROJECT</a:t>
            </a:r>
          </a:p>
        </p:txBody>
      </p:sp>
      <p:sp>
        <p:nvSpPr>
          <p:cNvPr id="51" name="TextBox 50"/>
          <p:cNvSpPr txBox="1"/>
          <p:nvPr/>
        </p:nvSpPr>
        <p:spPr>
          <a:xfrm>
            <a:off x="6419088" y="2212508"/>
            <a:ext cx="5294376" cy="1015663"/>
          </a:xfrm>
          <a:prstGeom prst="rect">
            <a:avLst/>
          </a:prstGeom>
          <a:noFill/>
        </p:spPr>
        <p:txBody>
          <a:bodyPr wrap="square" lIns="91440" tIns="45720" rIns="91440" bIns="45720" anchor="ctr">
            <a:spAutoFit/>
          </a:bodyPr>
          <a:lstStyle/>
          <a:p>
            <a:r>
              <a:rPr lang="en-US" sz="3000" b="1" err="1">
                <a:solidFill>
                  <a:srgbClr val="0B3064"/>
                </a:solidFill>
                <a:latin typeface="Arial"/>
                <a:cs typeface="Arial"/>
              </a:rPr>
              <a:t>Xây</a:t>
            </a:r>
            <a:r>
              <a:rPr lang="en-US" sz="3000" b="1">
                <a:solidFill>
                  <a:srgbClr val="0B3064"/>
                </a:solidFill>
                <a:latin typeface="Arial"/>
                <a:cs typeface="Arial"/>
              </a:rPr>
              <a:t> </a:t>
            </a:r>
            <a:r>
              <a:rPr lang="en-US" sz="3000" b="1" err="1">
                <a:solidFill>
                  <a:srgbClr val="0B3064"/>
                </a:solidFill>
                <a:latin typeface="Arial"/>
                <a:cs typeface="Arial"/>
              </a:rPr>
              <a:t>dựng</a:t>
            </a:r>
            <a:r>
              <a:rPr lang="en-US" sz="3000" b="1">
                <a:solidFill>
                  <a:srgbClr val="0B3064"/>
                </a:solidFill>
                <a:latin typeface="Arial"/>
                <a:cs typeface="Arial"/>
              </a:rPr>
              <a:t> website </a:t>
            </a:r>
            <a:r>
              <a:rPr lang="en-US" sz="3000" b="1" err="1">
                <a:solidFill>
                  <a:srgbClr val="0B3064"/>
                </a:solidFill>
                <a:latin typeface="Arial"/>
                <a:cs typeface="Arial"/>
              </a:rPr>
              <a:t>bán</a:t>
            </a:r>
            <a:r>
              <a:rPr lang="en-US" sz="3000" b="1">
                <a:solidFill>
                  <a:srgbClr val="0B3064"/>
                </a:solidFill>
                <a:latin typeface="Arial"/>
                <a:cs typeface="Arial"/>
              </a:rPr>
              <a:t> </a:t>
            </a:r>
            <a:r>
              <a:rPr lang="en-US" sz="3000" b="1" err="1">
                <a:solidFill>
                  <a:srgbClr val="0B3064"/>
                </a:solidFill>
                <a:latin typeface="Arial"/>
                <a:cs typeface="Arial"/>
              </a:rPr>
              <a:t>máy</a:t>
            </a:r>
            <a:r>
              <a:rPr lang="en-US" sz="3000" b="1">
                <a:solidFill>
                  <a:srgbClr val="0B3064"/>
                </a:solidFill>
                <a:latin typeface="Arial"/>
                <a:cs typeface="Arial"/>
              </a:rPr>
              <a:t> tính NextGen</a:t>
            </a:r>
          </a:p>
        </p:txBody>
      </p:sp>
      <p:sp>
        <p:nvSpPr>
          <p:cNvPr id="52" name="Rectangle 51"/>
          <p:cNvSpPr/>
          <p:nvPr/>
        </p:nvSpPr>
        <p:spPr>
          <a:xfrm>
            <a:off x="6446520" y="3931920"/>
            <a:ext cx="1143000" cy="54864"/>
          </a:xfrm>
          <a:prstGeom prst="rect">
            <a:avLst/>
          </a:prstGeom>
          <a:solidFill>
            <a:srgbClr val="2A89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6446520" y="4096512"/>
            <a:ext cx="4754880" cy="411480"/>
          </a:xfrm>
          <a:prstGeom prst="rect">
            <a:avLst/>
          </a:prstGeom>
          <a:noFill/>
        </p:spPr>
        <p:txBody>
          <a:bodyPr wrap="square" anchor="ctr">
            <a:spAutoFit/>
          </a:bodyPr>
          <a:lstStyle/>
          <a:p>
            <a:pPr algn="l"/>
            <a:r>
              <a:rPr sz="1500" b="0">
                <a:solidFill>
                  <a:srgbClr val="646E7A"/>
                </a:solidFill>
                <a:latin typeface="Arial"/>
              </a:rPr>
              <a:t>Thiết kế website thương mại điện tử</a:t>
            </a:r>
          </a:p>
        </p:txBody>
      </p:sp>
      <p:sp>
        <p:nvSpPr>
          <p:cNvPr id="54" name="Rounded Rectangle 53"/>
          <p:cNvSpPr/>
          <p:nvPr/>
        </p:nvSpPr>
        <p:spPr>
          <a:xfrm>
            <a:off x="6403388" y="4723537"/>
            <a:ext cx="2148840" cy="713232"/>
          </a:xfrm>
          <a:prstGeom prst="roundRect">
            <a:avLst/>
          </a:prstGeom>
          <a:solidFill>
            <a:srgbClr val="F7FBFF"/>
          </a:solidFill>
          <a:ln>
            <a:solidFill>
              <a:srgbClr val="DCE8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Oval 54"/>
          <p:cNvSpPr/>
          <p:nvPr/>
        </p:nvSpPr>
        <p:spPr>
          <a:xfrm>
            <a:off x="6638544" y="4919472"/>
            <a:ext cx="292608" cy="292608"/>
          </a:xfrm>
          <a:prstGeom prst="ellipse">
            <a:avLst/>
          </a:prstGeom>
          <a:solidFill>
            <a:srgbClr val="E2F3FF"/>
          </a:solidFill>
          <a:ln w="12700">
            <a:solidFill>
              <a:srgbClr val="2A89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7059168" y="4818888"/>
            <a:ext cx="1325880" cy="201168"/>
          </a:xfrm>
          <a:prstGeom prst="rect">
            <a:avLst/>
          </a:prstGeom>
          <a:noFill/>
        </p:spPr>
        <p:txBody>
          <a:bodyPr wrap="square" anchor="ctr">
            <a:spAutoFit/>
          </a:bodyPr>
          <a:lstStyle/>
          <a:p>
            <a:pPr algn="l"/>
            <a:r>
              <a:rPr sz="900" b="1">
                <a:solidFill>
                  <a:srgbClr val="646E7A"/>
                </a:solidFill>
                <a:latin typeface="Arial"/>
              </a:rPr>
              <a:t>NHÓM</a:t>
            </a:r>
          </a:p>
        </p:txBody>
      </p:sp>
      <p:sp>
        <p:nvSpPr>
          <p:cNvPr id="57" name="TextBox 56"/>
          <p:cNvSpPr txBox="1"/>
          <p:nvPr/>
        </p:nvSpPr>
        <p:spPr>
          <a:xfrm>
            <a:off x="7059168" y="4992734"/>
            <a:ext cx="1493060" cy="292388"/>
          </a:xfrm>
          <a:prstGeom prst="rect">
            <a:avLst/>
          </a:prstGeom>
          <a:noFill/>
        </p:spPr>
        <p:txBody>
          <a:bodyPr wrap="square" anchor="ctr">
            <a:spAutoFit/>
          </a:bodyPr>
          <a:lstStyle/>
          <a:p>
            <a:pPr algn="l"/>
            <a:r>
              <a:rPr sz="1300" b="1">
                <a:solidFill>
                  <a:srgbClr val="0B3064"/>
                </a:solidFill>
                <a:latin typeface="Arial"/>
              </a:rPr>
              <a:t>Predator group</a:t>
            </a:r>
          </a:p>
        </p:txBody>
      </p:sp>
      <p:sp>
        <p:nvSpPr>
          <p:cNvPr id="58" name="Rounded Rectangle 57"/>
          <p:cNvSpPr/>
          <p:nvPr/>
        </p:nvSpPr>
        <p:spPr>
          <a:xfrm>
            <a:off x="8759952" y="4709160"/>
            <a:ext cx="2743200" cy="713232"/>
          </a:xfrm>
          <a:prstGeom prst="roundRect">
            <a:avLst/>
          </a:prstGeom>
          <a:solidFill>
            <a:srgbClr val="F7FBFF"/>
          </a:solidFill>
          <a:ln>
            <a:solidFill>
              <a:srgbClr val="DCE8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Oval 58"/>
          <p:cNvSpPr/>
          <p:nvPr/>
        </p:nvSpPr>
        <p:spPr>
          <a:xfrm>
            <a:off x="8951976" y="4919472"/>
            <a:ext cx="292608" cy="292608"/>
          </a:xfrm>
          <a:prstGeom prst="ellipse">
            <a:avLst/>
          </a:prstGeom>
          <a:solidFill>
            <a:srgbClr val="E2F3FF"/>
          </a:solidFill>
          <a:ln w="12700">
            <a:solidFill>
              <a:srgbClr val="2A89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9372600" y="4818888"/>
            <a:ext cx="1874519" cy="201168"/>
          </a:xfrm>
          <a:prstGeom prst="rect">
            <a:avLst/>
          </a:prstGeom>
          <a:noFill/>
        </p:spPr>
        <p:txBody>
          <a:bodyPr wrap="square" anchor="ctr">
            <a:spAutoFit/>
          </a:bodyPr>
          <a:lstStyle/>
          <a:p>
            <a:pPr algn="l"/>
            <a:r>
              <a:rPr sz="900" b="1">
                <a:solidFill>
                  <a:srgbClr val="646E7A"/>
                </a:solidFill>
                <a:latin typeface="Arial"/>
              </a:rPr>
              <a:t>GV HƯỚNG DẪN</a:t>
            </a:r>
          </a:p>
        </p:txBody>
      </p:sp>
      <p:sp>
        <p:nvSpPr>
          <p:cNvPr id="61" name="TextBox 60"/>
          <p:cNvSpPr txBox="1"/>
          <p:nvPr/>
        </p:nvSpPr>
        <p:spPr>
          <a:xfrm>
            <a:off x="9372600" y="5010912"/>
            <a:ext cx="1874519" cy="256032"/>
          </a:xfrm>
          <a:prstGeom prst="rect">
            <a:avLst/>
          </a:prstGeom>
          <a:noFill/>
        </p:spPr>
        <p:txBody>
          <a:bodyPr wrap="square" anchor="ctr">
            <a:spAutoFit/>
          </a:bodyPr>
          <a:lstStyle/>
          <a:p>
            <a:pPr algn="l"/>
            <a:r>
              <a:rPr sz="1300" b="1">
                <a:solidFill>
                  <a:srgbClr val="0B3064"/>
                </a:solidFill>
                <a:latin typeface="Arial"/>
              </a:rPr>
              <a:t>Lê Hồng Sơn</a:t>
            </a:r>
          </a:p>
        </p:txBody>
      </p:sp>
      <p:sp>
        <p:nvSpPr>
          <p:cNvPr id="62" name="Rectangle 61"/>
          <p:cNvSpPr/>
          <p:nvPr/>
        </p:nvSpPr>
        <p:spPr>
          <a:xfrm>
            <a:off x="6446520" y="5989320"/>
            <a:ext cx="5074920" cy="36576"/>
          </a:xfrm>
          <a:prstGeom prst="rect">
            <a:avLst/>
          </a:prstGeom>
          <a:solidFill>
            <a:srgbClr val="D2E1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6446520" y="6099048"/>
            <a:ext cx="5029200" cy="274320"/>
          </a:xfrm>
          <a:prstGeom prst="rect">
            <a:avLst/>
          </a:prstGeom>
          <a:noFill/>
        </p:spPr>
        <p:txBody>
          <a:bodyPr wrap="square" anchor="ctr">
            <a:spAutoFit/>
          </a:bodyPr>
          <a:lstStyle/>
          <a:p>
            <a:pPr algn="l"/>
            <a:r>
              <a:rPr sz="900" b="0">
                <a:solidFill>
                  <a:srgbClr val="646E7A"/>
                </a:solidFill>
                <a:latin typeface="Arial"/>
              </a:rPr>
              <a:t>WEBSITE LAPTOP &amp; ACCESSORIES</a:t>
            </a:r>
          </a:p>
        </p:txBody>
      </p:sp>
      <p:pic>
        <p:nvPicPr>
          <p:cNvPr id="65" name="Picture 64" descr="A computer and a phone&#10;&#10;Description automatically generated">
            <a:extLst>
              <a:ext uri="{FF2B5EF4-FFF2-40B4-BE49-F238E27FC236}">
                <a16:creationId xmlns:a16="http://schemas.microsoft.com/office/drawing/2014/main" id="{3882D2D4-371D-D51F-8E80-BBDE012329A2}"/>
              </a:ext>
            </a:extLst>
          </p:cNvPr>
          <p:cNvPicPr>
            <a:picLocks noChangeAspect="1"/>
          </p:cNvPicPr>
          <p:nvPr/>
        </p:nvPicPr>
        <p:blipFill>
          <a:blip r:embed="rId2"/>
          <a:stretch>
            <a:fillRect/>
          </a:stretch>
        </p:blipFill>
        <p:spPr>
          <a:xfrm>
            <a:off x="-1458124" y="493667"/>
            <a:ext cx="9408488" cy="6272325"/>
          </a:xfrm>
          <a:prstGeom prst="rect">
            <a:avLst/>
          </a:prstGeom>
        </p:spPr>
      </p:pic>
      <p:pic>
        <p:nvPicPr>
          <p:cNvPr id="68" name="Picture 67" descr="A black background with orange and blue text&#10;&#10;Description automatically generated">
            <a:extLst>
              <a:ext uri="{FF2B5EF4-FFF2-40B4-BE49-F238E27FC236}">
                <a16:creationId xmlns:a16="http://schemas.microsoft.com/office/drawing/2014/main" id="{10BB725E-E0BC-54FE-39A4-7F206598E80A}"/>
              </a:ext>
            </a:extLst>
          </p:cNvPr>
          <p:cNvPicPr>
            <a:picLocks noChangeAspect="1"/>
          </p:cNvPicPr>
          <p:nvPr/>
        </p:nvPicPr>
        <p:blipFill>
          <a:blip r:embed="rId3"/>
          <a:stretch>
            <a:fillRect/>
          </a:stretch>
        </p:blipFill>
        <p:spPr>
          <a:xfrm>
            <a:off x="10777306" y="-88712"/>
            <a:ext cx="1164758" cy="1164758"/>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Oval 1"/>
          <p:cNvSpPr/>
          <p:nvPr/>
        </p:nvSpPr>
        <p:spPr>
          <a:xfrm>
            <a:off x="120700" y="120700"/>
            <a:ext cx="32918" cy="32918"/>
          </a:xfrm>
          <a:prstGeom prst="ellipse">
            <a:avLst/>
          </a:prstGeom>
          <a:solidFill>
            <a:srgbClr val="DEEFFF"/>
          </a:solidFill>
          <a:ln w="2540">
            <a:solidFill>
              <a:srgbClr val="DEE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239572" y="120700"/>
            <a:ext cx="32918" cy="32918"/>
          </a:xfrm>
          <a:prstGeom prst="ellipse">
            <a:avLst/>
          </a:prstGeom>
          <a:solidFill>
            <a:srgbClr val="DEEFFF"/>
          </a:solidFill>
          <a:ln w="2540">
            <a:solidFill>
              <a:srgbClr val="DEE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358444" y="120700"/>
            <a:ext cx="32918" cy="32918"/>
          </a:xfrm>
          <a:prstGeom prst="ellipse">
            <a:avLst/>
          </a:prstGeom>
          <a:solidFill>
            <a:srgbClr val="DEEFFF"/>
          </a:solidFill>
          <a:ln w="2540">
            <a:solidFill>
              <a:srgbClr val="DEE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477316" y="120700"/>
            <a:ext cx="32918" cy="32918"/>
          </a:xfrm>
          <a:prstGeom prst="ellipse">
            <a:avLst/>
          </a:prstGeom>
          <a:solidFill>
            <a:srgbClr val="DEEFFF"/>
          </a:solidFill>
          <a:ln w="2540">
            <a:solidFill>
              <a:srgbClr val="DEE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596188" y="120700"/>
            <a:ext cx="32918" cy="32918"/>
          </a:xfrm>
          <a:prstGeom prst="ellipse">
            <a:avLst/>
          </a:prstGeom>
          <a:solidFill>
            <a:srgbClr val="DEEFFF"/>
          </a:solidFill>
          <a:ln w="2540">
            <a:solidFill>
              <a:srgbClr val="DEE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715060" y="120700"/>
            <a:ext cx="32918" cy="32918"/>
          </a:xfrm>
          <a:prstGeom prst="ellipse">
            <a:avLst/>
          </a:prstGeom>
          <a:solidFill>
            <a:srgbClr val="DEEFFF"/>
          </a:solidFill>
          <a:ln w="2540">
            <a:solidFill>
              <a:srgbClr val="DEE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833932" y="120700"/>
            <a:ext cx="32918" cy="32918"/>
          </a:xfrm>
          <a:prstGeom prst="ellipse">
            <a:avLst/>
          </a:prstGeom>
          <a:solidFill>
            <a:srgbClr val="DEEFFF"/>
          </a:solidFill>
          <a:ln w="2540">
            <a:solidFill>
              <a:srgbClr val="DEE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952804" y="120700"/>
            <a:ext cx="32918" cy="32918"/>
          </a:xfrm>
          <a:prstGeom prst="ellipse">
            <a:avLst/>
          </a:prstGeom>
          <a:solidFill>
            <a:srgbClr val="DEEFFF"/>
          </a:solidFill>
          <a:ln w="2540">
            <a:solidFill>
              <a:srgbClr val="DEE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071676" y="120700"/>
            <a:ext cx="32918" cy="32918"/>
          </a:xfrm>
          <a:prstGeom prst="ellipse">
            <a:avLst/>
          </a:prstGeom>
          <a:solidFill>
            <a:srgbClr val="DEEFFF"/>
          </a:solidFill>
          <a:ln w="2540">
            <a:solidFill>
              <a:srgbClr val="DEE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1190548" y="120700"/>
            <a:ext cx="32918" cy="32918"/>
          </a:xfrm>
          <a:prstGeom prst="ellipse">
            <a:avLst/>
          </a:prstGeom>
          <a:solidFill>
            <a:srgbClr val="DEEFFF"/>
          </a:solidFill>
          <a:ln w="2540">
            <a:solidFill>
              <a:srgbClr val="DEE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1309420" y="120700"/>
            <a:ext cx="32918" cy="32918"/>
          </a:xfrm>
          <a:prstGeom prst="ellipse">
            <a:avLst/>
          </a:prstGeom>
          <a:solidFill>
            <a:srgbClr val="DEEFFF"/>
          </a:solidFill>
          <a:ln w="2540">
            <a:solidFill>
              <a:srgbClr val="DEE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1428292" y="120700"/>
            <a:ext cx="32918" cy="32918"/>
          </a:xfrm>
          <a:prstGeom prst="ellipse">
            <a:avLst/>
          </a:prstGeom>
          <a:solidFill>
            <a:srgbClr val="DEEFFF"/>
          </a:solidFill>
          <a:ln w="2540">
            <a:solidFill>
              <a:srgbClr val="DEE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120700" y="239572"/>
            <a:ext cx="32918" cy="32918"/>
          </a:xfrm>
          <a:prstGeom prst="ellipse">
            <a:avLst/>
          </a:prstGeom>
          <a:solidFill>
            <a:srgbClr val="DEEFFF"/>
          </a:solidFill>
          <a:ln w="2540">
            <a:solidFill>
              <a:srgbClr val="DEE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239572" y="239572"/>
            <a:ext cx="32918" cy="32918"/>
          </a:xfrm>
          <a:prstGeom prst="ellipse">
            <a:avLst/>
          </a:prstGeom>
          <a:solidFill>
            <a:srgbClr val="DEEFFF"/>
          </a:solidFill>
          <a:ln w="2540">
            <a:solidFill>
              <a:srgbClr val="DEE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358444" y="239572"/>
            <a:ext cx="32918" cy="32918"/>
          </a:xfrm>
          <a:prstGeom prst="ellipse">
            <a:avLst/>
          </a:prstGeom>
          <a:solidFill>
            <a:srgbClr val="DEEFFF"/>
          </a:solidFill>
          <a:ln w="2540">
            <a:solidFill>
              <a:srgbClr val="DEE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477316" y="239572"/>
            <a:ext cx="32918" cy="32918"/>
          </a:xfrm>
          <a:prstGeom prst="ellipse">
            <a:avLst/>
          </a:prstGeom>
          <a:solidFill>
            <a:srgbClr val="DEEFFF"/>
          </a:solidFill>
          <a:ln w="2540">
            <a:solidFill>
              <a:srgbClr val="DEE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596188" y="239572"/>
            <a:ext cx="32918" cy="32918"/>
          </a:xfrm>
          <a:prstGeom prst="ellipse">
            <a:avLst/>
          </a:prstGeom>
          <a:solidFill>
            <a:srgbClr val="DEEFFF"/>
          </a:solidFill>
          <a:ln w="2540">
            <a:solidFill>
              <a:srgbClr val="DEE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715060" y="239572"/>
            <a:ext cx="32918" cy="32918"/>
          </a:xfrm>
          <a:prstGeom prst="ellipse">
            <a:avLst/>
          </a:prstGeom>
          <a:solidFill>
            <a:srgbClr val="DEEFFF"/>
          </a:solidFill>
          <a:ln w="2540">
            <a:solidFill>
              <a:srgbClr val="DEE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833932" y="239572"/>
            <a:ext cx="32918" cy="32918"/>
          </a:xfrm>
          <a:prstGeom prst="ellipse">
            <a:avLst/>
          </a:prstGeom>
          <a:solidFill>
            <a:srgbClr val="DEEFFF"/>
          </a:solidFill>
          <a:ln w="2540">
            <a:solidFill>
              <a:srgbClr val="DEE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952804" y="239572"/>
            <a:ext cx="32918" cy="32918"/>
          </a:xfrm>
          <a:prstGeom prst="ellipse">
            <a:avLst/>
          </a:prstGeom>
          <a:solidFill>
            <a:srgbClr val="DEEFFF"/>
          </a:solidFill>
          <a:ln w="2540">
            <a:solidFill>
              <a:srgbClr val="DEE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1071676" y="239572"/>
            <a:ext cx="32918" cy="32918"/>
          </a:xfrm>
          <a:prstGeom prst="ellipse">
            <a:avLst/>
          </a:prstGeom>
          <a:solidFill>
            <a:srgbClr val="DEEFFF"/>
          </a:solidFill>
          <a:ln w="2540">
            <a:solidFill>
              <a:srgbClr val="DEE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1190548" y="239572"/>
            <a:ext cx="32918" cy="32918"/>
          </a:xfrm>
          <a:prstGeom prst="ellipse">
            <a:avLst/>
          </a:prstGeom>
          <a:solidFill>
            <a:srgbClr val="DEEFFF"/>
          </a:solidFill>
          <a:ln w="2540">
            <a:solidFill>
              <a:srgbClr val="DEE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1309420" y="239572"/>
            <a:ext cx="32918" cy="32918"/>
          </a:xfrm>
          <a:prstGeom prst="ellipse">
            <a:avLst/>
          </a:prstGeom>
          <a:solidFill>
            <a:srgbClr val="DEEFFF"/>
          </a:solidFill>
          <a:ln w="2540">
            <a:solidFill>
              <a:srgbClr val="DEE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1428292" y="239572"/>
            <a:ext cx="32918" cy="32918"/>
          </a:xfrm>
          <a:prstGeom prst="ellipse">
            <a:avLst/>
          </a:prstGeom>
          <a:solidFill>
            <a:srgbClr val="DEEFFF"/>
          </a:solidFill>
          <a:ln w="2540">
            <a:solidFill>
              <a:srgbClr val="DEE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120700" y="358444"/>
            <a:ext cx="32918" cy="32918"/>
          </a:xfrm>
          <a:prstGeom prst="ellipse">
            <a:avLst/>
          </a:prstGeom>
          <a:solidFill>
            <a:srgbClr val="DEEFFF"/>
          </a:solidFill>
          <a:ln w="2540">
            <a:solidFill>
              <a:srgbClr val="DEE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239572" y="358444"/>
            <a:ext cx="32918" cy="32918"/>
          </a:xfrm>
          <a:prstGeom prst="ellipse">
            <a:avLst/>
          </a:prstGeom>
          <a:solidFill>
            <a:srgbClr val="DEEFFF"/>
          </a:solidFill>
          <a:ln w="2540">
            <a:solidFill>
              <a:srgbClr val="DEE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358444" y="358444"/>
            <a:ext cx="32918" cy="32918"/>
          </a:xfrm>
          <a:prstGeom prst="ellipse">
            <a:avLst/>
          </a:prstGeom>
          <a:solidFill>
            <a:srgbClr val="DEEFFF"/>
          </a:solidFill>
          <a:ln w="2540">
            <a:solidFill>
              <a:srgbClr val="DEE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477316" y="358444"/>
            <a:ext cx="32918" cy="32918"/>
          </a:xfrm>
          <a:prstGeom prst="ellipse">
            <a:avLst/>
          </a:prstGeom>
          <a:solidFill>
            <a:srgbClr val="DEEFFF"/>
          </a:solidFill>
          <a:ln w="2540">
            <a:solidFill>
              <a:srgbClr val="DEE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596188" y="358444"/>
            <a:ext cx="32918" cy="32918"/>
          </a:xfrm>
          <a:prstGeom prst="ellipse">
            <a:avLst/>
          </a:prstGeom>
          <a:solidFill>
            <a:srgbClr val="DEEFFF"/>
          </a:solidFill>
          <a:ln w="2540">
            <a:solidFill>
              <a:srgbClr val="DEE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715060" y="358444"/>
            <a:ext cx="32918" cy="32918"/>
          </a:xfrm>
          <a:prstGeom prst="ellipse">
            <a:avLst/>
          </a:prstGeom>
          <a:solidFill>
            <a:srgbClr val="DEEFFF"/>
          </a:solidFill>
          <a:ln w="2540">
            <a:solidFill>
              <a:srgbClr val="DEE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833932" y="358444"/>
            <a:ext cx="32918" cy="32918"/>
          </a:xfrm>
          <a:prstGeom prst="ellipse">
            <a:avLst/>
          </a:prstGeom>
          <a:solidFill>
            <a:srgbClr val="DEEFFF"/>
          </a:solidFill>
          <a:ln w="2540">
            <a:solidFill>
              <a:srgbClr val="DEE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952804" y="358444"/>
            <a:ext cx="32918" cy="32918"/>
          </a:xfrm>
          <a:prstGeom prst="ellipse">
            <a:avLst/>
          </a:prstGeom>
          <a:solidFill>
            <a:srgbClr val="DEEFFF"/>
          </a:solidFill>
          <a:ln w="2540">
            <a:solidFill>
              <a:srgbClr val="DEE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1071676" y="358444"/>
            <a:ext cx="32918" cy="32918"/>
          </a:xfrm>
          <a:prstGeom prst="ellipse">
            <a:avLst/>
          </a:prstGeom>
          <a:solidFill>
            <a:srgbClr val="DEEFFF"/>
          </a:solidFill>
          <a:ln w="2540">
            <a:solidFill>
              <a:srgbClr val="DEE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1190548" y="358444"/>
            <a:ext cx="32918" cy="32918"/>
          </a:xfrm>
          <a:prstGeom prst="ellipse">
            <a:avLst/>
          </a:prstGeom>
          <a:solidFill>
            <a:srgbClr val="DEEFFF"/>
          </a:solidFill>
          <a:ln w="2540">
            <a:solidFill>
              <a:srgbClr val="DEE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1309420" y="358444"/>
            <a:ext cx="32918" cy="32918"/>
          </a:xfrm>
          <a:prstGeom prst="ellipse">
            <a:avLst/>
          </a:prstGeom>
          <a:solidFill>
            <a:srgbClr val="DEEFFF"/>
          </a:solidFill>
          <a:ln w="2540">
            <a:solidFill>
              <a:srgbClr val="DEE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1428292" y="358444"/>
            <a:ext cx="32918" cy="32918"/>
          </a:xfrm>
          <a:prstGeom prst="ellipse">
            <a:avLst/>
          </a:prstGeom>
          <a:solidFill>
            <a:srgbClr val="DEEFFF"/>
          </a:solidFill>
          <a:ln w="2540">
            <a:solidFill>
              <a:srgbClr val="DEE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120700" y="477316"/>
            <a:ext cx="32918" cy="32918"/>
          </a:xfrm>
          <a:prstGeom prst="ellipse">
            <a:avLst/>
          </a:prstGeom>
          <a:solidFill>
            <a:srgbClr val="DEEFFF"/>
          </a:solidFill>
          <a:ln w="2540">
            <a:solidFill>
              <a:srgbClr val="DEE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239572" y="477316"/>
            <a:ext cx="32918" cy="32918"/>
          </a:xfrm>
          <a:prstGeom prst="ellipse">
            <a:avLst/>
          </a:prstGeom>
          <a:solidFill>
            <a:srgbClr val="DEEFFF"/>
          </a:solidFill>
          <a:ln w="2540">
            <a:solidFill>
              <a:srgbClr val="DEE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358444" y="477316"/>
            <a:ext cx="32918" cy="32918"/>
          </a:xfrm>
          <a:prstGeom prst="ellipse">
            <a:avLst/>
          </a:prstGeom>
          <a:solidFill>
            <a:srgbClr val="DEEFFF"/>
          </a:solidFill>
          <a:ln w="2540">
            <a:solidFill>
              <a:srgbClr val="DEE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477316" y="477316"/>
            <a:ext cx="32918" cy="32918"/>
          </a:xfrm>
          <a:prstGeom prst="ellipse">
            <a:avLst/>
          </a:prstGeom>
          <a:solidFill>
            <a:srgbClr val="DEEFFF"/>
          </a:solidFill>
          <a:ln w="2540">
            <a:solidFill>
              <a:srgbClr val="DEE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596188" y="477316"/>
            <a:ext cx="32918" cy="32918"/>
          </a:xfrm>
          <a:prstGeom prst="ellipse">
            <a:avLst/>
          </a:prstGeom>
          <a:solidFill>
            <a:srgbClr val="DEEFFF"/>
          </a:solidFill>
          <a:ln w="2540">
            <a:solidFill>
              <a:srgbClr val="DEE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p:cNvSpPr/>
          <p:nvPr/>
        </p:nvSpPr>
        <p:spPr>
          <a:xfrm>
            <a:off x="715060" y="477316"/>
            <a:ext cx="32918" cy="32918"/>
          </a:xfrm>
          <a:prstGeom prst="ellipse">
            <a:avLst/>
          </a:prstGeom>
          <a:solidFill>
            <a:srgbClr val="DEEFFF"/>
          </a:solidFill>
          <a:ln w="2540">
            <a:solidFill>
              <a:srgbClr val="DEE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a:off x="833932" y="477316"/>
            <a:ext cx="32918" cy="32918"/>
          </a:xfrm>
          <a:prstGeom prst="ellipse">
            <a:avLst/>
          </a:prstGeom>
          <a:solidFill>
            <a:srgbClr val="DEEFFF"/>
          </a:solidFill>
          <a:ln w="2540">
            <a:solidFill>
              <a:srgbClr val="DEE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val 44"/>
          <p:cNvSpPr/>
          <p:nvPr/>
        </p:nvSpPr>
        <p:spPr>
          <a:xfrm>
            <a:off x="952804" y="477316"/>
            <a:ext cx="32918" cy="32918"/>
          </a:xfrm>
          <a:prstGeom prst="ellipse">
            <a:avLst/>
          </a:prstGeom>
          <a:solidFill>
            <a:srgbClr val="DEEFFF"/>
          </a:solidFill>
          <a:ln w="2540">
            <a:solidFill>
              <a:srgbClr val="DEE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val 45"/>
          <p:cNvSpPr/>
          <p:nvPr/>
        </p:nvSpPr>
        <p:spPr>
          <a:xfrm>
            <a:off x="1071676" y="477316"/>
            <a:ext cx="32918" cy="32918"/>
          </a:xfrm>
          <a:prstGeom prst="ellipse">
            <a:avLst/>
          </a:prstGeom>
          <a:solidFill>
            <a:srgbClr val="DEEFFF"/>
          </a:solidFill>
          <a:ln w="2540">
            <a:solidFill>
              <a:srgbClr val="DEE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p:cNvSpPr/>
          <p:nvPr/>
        </p:nvSpPr>
        <p:spPr>
          <a:xfrm>
            <a:off x="1190548" y="477316"/>
            <a:ext cx="32918" cy="32918"/>
          </a:xfrm>
          <a:prstGeom prst="ellipse">
            <a:avLst/>
          </a:prstGeom>
          <a:solidFill>
            <a:srgbClr val="DEEFFF"/>
          </a:solidFill>
          <a:ln w="2540">
            <a:solidFill>
              <a:srgbClr val="DEE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val 47"/>
          <p:cNvSpPr/>
          <p:nvPr/>
        </p:nvSpPr>
        <p:spPr>
          <a:xfrm>
            <a:off x="1309420" y="477316"/>
            <a:ext cx="32918" cy="32918"/>
          </a:xfrm>
          <a:prstGeom prst="ellipse">
            <a:avLst/>
          </a:prstGeom>
          <a:solidFill>
            <a:srgbClr val="DEEFFF"/>
          </a:solidFill>
          <a:ln w="2540">
            <a:solidFill>
              <a:srgbClr val="DEE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1428292" y="477316"/>
            <a:ext cx="32918" cy="32918"/>
          </a:xfrm>
          <a:prstGeom prst="ellipse">
            <a:avLst/>
          </a:prstGeom>
          <a:solidFill>
            <a:srgbClr val="DEEFFF"/>
          </a:solidFill>
          <a:ln w="2540">
            <a:solidFill>
              <a:srgbClr val="DEE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120700" y="596188"/>
            <a:ext cx="32918" cy="32918"/>
          </a:xfrm>
          <a:prstGeom prst="ellipse">
            <a:avLst/>
          </a:prstGeom>
          <a:solidFill>
            <a:srgbClr val="DEEFFF"/>
          </a:solidFill>
          <a:ln w="2540">
            <a:solidFill>
              <a:srgbClr val="DEE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val 50"/>
          <p:cNvSpPr/>
          <p:nvPr/>
        </p:nvSpPr>
        <p:spPr>
          <a:xfrm>
            <a:off x="239572" y="596188"/>
            <a:ext cx="32918" cy="32918"/>
          </a:xfrm>
          <a:prstGeom prst="ellipse">
            <a:avLst/>
          </a:prstGeom>
          <a:solidFill>
            <a:srgbClr val="DEEFFF"/>
          </a:solidFill>
          <a:ln w="2540">
            <a:solidFill>
              <a:srgbClr val="DEE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val 51"/>
          <p:cNvSpPr/>
          <p:nvPr/>
        </p:nvSpPr>
        <p:spPr>
          <a:xfrm>
            <a:off x="358444" y="596188"/>
            <a:ext cx="32918" cy="32918"/>
          </a:xfrm>
          <a:prstGeom prst="ellipse">
            <a:avLst/>
          </a:prstGeom>
          <a:solidFill>
            <a:srgbClr val="DEEFFF"/>
          </a:solidFill>
          <a:ln w="2540">
            <a:solidFill>
              <a:srgbClr val="DEE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Oval 52"/>
          <p:cNvSpPr/>
          <p:nvPr/>
        </p:nvSpPr>
        <p:spPr>
          <a:xfrm>
            <a:off x="477316" y="596188"/>
            <a:ext cx="32918" cy="32918"/>
          </a:xfrm>
          <a:prstGeom prst="ellipse">
            <a:avLst/>
          </a:prstGeom>
          <a:solidFill>
            <a:srgbClr val="DEEFFF"/>
          </a:solidFill>
          <a:ln w="2540">
            <a:solidFill>
              <a:srgbClr val="DEE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val 53"/>
          <p:cNvSpPr/>
          <p:nvPr/>
        </p:nvSpPr>
        <p:spPr>
          <a:xfrm>
            <a:off x="596188" y="596188"/>
            <a:ext cx="32918" cy="32918"/>
          </a:xfrm>
          <a:prstGeom prst="ellipse">
            <a:avLst/>
          </a:prstGeom>
          <a:solidFill>
            <a:srgbClr val="DEEFFF"/>
          </a:solidFill>
          <a:ln w="2540">
            <a:solidFill>
              <a:srgbClr val="DEE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Oval 54"/>
          <p:cNvSpPr/>
          <p:nvPr/>
        </p:nvSpPr>
        <p:spPr>
          <a:xfrm>
            <a:off x="715060" y="596188"/>
            <a:ext cx="32918" cy="32918"/>
          </a:xfrm>
          <a:prstGeom prst="ellipse">
            <a:avLst/>
          </a:prstGeom>
          <a:solidFill>
            <a:srgbClr val="DEEFFF"/>
          </a:solidFill>
          <a:ln w="2540">
            <a:solidFill>
              <a:srgbClr val="DEE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val 55"/>
          <p:cNvSpPr/>
          <p:nvPr/>
        </p:nvSpPr>
        <p:spPr>
          <a:xfrm>
            <a:off x="833932" y="596188"/>
            <a:ext cx="32918" cy="32918"/>
          </a:xfrm>
          <a:prstGeom prst="ellipse">
            <a:avLst/>
          </a:prstGeom>
          <a:solidFill>
            <a:srgbClr val="DEEFFF"/>
          </a:solidFill>
          <a:ln w="2540">
            <a:solidFill>
              <a:srgbClr val="DEE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Oval 56"/>
          <p:cNvSpPr/>
          <p:nvPr/>
        </p:nvSpPr>
        <p:spPr>
          <a:xfrm>
            <a:off x="952804" y="596188"/>
            <a:ext cx="32918" cy="32918"/>
          </a:xfrm>
          <a:prstGeom prst="ellipse">
            <a:avLst/>
          </a:prstGeom>
          <a:solidFill>
            <a:srgbClr val="DEEFFF"/>
          </a:solidFill>
          <a:ln w="2540">
            <a:solidFill>
              <a:srgbClr val="DEE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Oval 57"/>
          <p:cNvSpPr/>
          <p:nvPr/>
        </p:nvSpPr>
        <p:spPr>
          <a:xfrm>
            <a:off x="1071676" y="596188"/>
            <a:ext cx="32918" cy="32918"/>
          </a:xfrm>
          <a:prstGeom prst="ellipse">
            <a:avLst/>
          </a:prstGeom>
          <a:solidFill>
            <a:srgbClr val="DEEFFF"/>
          </a:solidFill>
          <a:ln w="2540">
            <a:solidFill>
              <a:srgbClr val="DEE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Oval 58"/>
          <p:cNvSpPr/>
          <p:nvPr/>
        </p:nvSpPr>
        <p:spPr>
          <a:xfrm>
            <a:off x="1190548" y="596188"/>
            <a:ext cx="32918" cy="32918"/>
          </a:xfrm>
          <a:prstGeom prst="ellipse">
            <a:avLst/>
          </a:prstGeom>
          <a:solidFill>
            <a:srgbClr val="DEEFFF"/>
          </a:solidFill>
          <a:ln w="2540">
            <a:solidFill>
              <a:srgbClr val="DEE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Oval 59"/>
          <p:cNvSpPr/>
          <p:nvPr/>
        </p:nvSpPr>
        <p:spPr>
          <a:xfrm>
            <a:off x="1309420" y="596188"/>
            <a:ext cx="32918" cy="32918"/>
          </a:xfrm>
          <a:prstGeom prst="ellipse">
            <a:avLst/>
          </a:prstGeom>
          <a:solidFill>
            <a:srgbClr val="DEEFFF"/>
          </a:solidFill>
          <a:ln w="2540">
            <a:solidFill>
              <a:srgbClr val="DEE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Oval 60"/>
          <p:cNvSpPr/>
          <p:nvPr/>
        </p:nvSpPr>
        <p:spPr>
          <a:xfrm>
            <a:off x="1428292" y="596188"/>
            <a:ext cx="32918" cy="32918"/>
          </a:xfrm>
          <a:prstGeom prst="ellipse">
            <a:avLst/>
          </a:prstGeom>
          <a:solidFill>
            <a:srgbClr val="DEEFFF"/>
          </a:solidFill>
          <a:ln w="2540">
            <a:solidFill>
              <a:srgbClr val="DEE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Oval 61"/>
          <p:cNvSpPr/>
          <p:nvPr/>
        </p:nvSpPr>
        <p:spPr>
          <a:xfrm>
            <a:off x="120700" y="715060"/>
            <a:ext cx="32918" cy="32918"/>
          </a:xfrm>
          <a:prstGeom prst="ellipse">
            <a:avLst/>
          </a:prstGeom>
          <a:solidFill>
            <a:srgbClr val="DEEFFF"/>
          </a:solidFill>
          <a:ln w="2540">
            <a:solidFill>
              <a:srgbClr val="DEE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Oval 62"/>
          <p:cNvSpPr/>
          <p:nvPr/>
        </p:nvSpPr>
        <p:spPr>
          <a:xfrm>
            <a:off x="239572" y="715060"/>
            <a:ext cx="32918" cy="32918"/>
          </a:xfrm>
          <a:prstGeom prst="ellipse">
            <a:avLst/>
          </a:prstGeom>
          <a:solidFill>
            <a:srgbClr val="DEEFFF"/>
          </a:solidFill>
          <a:ln w="2540">
            <a:solidFill>
              <a:srgbClr val="DEE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Oval 63"/>
          <p:cNvSpPr/>
          <p:nvPr/>
        </p:nvSpPr>
        <p:spPr>
          <a:xfrm>
            <a:off x="358444" y="715060"/>
            <a:ext cx="32918" cy="32918"/>
          </a:xfrm>
          <a:prstGeom prst="ellipse">
            <a:avLst/>
          </a:prstGeom>
          <a:solidFill>
            <a:srgbClr val="DEEFFF"/>
          </a:solidFill>
          <a:ln w="2540">
            <a:solidFill>
              <a:srgbClr val="DEE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Oval 64"/>
          <p:cNvSpPr/>
          <p:nvPr/>
        </p:nvSpPr>
        <p:spPr>
          <a:xfrm>
            <a:off x="477316" y="715060"/>
            <a:ext cx="32918" cy="32918"/>
          </a:xfrm>
          <a:prstGeom prst="ellipse">
            <a:avLst/>
          </a:prstGeom>
          <a:solidFill>
            <a:srgbClr val="DEEFFF"/>
          </a:solidFill>
          <a:ln w="2540">
            <a:solidFill>
              <a:srgbClr val="DEE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Oval 65"/>
          <p:cNvSpPr/>
          <p:nvPr/>
        </p:nvSpPr>
        <p:spPr>
          <a:xfrm>
            <a:off x="596188" y="715060"/>
            <a:ext cx="32918" cy="32918"/>
          </a:xfrm>
          <a:prstGeom prst="ellipse">
            <a:avLst/>
          </a:prstGeom>
          <a:solidFill>
            <a:srgbClr val="DEEFFF"/>
          </a:solidFill>
          <a:ln w="2540">
            <a:solidFill>
              <a:srgbClr val="DEE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Oval 66"/>
          <p:cNvSpPr/>
          <p:nvPr/>
        </p:nvSpPr>
        <p:spPr>
          <a:xfrm>
            <a:off x="715060" y="715060"/>
            <a:ext cx="32918" cy="32918"/>
          </a:xfrm>
          <a:prstGeom prst="ellipse">
            <a:avLst/>
          </a:prstGeom>
          <a:solidFill>
            <a:srgbClr val="DEEFFF"/>
          </a:solidFill>
          <a:ln w="2540">
            <a:solidFill>
              <a:srgbClr val="DEE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Oval 67"/>
          <p:cNvSpPr/>
          <p:nvPr/>
        </p:nvSpPr>
        <p:spPr>
          <a:xfrm>
            <a:off x="833932" y="715060"/>
            <a:ext cx="32918" cy="32918"/>
          </a:xfrm>
          <a:prstGeom prst="ellipse">
            <a:avLst/>
          </a:prstGeom>
          <a:solidFill>
            <a:srgbClr val="DEEFFF"/>
          </a:solidFill>
          <a:ln w="2540">
            <a:solidFill>
              <a:srgbClr val="DEE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Oval 68"/>
          <p:cNvSpPr/>
          <p:nvPr/>
        </p:nvSpPr>
        <p:spPr>
          <a:xfrm>
            <a:off x="952804" y="715060"/>
            <a:ext cx="32918" cy="32918"/>
          </a:xfrm>
          <a:prstGeom prst="ellipse">
            <a:avLst/>
          </a:prstGeom>
          <a:solidFill>
            <a:srgbClr val="DEEFFF"/>
          </a:solidFill>
          <a:ln w="2540">
            <a:solidFill>
              <a:srgbClr val="DEE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Oval 69"/>
          <p:cNvSpPr/>
          <p:nvPr/>
        </p:nvSpPr>
        <p:spPr>
          <a:xfrm>
            <a:off x="1071676" y="715060"/>
            <a:ext cx="32918" cy="32918"/>
          </a:xfrm>
          <a:prstGeom prst="ellipse">
            <a:avLst/>
          </a:prstGeom>
          <a:solidFill>
            <a:srgbClr val="DEEFFF"/>
          </a:solidFill>
          <a:ln w="2540">
            <a:solidFill>
              <a:srgbClr val="DEE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Oval 70"/>
          <p:cNvSpPr/>
          <p:nvPr/>
        </p:nvSpPr>
        <p:spPr>
          <a:xfrm>
            <a:off x="1190548" y="715060"/>
            <a:ext cx="32918" cy="32918"/>
          </a:xfrm>
          <a:prstGeom prst="ellipse">
            <a:avLst/>
          </a:prstGeom>
          <a:solidFill>
            <a:srgbClr val="DEEFFF"/>
          </a:solidFill>
          <a:ln w="2540">
            <a:solidFill>
              <a:srgbClr val="DEE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Oval 71"/>
          <p:cNvSpPr/>
          <p:nvPr/>
        </p:nvSpPr>
        <p:spPr>
          <a:xfrm>
            <a:off x="1309420" y="715060"/>
            <a:ext cx="32918" cy="32918"/>
          </a:xfrm>
          <a:prstGeom prst="ellipse">
            <a:avLst/>
          </a:prstGeom>
          <a:solidFill>
            <a:srgbClr val="DEEFFF"/>
          </a:solidFill>
          <a:ln w="2540">
            <a:solidFill>
              <a:srgbClr val="DEE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Oval 72"/>
          <p:cNvSpPr/>
          <p:nvPr/>
        </p:nvSpPr>
        <p:spPr>
          <a:xfrm>
            <a:off x="1428292" y="715060"/>
            <a:ext cx="32918" cy="32918"/>
          </a:xfrm>
          <a:prstGeom prst="ellipse">
            <a:avLst/>
          </a:prstGeom>
          <a:solidFill>
            <a:srgbClr val="DEEFFF"/>
          </a:solidFill>
          <a:ln w="2540">
            <a:solidFill>
              <a:srgbClr val="DEE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Oval 73"/>
          <p:cNvSpPr/>
          <p:nvPr/>
        </p:nvSpPr>
        <p:spPr>
          <a:xfrm>
            <a:off x="11003889" y="4740249"/>
            <a:ext cx="29260" cy="29260"/>
          </a:xfrm>
          <a:prstGeom prst="ellipse">
            <a:avLst/>
          </a:prstGeom>
          <a:solidFill>
            <a:srgbClr val="DEEFFF"/>
          </a:solidFill>
          <a:ln w="2540">
            <a:solidFill>
              <a:srgbClr val="DEE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Oval 74"/>
          <p:cNvSpPr/>
          <p:nvPr/>
        </p:nvSpPr>
        <p:spPr>
          <a:xfrm>
            <a:off x="11113617" y="4740249"/>
            <a:ext cx="29260" cy="29260"/>
          </a:xfrm>
          <a:prstGeom prst="ellipse">
            <a:avLst/>
          </a:prstGeom>
          <a:solidFill>
            <a:srgbClr val="DEEFFF"/>
          </a:solidFill>
          <a:ln w="2540">
            <a:solidFill>
              <a:srgbClr val="DEE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Oval 75"/>
          <p:cNvSpPr/>
          <p:nvPr/>
        </p:nvSpPr>
        <p:spPr>
          <a:xfrm>
            <a:off x="11223345" y="4740249"/>
            <a:ext cx="29260" cy="29260"/>
          </a:xfrm>
          <a:prstGeom prst="ellipse">
            <a:avLst/>
          </a:prstGeom>
          <a:solidFill>
            <a:srgbClr val="DEEFFF"/>
          </a:solidFill>
          <a:ln w="2540">
            <a:solidFill>
              <a:srgbClr val="DEE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Oval 76"/>
          <p:cNvSpPr/>
          <p:nvPr/>
        </p:nvSpPr>
        <p:spPr>
          <a:xfrm>
            <a:off x="11333073" y="4740249"/>
            <a:ext cx="29260" cy="29260"/>
          </a:xfrm>
          <a:prstGeom prst="ellipse">
            <a:avLst/>
          </a:prstGeom>
          <a:solidFill>
            <a:srgbClr val="DEEFFF"/>
          </a:solidFill>
          <a:ln w="2540">
            <a:solidFill>
              <a:srgbClr val="DEE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Oval 77"/>
          <p:cNvSpPr/>
          <p:nvPr/>
        </p:nvSpPr>
        <p:spPr>
          <a:xfrm>
            <a:off x="11442801" y="4740249"/>
            <a:ext cx="29260" cy="29260"/>
          </a:xfrm>
          <a:prstGeom prst="ellipse">
            <a:avLst/>
          </a:prstGeom>
          <a:solidFill>
            <a:srgbClr val="DEEFFF"/>
          </a:solidFill>
          <a:ln w="2540">
            <a:solidFill>
              <a:srgbClr val="DEE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Oval 78"/>
          <p:cNvSpPr/>
          <p:nvPr/>
        </p:nvSpPr>
        <p:spPr>
          <a:xfrm>
            <a:off x="11552529" y="4740249"/>
            <a:ext cx="29260" cy="29260"/>
          </a:xfrm>
          <a:prstGeom prst="ellipse">
            <a:avLst/>
          </a:prstGeom>
          <a:solidFill>
            <a:srgbClr val="DEEFFF"/>
          </a:solidFill>
          <a:ln w="2540">
            <a:solidFill>
              <a:srgbClr val="DEE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Oval 79"/>
          <p:cNvSpPr/>
          <p:nvPr/>
        </p:nvSpPr>
        <p:spPr>
          <a:xfrm>
            <a:off x="11662257" y="4740249"/>
            <a:ext cx="29260" cy="29260"/>
          </a:xfrm>
          <a:prstGeom prst="ellipse">
            <a:avLst/>
          </a:prstGeom>
          <a:solidFill>
            <a:srgbClr val="DEEFFF"/>
          </a:solidFill>
          <a:ln w="2540">
            <a:solidFill>
              <a:srgbClr val="DEE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Oval 80"/>
          <p:cNvSpPr/>
          <p:nvPr/>
        </p:nvSpPr>
        <p:spPr>
          <a:xfrm>
            <a:off x="11771985" y="4740249"/>
            <a:ext cx="29260" cy="29260"/>
          </a:xfrm>
          <a:prstGeom prst="ellipse">
            <a:avLst/>
          </a:prstGeom>
          <a:solidFill>
            <a:srgbClr val="DEEFFF"/>
          </a:solidFill>
          <a:ln w="2540">
            <a:solidFill>
              <a:srgbClr val="DEE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Oval 81"/>
          <p:cNvSpPr/>
          <p:nvPr/>
        </p:nvSpPr>
        <p:spPr>
          <a:xfrm>
            <a:off x="11881713" y="4740249"/>
            <a:ext cx="29260" cy="29260"/>
          </a:xfrm>
          <a:prstGeom prst="ellipse">
            <a:avLst/>
          </a:prstGeom>
          <a:solidFill>
            <a:srgbClr val="DEEFFF"/>
          </a:solidFill>
          <a:ln w="2540">
            <a:solidFill>
              <a:srgbClr val="DEE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Oval 82"/>
          <p:cNvSpPr/>
          <p:nvPr/>
        </p:nvSpPr>
        <p:spPr>
          <a:xfrm>
            <a:off x="11003889" y="4849977"/>
            <a:ext cx="29260" cy="29260"/>
          </a:xfrm>
          <a:prstGeom prst="ellipse">
            <a:avLst/>
          </a:prstGeom>
          <a:solidFill>
            <a:srgbClr val="DEEFFF"/>
          </a:solidFill>
          <a:ln w="2540">
            <a:solidFill>
              <a:srgbClr val="DEE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Oval 83"/>
          <p:cNvSpPr/>
          <p:nvPr/>
        </p:nvSpPr>
        <p:spPr>
          <a:xfrm>
            <a:off x="11113617" y="4849977"/>
            <a:ext cx="29260" cy="29260"/>
          </a:xfrm>
          <a:prstGeom prst="ellipse">
            <a:avLst/>
          </a:prstGeom>
          <a:solidFill>
            <a:srgbClr val="DEEFFF"/>
          </a:solidFill>
          <a:ln w="2540">
            <a:solidFill>
              <a:srgbClr val="DEE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Oval 84"/>
          <p:cNvSpPr/>
          <p:nvPr/>
        </p:nvSpPr>
        <p:spPr>
          <a:xfrm>
            <a:off x="11223345" y="4849977"/>
            <a:ext cx="29260" cy="29260"/>
          </a:xfrm>
          <a:prstGeom prst="ellipse">
            <a:avLst/>
          </a:prstGeom>
          <a:solidFill>
            <a:srgbClr val="DEEFFF"/>
          </a:solidFill>
          <a:ln w="2540">
            <a:solidFill>
              <a:srgbClr val="DEE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Oval 85"/>
          <p:cNvSpPr/>
          <p:nvPr/>
        </p:nvSpPr>
        <p:spPr>
          <a:xfrm>
            <a:off x="11333073" y="4849977"/>
            <a:ext cx="29260" cy="29260"/>
          </a:xfrm>
          <a:prstGeom prst="ellipse">
            <a:avLst/>
          </a:prstGeom>
          <a:solidFill>
            <a:srgbClr val="DEEFFF"/>
          </a:solidFill>
          <a:ln w="2540">
            <a:solidFill>
              <a:srgbClr val="DEE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Oval 86"/>
          <p:cNvSpPr/>
          <p:nvPr/>
        </p:nvSpPr>
        <p:spPr>
          <a:xfrm>
            <a:off x="11442801" y="4849977"/>
            <a:ext cx="29260" cy="29260"/>
          </a:xfrm>
          <a:prstGeom prst="ellipse">
            <a:avLst/>
          </a:prstGeom>
          <a:solidFill>
            <a:srgbClr val="DEEFFF"/>
          </a:solidFill>
          <a:ln w="2540">
            <a:solidFill>
              <a:srgbClr val="DEE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Oval 87"/>
          <p:cNvSpPr/>
          <p:nvPr/>
        </p:nvSpPr>
        <p:spPr>
          <a:xfrm>
            <a:off x="11552529" y="4849977"/>
            <a:ext cx="29260" cy="29260"/>
          </a:xfrm>
          <a:prstGeom prst="ellipse">
            <a:avLst/>
          </a:prstGeom>
          <a:solidFill>
            <a:srgbClr val="DEEFFF"/>
          </a:solidFill>
          <a:ln w="2540">
            <a:solidFill>
              <a:srgbClr val="DEE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Oval 88"/>
          <p:cNvSpPr/>
          <p:nvPr/>
        </p:nvSpPr>
        <p:spPr>
          <a:xfrm>
            <a:off x="11662257" y="4849977"/>
            <a:ext cx="29260" cy="29260"/>
          </a:xfrm>
          <a:prstGeom prst="ellipse">
            <a:avLst/>
          </a:prstGeom>
          <a:solidFill>
            <a:srgbClr val="DEEFFF"/>
          </a:solidFill>
          <a:ln w="2540">
            <a:solidFill>
              <a:srgbClr val="DEE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Oval 89"/>
          <p:cNvSpPr/>
          <p:nvPr/>
        </p:nvSpPr>
        <p:spPr>
          <a:xfrm>
            <a:off x="11771985" y="4849977"/>
            <a:ext cx="29260" cy="29260"/>
          </a:xfrm>
          <a:prstGeom prst="ellipse">
            <a:avLst/>
          </a:prstGeom>
          <a:solidFill>
            <a:srgbClr val="DEEFFF"/>
          </a:solidFill>
          <a:ln w="2540">
            <a:solidFill>
              <a:srgbClr val="DEE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Oval 90"/>
          <p:cNvSpPr/>
          <p:nvPr/>
        </p:nvSpPr>
        <p:spPr>
          <a:xfrm>
            <a:off x="11881713" y="4849977"/>
            <a:ext cx="29260" cy="29260"/>
          </a:xfrm>
          <a:prstGeom prst="ellipse">
            <a:avLst/>
          </a:prstGeom>
          <a:solidFill>
            <a:srgbClr val="DEEFFF"/>
          </a:solidFill>
          <a:ln w="2540">
            <a:solidFill>
              <a:srgbClr val="DEE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Oval 91"/>
          <p:cNvSpPr/>
          <p:nvPr/>
        </p:nvSpPr>
        <p:spPr>
          <a:xfrm>
            <a:off x="11003889" y="4959705"/>
            <a:ext cx="29260" cy="29260"/>
          </a:xfrm>
          <a:prstGeom prst="ellipse">
            <a:avLst/>
          </a:prstGeom>
          <a:solidFill>
            <a:srgbClr val="DEEFFF"/>
          </a:solidFill>
          <a:ln w="2540">
            <a:solidFill>
              <a:srgbClr val="DEE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Oval 92"/>
          <p:cNvSpPr/>
          <p:nvPr/>
        </p:nvSpPr>
        <p:spPr>
          <a:xfrm>
            <a:off x="11113617" y="4959705"/>
            <a:ext cx="29260" cy="29260"/>
          </a:xfrm>
          <a:prstGeom prst="ellipse">
            <a:avLst/>
          </a:prstGeom>
          <a:solidFill>
            <a:srgbClr val="DEEFFF"/>
          </a:solidFill>
          <a:ln w="2540">
            <a:solidFill>
              <a:srgbClr val="DEE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Oval 93"/>
          <p:cNvSpPr/>
          <p:nvPr/>
        </p:nvSpPr>
        <p:spPr>
          <a:xfrm>
            <a:off x="11223345" y="4959705"/>
            <a:ext cx="29260" cy="29260"/>
          </a:xfrm>
          <a:prstGeom prst="ellipse">
            <a:avLst/>
          </a:prstGeom>
          <a:solidFill>
            <a:srgbClr val="DEEFFF"/>
          </a:solidFill>
          <a:ln w="2540">
            <a:solidFill>
              <a:srgbClr val="DEE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Oval 94"/>
          <p:cNvSpPr/>
          <p:nvPr/>
        </p:nvSpPr>
        <p:spPr>
          <a:xfrm>
            <a:off x="11333073" y="4959705"/>
            <a:ext cx="29260" cy="29260"/>
          </a:xfrm>
          <a:prstGeom prst="ellipse">
            <a:avLst/>
          </a:prstGeom>
          <a:solidFill>
            <a:srgbClr val="DEEFFF"/>
          </a:solidFill>
          <a:ln w="2540">
            <a:solidFill>
              <a:srgbClr val="DEE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Oval 95"/>
          <p:cNvSpPr/>
          <p:nvPr/>
        </p:nvSpPr>
        <p:spPr>
          <a:xfrm>
            <a:off x="11442801" y="4959705"/>
            <a:ext cx="29260" cy="29260"/>
          </a:xfrm>
          <a:prstGeom prst="ellipse">
            <a:avLst/>
          </a:prstGeom>
          <a:solidFill>
            <a:srgbClr val="DEEFFF"/>
          </a:solidFill>
          <a:ln w="2540">
            <a:solidFill>
              <a:srgbClr val="DEE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Oval 96"/>
          <p:cNvSpPr/>
          <p:nvPr/>
        </p:nvSpPr>
        <p:spPr>
          <a:xfrm>
            <a:off x="11552529" y="4959705"/>
            <a:ext cx="29260" cy="29260"/>
          </a:xfrm>
          <a:prstGeom prst="ellipse">
            <a:avLst/>
          </a:prstGeom>
          <a:solidFill>
            <a:srgbClr val="DEEFFF"/>
          </a:solidFill>
          <a:ln w="2540">
            <a:solidFill>
              <a:srgbClr val="DEE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Oval 97"/>
          <p:cNvSpPr/>
          <p:nvPr/>
        </p:nvSpPr>
        <p:spPr>
          <a:xfrm>
            <a:off x="11662257" y="4959705"/>
            <a:ext cx="29260" cy="29260"/>
          </a:xfrm>
          <a:prstGeom prst="ellipse">
            <a:avLst/>
          </a:prstGeom>
          <a:solidFill>
            <a:srgbClr val="DEEFFF"/>
          </a:solidFill>
          <a:ln w="2540">
            <a:solidFill>
              <a:srgbClr val="DEE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Oval 98"/>
          <p:cNvSpPr/>
          <p:nvPr/>
        </p:nvSpPr>
        <p:spPr>
          <a:xfrm>
            <a:off x="11771985" y="4959705"/>
            <a:ext cx="29260" cy="29260"/>
          </a:xfrm>
          <a:prstGeom prst="ellipse">
            <a:avLst/>
          </a:prstGeom>
          <a:solidFill>
            <a:srgbClr val="DEEFFF"/>
          </a:solidFill>
          <a:ln w="2540">
            <a:solidFill>
              <a:srgbClr val="DEE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Oval 99"/>
          <p:cNvSpPr/>
          <p:nvPr/>
        </p:nvSpPr>
        <p:spPr>
          <a:xfrm>
            <a:off x="11881713" y="4959705"/>
            <a:ext cx="29260" cy="29260"/>
          </a:xfrm>
          <a:prstGeom prst="ellipse">
            <a:avLst/>
          </a:prstGeom>
          <a:solidFill>
            <a:srgbClr val="DEEFFF"/>
          </a:solidFill>
          <a:ln w="2540">
            <a:solidFill>
              <a:srgbClr val="DEE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Oval 100"/>
          <p:cNvSpPr/>
          <p:nvPr/>
        </p:nvSpPr>
        <p:spPr>
          <a:xfrm>
            <a:off x="11003889" y="5069433"/>
            <a:ext cx="29260" cy="29260"/>
          </a:xfrm>
          <a:prstGeom prst="ellipse">
            <a:avLst/>
          </a:prstGeom>
          <a:solidFill>
            <a:srgbClr val="DEEFFF"/>
          </a:solidFill>
          <a:ln w="2540">
            <a:solidFill>
              <a:srgbClr val="DEE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Oval 101"/>
          <p:cNvSpPr/>
          <p:nvPr/>
        </p:nvSpPr>
        <p:spPr>
          <a:xfrm>
            <a:off x="11113617" y="5069433"/>
            <a:ext cx="29260" cy="29260"/>
          </a:xfrm>
          <a:prstGeom prst="ellipse">
            <a:avLst/>
          </a:prstGeom>
          <a:solidFill>
            <a:srgbClr val="DEEFFF"/>
          </a:solidFill>
          <a:ln w="2540">
            <a:solidFill>
              <a:srgbClr val="DEE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Oval 102"/>
          <p:cNvSpPr/>
          <p:nvPr/>
        </p:nvSpPr>
        <p:spPr>
          <a:xfrm>
            <a:off x="11223345" y="5069433"/>
            <a:ext cx="29260" cy="29260"/>
          </a:xfrm>
          <a:prstGeom prst="ellipse">
            <a:avLst/>
          </a:prstGeom>
          <a:solidFill>
            <a:srgbClr val="DEEFFF"/>
          </a:solidFill>
          <a:ln w="2540">
            <a:solidFill>
              <a:srgbClr val="DEE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Oval 103"/>
          <p:cNvSpPr/>
          <p:nvPr/>
        </p:nvSpPr>
        <p:spPr>
          <a:xfrm>
            <a:off x="11333073" y="5069433"/>
            <a:ext cx="29260" cy="29260"/>
          </a:xfrm>
          <a:prstGeom prst="ellipse">
            <a:avLst/>
          </a:prstGeom>
          <a:solidFill>
            <a:srgbClr val="DEEFFF"/>
          </a:solidFill>
          <a:ln w="2540">
            <a:solidFill>
              <a:srgbClr val="DEE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Oval 104"/>
          <p:cNvSpPr/>
          <p:nvPr/>
        </p:nvSpPr>
        <p:spPr>
          <a:xfrm>
            <a:off x="11442801" y="5069433"/>
            <a:ext cx="29260" cy="29260"/>
          </a:xfrm>
          <a:prstGeom prst="ellipse">
            <a:avLst/>
          </a:prstGeom>
          <a:solidFill>
            <a:srgbClr val="DEEFFF"/>
          </a:solidFill>
          <a:ln w="2540">
            <a:solidFill>
              <a:srgbClr val="DEE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Oval 105"/>
          <p:cNvSpPr/>
          <p:nvPr/>
        </p:nvSpPr>
        <p:spPr>
          <a:xfrm>
            <a:off x="11552529" y="5069433"/>
            <a:ext cx="29260" cy="29260"/>
          </a:xfrm>
          <a:prstGeom prst="ellipse">
            <a:avLst/>
          </a:prstGeom>
          <a:solidFill>
            <a:srgbClr val="DEEFFF"/>
          </a:solidFill>
          <a:ln w="2540">
            <a:solidFill>
              <a:srgbClr val="DEE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Oval 106"/>
          <p:cNvSpPr/>
          <p:nvPr/>
        </p:nvSpPr>
        <p:spPr>
          <a:xfrm>
            <a:off x="11662257" y="5069433"/>
            <a:ext cx="29260" cy="29260"/>
          </a:xfrm>
          <a:prstGeom prst="ellipse">
            <a:avLst/>
          </a:prstGeom>
          <a:solidFill>
            <a:srgbClr val="DEEFFF"/>
          </a:solidFill>
          <a:ln w="2540">
            <a:solidFill>
              <a:srgbClr val="DEE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Oval 107"/>
          <p:cNvSpPr/>
          <p:nvPr/>
        </p:nvSpPr>
        <p:spPr>
          <a:xfrm>
            <a:off x="11771985" y="5069433"/>
            <a:ext cx="29260" cy="29260"/>
          </a:xfrm>
          <a:prstGeom prst="ellipse">
            <a:avLst/>
          </a:prstGeom>
          <a:solidFill>
            <a:srgbClr val="DEEFFF"/>
          </a:solidFill>
          <a:ln w="2540">
            <a:solidFill>
              <a:srgbClr val="DEE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Oval 108"/>
          <p:cNvSpPr/>
          <p:nvPr/>
        </p:nvSpPr>
        <p:spPr>
          <a:xfrm>
            <a:off x="11881713" y="5069433"/>
            <a:ext cx="29260" cy="29260"/>
          </a:xfrm>
          <a:prstGeom prst="ellipse">
            <a:avLst/>
          </a:prstGeom>
          <a:solidFill>
            <a:srgbClr val="DEEFFF"/>
          </a:solidFill>
          <a:ln w="2540">
            <a:solidFill>
              <a:srgbClr val="DEE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Oval 109"/>
          <p:cNvSpPr/>
          <p:nvPr/>
        </p:nvSpPr>
        <p:spPr>
          <a:xfrm>
            <a:off x="11003889" y="5179161"/>
            <a:ext cx="29260" cy="29260"/>
          </a:xfrm>
          <a:prstGeom prst="ellipse">
            <a:avLst/>
          </a:prstGeom>
          <a:solidFill>
            <a:srgbClr val="DEEFFF"/>
          </a:solidFill>
          <a:ln w="2540">
            <a:solidFill>
              <a:srgbClr val="DEE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 name="Oval 110"/>
          <p:cNvSpPr/>
          <p:nvPr/>
        </p:nvSpPr>
        <p:spPr>
          <a:xfrm>
            <a:off x="11113617" y="5179161"/>
            <a:ext cx="29260" cy="29260"/>
          </a:xfrm>
          <a:prstGeom prst="ellipse">
            <a:avLst/>
          </a:prstGeom>
          <a:solidFill>
            <a:srgbClr val="DEEFFF"/>
          </a:solidFill>
          <a:ln w="2540">
            <a:solidFill>
              <a:srgbClr val="DEE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Oval 111"/>
          <p:cNvSpPr/>
          <p:nvPr/>
        </p:nvSpPr>
        <p:spPr>
          <a:xfrm>
            <a:off x="11223345" y="5179161"/>
            <a:ext cx="29260" cy="29260"/>
          </a:xfrm>
          <a:prstGeom prst="ellipse">
            <a:avLst/>
          </a:prstGeom>
          <a:solidFill>
            <a:srgbClr val="DEEFFF"/>
          </a:solidFill>
          <a:ln w="2540">
            <a:solidFill>
              <a:srgbClr val="DEE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 name="Oval 112"/>
          <p:cNvSpPr/>
          <p:nvPr/>
        </p:nvSpPr>
        <p:spPr>
          <a:xfrm>
            <a:off x="11333073" y="5179161"/>
            <a:ext cx="29260" cy="29260"/>
          </a:xfrm>
          <a:prstGeom prst="ellipse">
            <a:avLst/>
          </a:prstGeom>
          <a:solidFill>
            <a:srgbClr val="DEEFFF"/>
          </a:solidFill>
          <a:ln w="2540">
            <a:solidFill>
              <a:srgbClr val="DEE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Oval 113"/>
          <p:cNvSpPr/>
          <p:nvPr/>
        </p:nvSpPr>
        <p:spPr>
          <a:xfrm>
            <a:off x="11442801" y="5179161"/>
            <a:ext cx="29260" cy="29260"/>
          </a:xfrm>
          <a:prstGeom prst="ellipse">
            <a:avLst/>
          </a:prstGeom>
          <a:solidFill>
            <a:srgbClr val="DEEFFF"/>
          </a:solidFill>
          <a:ln w="2540">
            <a:solidFill>
              <a:srgbClr val="DEE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 name="Oval 114"/>
          <p:cNvSpPr/>
          <p:nvPr/>
        </p:nvSpPr>
        <p:spPr>
          <a:xfrm>
            <a:off x="11552529" y="5179161"/>
            <a:ext cx="29260" cy="29260"/>
          </a:xfrm>
          <a:prstGeom prst="ellipse">
            <a:avLst/>
          </a:prstGeom>
          <a:solidFill>
            <a:srgbClr val="DEEFFF"/>
          </a:solidFill>
          <a:ln w="2540">
            <a:solidFill>
              <a:srgbClr val="DEE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 name="Oval 115"/>
          <p:cNvSpPr/>
          <p:nvPr/>
        </p:nvSpPr>
        <p:spPr>
          <a:xfrm>
            <a:off x="11662257" y="5179161"/>
            <a:ext cx="29260" cy="29260"/>
          </a:xfrm>
          <a:prstGeom prst="ellipse">
            <a:avLst/>
          </a:prstGeom>
          <a:solidFill>
            <a:srgbClr val="DEEFFF"/>
          </a:solidFill>
          <a:ln w="2540">
            <a:solidFill>
              <a:srgbClr val="DEE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 name="Oval 116"/>
          <p:cNvSpPr/>
          <p:nvPr/>
        </p:nvSpPr>
        <p:spPr>
          <a:xfrm>
            <a:off x="11771985" y="5179161"/>
            <a:ext cx="29260" cy="29260"/>
          </a:xfrm>
          <a:prstGeom prst="ellipse">
            <a:avLst/>
          </a:prstGeom>
          <a:solidFill>
            <a:srgbClr val="DEEFFF"/>
          </a:solidFill>
          <a:ln w="2540">
            <a:solidFill>
              <a:srgbClr val="DEE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Oval 117"/>
          <p:cNvSpPr/>
          <p:nvPr/>
        </p:nvSpPr>
        <p:spPr>
          <a:xfrm>
            <a:off x="11881713" y="5179161"/>
            <a:ext cx="29260" cy="29260"/>
          </a:xfrm>
          <a:prstGeom prst="ellipse">
            <a:avLst/>
          </a:prstGeom>
          <a:solidFill>
            <a:srgbClr val="DEEFFF"/>
          </a:solidFill>
          <a:ln w="2540">
            <a:solidFill>
              <a:srgbClr val="DEE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9" name="Oval 118"/>
          <p:cNvSpPr/>
          <p:nvPr/>
        </p:nvSpPr>
        <p:spPr>
          <a:xfrm>
            <a:off x="11003889" y="5288889"/>
            <a:ext cx="29260" cy="29260"/>
          </a:xfrm>
          <a:prstGeom prst="ellipse">
            <a:avLst/>
          </a:prstGeom>
          <a:solidFill>
            <a:srgbClr val="DEEFFF"/>
          </a:solidFill>
          <a:ln w="2540">
            <a:solidFill>
              <a:srgbClr val="DEE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 name="Oval 119"/>
          <p:cNvSpPr/>
          <p:nvPr/>
        </p:nvSpPr>
        <p:spPr>
          <a:xfrm>
            <a:off x="11113617" y="5288889"/>
            <a:ext cx="29260" cy="29260"/>
          </a:xfrm>
          <a:prstGeom prst="ellipse">
            <a:avLst/>
          </a:prstGeom>
          <a:solidFill>
            <a:srgbClr val="DEEFFF"/>
          </a:solidFill>
          <a:ln w="2540">
            <a:solidFill>
              <a:srgbClr val="DEE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 name="Oval 120"/>
          <p:cNvSpPr/>
          <p:nvPr/>
        </p:nvSpPr>
        <p:spPr>
          <a:xfrm>
            <a:off x="11223345" y="5288889"/>
            <a:ext cx="29260" cy="29260"/>
          </a:xfrm>
          <a:prstGeom prst="ellipse">
            <a:avLst/>
          </a:prstGeom>
          <a:solidFill>
            <a:srgbClr val="DEEFFF"/>
          </a:solidFill>
          <a:ln w="2540">
            <a:solidFill>
              <a:srgbClr val="DEE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 name="Oval 121"/>
          <p:cNvSpPr/>
          <p:nvPr/>
        </p:nvSpPr>
        <p:spPr>
          <a:xfrm>
            <a:off x="11333073" y="5288889"/>
            <a:ext cx="29260" cy="29260"/>
          </a:xfrm>
          <a:prstGeom prst="ellipse">
            <a:avLst/>
          </a:prstGeom>
          <a:solidFill>
            <a:srgbClr val="DEEFFF"/>
          </a:solidFill>
          <a:ln w="2540">
            <a:solidFill>
              <a:srgbClr val="DEE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3" name="Oval 122"/>
          <p:cNvSpPr/>
          <p:nvPr/>
        </p:nvSpPr>
        <p:spPr>
          <a:xfrm>
            <a:off x="11442801" y="5288889"/>
            <a:ext cx="29260" cy="29260"/>
          </a:xfrm>
          <a:prstGeom prst="ellipse">
            <a:avLst/>
          </a:prstGeom>
          <a:solidFill>
            <a:srgbClr val="DEEFFF"/>
          </a:solidFill>
          <a:ln w="2540">
            <a:solidFill>
              <a:srgbClr val="DEE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Oval 123"/>
          <p:cNvSpPr/>
          <p:nvPr/>
        </p:nvSpPr>
        <p:spPr>
          <a:xfrm>
            <a:off x="11552529" y="5288889"/>
            <a:ext cx="29260" cy="29260"/>
          </a:xfrm>
          <a:prstGeom prst="ellipse">
            <a:avLst/>
          </a:prstGeom>
          <a:solidFill>
            <a:srgbClr val="DEEFFF"/>
          </a:solidFill>
          <a:ln w="2540">
            <a:solidFill>
              <a:srgbClr val="DEE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5" name="Oval 124"/>
          <p:cNvSpPr/>
          <p:nvPr/>
        </p:nvSpPr>
        <p:spPr>
          <a:xfrm>
            <a:off x="11662257" y="5288889"/>
            <a:ext cx="29260" cy="29260"/>
          </a:xfrm>
          <a:prstGeom prst="ellipse">
            <a:avLst/>
          </a:prstGeom>
          <a:solidFill>
            <a:srgbClr val="DEEFFF"/>
          </a:solidFill>
          <a:ln w="2540">
            <a:solidFill>
              <a:srgbClr val="DEE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 name="Oval 125"/>
          <p:cNvSpPr/>
          <p:nvPr/>
        </p:nvSpPr>
        <p:spPr>
          <a:xfrm>
            <a:off x="11771985" y="5288889"/>
            <a:ext cx="29260" cy="29260"/>
          </a:xfrm>
          <a:prstGeom prst="ellipse">
            <a:avLst/>
          </a:prstGeom>
          <a:solidFill>
            <a:srgbClr val="DEEFFF"/>
          </a:solidFill>
          <a:ln w="2540">
            <a:solidFill>
              <a:srgbClr val="DEE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 name="Oval 126"/>
          <p:cNvSpPr/>
          <p:nvPr/>
        </p:nvSpPr>
        <p:spPr>
          <a:xfrm>
            <a:off x="11881713" y="5288889"/>
            <a:ext cx="29260" cy="29260"/>
          </a:xfrm>
          <a:prstGeom prst="ellipse">
            <a:avLst/>
          </a:prstGeom>
          <a:solidFill>
            <a:srgbClr val="DEEFFF"/>
          </a:solidFill>
          <a:ln w="2540">
            <a:solidFill>
              <a:srgbClr val="DEE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8" name="Oval 127"/>
          <p:cNvSpPr/>
          <p:nvPr/>
        </p:nvSpPr>
        <p:spPr>
          <a:xfrm>
            <a:off x="11003889" y="5398617"/>
            <a:ext cx="29260" cy="29260"/>
          </a:xfrm>
          <a:prstGeom prst="ellipse">
            <a:avLst/>
          </a:prstGeom>
          <a:solidFill>
            <a:srgbClr val="DEEFFF"/>
          </a:solidFill>
          <a:ln w="2540">
            <a:solidFill>
              <a:srgbClr val="DEE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9" name="Oval 128"/>
          <p:cNvSpPr/>
          <p:nvPr/>
        </p:nvSpPr>
        <p:spPr>
          <a:xfrm>
            <a:off x="11113617" y="5398617"/>
            <a:ext cx="29260" cy="29260"/>
          </a:xfrm>
          <a:prstGeom prst="ellipse">
            <a:avLst/>
          </a:prstGeom>
          <a:solidFill>
            <a:srgbClr val="DEEFFF"/>
          </a:solidFill>
          <a:ln w="2540">
            <a:solidFill>
              <a:srgbClr val="DEE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 name="Oval 129"/>
          <p:cNvSpPr/>
          <p:nvPr/>
        </p:nvSpPr>
        <p:spPr>
          <a:xfrm>
            <a:off x="11223345" y="5398617"/>
            <a:ext cx="29260" cy="29260"/>
          </a:xfrm>
          <a:prstGeom prst="ellipse">
            <a:avLst/>
          </a:prstGeom>
          <a:solidFill>
            <a:srgbClr val="DEEFFF"/>
          </a:solidFill>
          <a:ln w="2540">
            <a:solidFill>
              <a:srgbClr val="DEE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1" name="Oval 130"/>
          <p:cNvSpPr/>
          <p:nvPr/>
        </p:nvSpPr>
        <p:spPr>
          <a:xfrm>
            <a:off x="11333073" y="5398617"/>
            <a:ext cx="29260" cy="29260"/>
          </a:xfrm>
          <a:prstGeom prst="ellipse">
            <a:avLst/>
          </a:prstGeom>
          <a:solidFill>
            <a:srgbClr val="DEEFFF"/>
          </a:solidFill>
          <a:ln w="2540">
            <a:solidFill>
              <a:srgbClr val="DEE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2" name="Oval 131"/>
          <p:cNvSpPr/>
          <p:nvPr/>
        </p:nvSpPr>
        <p:spPr>
          <a:xfrm>
            <a:off x="11442801" y="5398617"/>
            <a:ext cx="29260" cy="29260"/>
          </a:xfrm>
          <a:prstGeom prst="ellipse">
            <a:avLst/>
          </a:prstGeom>
          <a:solidFill>
            <a:srgbClr val="DEEFFF"/>
          </a:solidFill>
          <a:ln w="2540">
            <a:solidFill>
              <a:srgbClr val="DEE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3" name="Oval 132"/>
          <p:cNvSpPr/>
          <p:nvPr/>
        </p:nvSpPr>
        <p:spPr>
          <a:xfrm>
            <a:off x="11552529" y="5398617"/>
            <a:ext cx="29260" cy="29260"/>
          </a:xfrm>
          <a:prstGeom prst="ellipse">
            <a:avLst/>
          </a:prstGeom>
          <a:solidFill>
            <a:srgbClr val="DEEFFF"/>
          </a:solidFill>
          <a:ln w="2540">
            <a:solidFill>
              <a:srgbClr val="DEE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4" name="Oval 133"/>
          <p:cNvSpPr/>
          <p:nvPr/>
        </p:nvSpPr>
        <p:spPr>
          <a:xfrm>
            <a:off x="11662257" y="5398617"/>
            <a:ext cx="29260" cy="29260"/>
          </a:xfrm>
          <a:prstGeom prst="ellipse">
            <a:avLst/>
          </a:prstGeom>
          <a:solidFill>
            <a:srgbClr val="DEEFFF"/>
          </a:solidFill>
          <a:ln w="2540">
            <a:solidFill>
              <a:srgbClr val="DEE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5" name="Oval 134"/>
          <p:cNvSpPr/>
          <p:nvPr/>
        </p:nvSpPr>
        <p:spPr>
          <a:xfrm>
            <a:off x="11771985" y="5398617"/>
            <a:ext cx="29260" cy="29260"/>
          </a:xfrm>
          <a:prstGeom prst="ellipse">
            <a:avLst/>
          </a:prstGeom>
          <a:solidFill>
            <a:srgbClr val="DEEFFF"/>
          </a:solidFill>
          <a:ln w="2540">
            <a:solidFill>
              <a:srgbClr val="DEE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 name="Oval 135"/>
          <p:cNvSpPr/>
          <p:nvPr/>
        </p:nvSpPr>
        <p:spPr>
          <a:xfrm>
            <a:off x="11881713" y="5398617"/>
            <a:ext cx="29260" cy="29260"/>
          </a:xfrm>
          <a:prstGeom prst="ellipse">
            <a:avLst/>
          </a:prstGeom>
          <a:solidFill>
            <a:srgbClr val="DEEFFF"/>
          </a:solidFill>
          <a:ln w="2540">
            <a:solidFill>
              <a:srgbClr val="DEE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 name="TextBox 136"/>
          <p:cNvSpPr txBox="1"/>
          <p:nvPr/>
        </p:nvSpPr>
        <p:spPr>
          <a:xfrm>
            <a:off x="2880360" y="384048"/>
            <a:ext cx="6400800" cy="566928"/>
          </a:xfrm>
          <a:prstGeom prst="rect">
            <a:avLst/>
          </a:prstGeom>
          <a:noFill/>
        </p:spPr>
        <p:txBody>
          <a:bodyPr wrap="none" anchor="ctr">
            <a:spAutoFit/>
          </a:bodyPr>
          <a:lstStyle/>
          <a:p>
            <a:pPr algn="ctr"/>
            <a:r>
              <a:rPr sz="2900" b="1">
                <a:solidFill>
                  <a:srgbClr val="08306F"/>
                </a:solidFill>
                <a:latin typeface="Arial"/>
              </a:rPr>
              <a:t>THÀNH VIÊN NHÓM</a:t>
            </a:r>
          </a:p>
        </p:txBody>
      </p:sp>
      <p:cxnSp>
        <p:nvCxnSpPr>
          <p:cNvPr id="138" name="Connector 137"/>
          <p:cNvCxnSpPr/>
          <p:nvPr/>
        </p:nvCxnSpPr>
        <p:spPr>
          <a:xfrm>
            <a:off x="3749039" y="1161288"/>
            <a:ext cx="2121409" cy="0"/>
          </a:xfrm>
          <a:prstGeom prst="line">
            <a:avLst/>
          </a:prstGeom>
          <a:ln w="12700">
            <a:solidFill>
              <a:srgbClr val="82B4EB"/>
            </a:solidFill>
          </a:ln>
        </p:spPr>
        <p:style>
          <a:lnRef idx="2">
            <a:schemeClr val="accent1"/>
          </a:lnRef>
          <a:fillRef idx="0">
            <a:schemeClr val="accent1"/>
          </a:fillRef>
          <a:effectRef idx="1">
            <a:schemeClr val="accent1"/>
          </a:effectRef>
          <a:fontRef idx="minor">
            <a:schemeClr val="tx1"/>
          </a:fontRef>
        </p:style>
      </p:cxnSp>
      <p:sp>
        <p:nvSpPr>
          <p:cNvPr id="139" name="Oval 138"/>
          <p:cNvSpPr/>
          <p:nvPr/>
        </p:nvSpPr>
        <p:spPr>
          <a:xfrm>
            <a:off x="6044184" y="1110996"/>
            <a:ext cx="100584" cy="100584"/>
          </a:xfrm>
          <a:prstGeom prst="ellipse">
            <a:avLst/>
          </a:prstGeom>
          <a:solidFill>
            <a:srgbClr val="1067D2"/>
          </a:solidFill>
          <a:ln w="6350">
            <a:solidFill>
              <a:srgbClr val="10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40" name="Connector 139"/>
          <p:cNvCxnSpPr/>
          <p:nvPr/>
        </p:nvCxnSpPr>
        <p:spPr>
          <a:xfrm>
            <a:off x="6318504" y="1161288"/>
            <a:ext cx="2121408" cy="0"/>
          </a:xfrm>
          <a:prstGeom prst="line">
            <a:avLst/>
          </a:prstGeom>
          <a:ln w="12700">
            <a:solidFill>
              <a:srgbClr val="82B4EB"/>
            </a:solidFill>
          </a:ln>
        </p:spPr>
        <p:style>
          <a:lnRef idx="2">
            <a:schemeClr val="accent1"/>
          </a:lnRef>
          <a:fillRef idx="0">
            <a:schemeClr val="accent1"/>
          </a:fillRef>
          <a:effectRef idx="1">
            <a:schemeClr val="accent1"/>
          </a:effectRef>
          <a:fontRef idx="minor">
            <a:schemeClr val="tx1"/>
          </a:fontRef>
        </p:style>
      </p:cxnSp>
      <p:sp>
        <p:nvSpPr>
          <p:cNvPr id="141" name="TextBox 140"/>
          <p:cNvSpPr txBox="1"/>
          <p:nvPr/>
        </p:nvSpPr>
        <p:spPr>
          <a:xfrm>
            <a:off x="2743200" y="1280160"/>
            <a:ext cx="6720840" cy="320040"/>
          </a:xfrm>
          <a:prstGeom prst="rect">
            <a:avLst/>
          </a:prstGeom>
          <a:noFill/>
        </p:spPr>
        <p:txBody>
          <a:bodyPr wrap="none" anchor="ctr">
            <a:spAutoFit/>
          </a:bodyPr>
          <a:lstStyle/>
          <a:p>
            <a:pPr algn="ctr"/>
            <a:r>
              <a:rPr sz="1300" b="0">
                <a:solidFill>
                  <a:srgbClr val="1067D2"/>
                </a:solidFill>
                <a:latin typeface="Arial"/>
              </a:rPr>
              <a:t>Cùng nhau học hỏi – Cùng nhau phát triển – Cùng nhau thành công</a:t>
            </a:r>
          </a:p>
        </p:txBody>
      </p:sp>
      <p:sp>
        <p:nvSpPr>
          <p:cNvPr id="142" name="Oval 141"/>
          <p:cNvSpPr/>
          <p:nvPr/>
        </p:nvSpPr>
        <p:spPr>
          <a:xfrm>
            <a:off x="9582912" y="283463"/>
            <a:ext cx="310896" cy="310896"/>
          </a:xfrm>
          <a:prstGeom prst="ellipse">
            <a:avLst/>
          </a:prstGeom>
          <a:solidFill>
            <a:srgbClr val="FFFFFF"/>
          </a:solidFill>
          <a:ln w="12700">
            <a:solidFill>
              <a:srgbClr val="10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3" name="Oval 142"/>
          <p:cNvSpPr/>
          <p:nvPr/>
        </p:nvSpPr>
        <p:spPr>
          <a:xfrm>
            <a:off x="9674352" y="374904"/>
            <a:ext cx="128016" cy="128016"/>
          </a:xfrm>
          <a:prstGeom prst="ellipse">
            <a:avLst/>
          </a:prstGeom>
          <a:solidFill>
            <a:srgbClr val="1067D2"/>
          </a:solidFill>
          <a:ln w="3810">
            <a:solidFill>
              <a:srgbClr val="10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44" name="Connector 143"/>
          <p:cNvCxnSpPr/>
          <p:nvPr/>
        </p:nvCxnSpPr>
        <p:spPr>
          <a:xfrm>
            <a:off x="9893808" y="438912"/>
            <a:ext cx="804672" cy="338328"/>
          </a:xfrm>
          <a:prstGeom prst="line">
            <a:avLst/>
          </a:prstGeom>
          <a:ln w="12700">
            <a:solidFill>
              <a:srgbClr val="6EAAEB"/>
            </a:solidFill>
          </a:ln>
        </p:spPr>
        <p:style>
          <a:lnRef idx="2">
            <a:schemeClr val="accent1"/>
          </a:lnRef>
          <a:fillRef idx="0">
            <a:schemeClr val="accent1"/>
          </a:fillRef>
          <a:effectRef idx="1">
            <a:schemeClr val="accent1"/>
          </a:effectRef>
          <a:fontRef idx="minor">
            <a:schemeClr val="tx1"/>
          </a:fontRef>
        </p:style>
      </p:cxnSp>
      <p:sp>
        <p:nvSpPr>
          <p:cNvPr id="145" name="Oval 144"/>
          <p:cNvSpPr/>
          <p:nvPr/>
        </p:nvSpPr>
        <p:spPr>
          <a:xfrm>
            <a:off x="10671048" y="566928"/>
            <a:ext cx="877824" cy="877824"/>
          </a:xfrm>
          <a:prstGeom prst="ellipse">
            <a:avLst/>
          </a:prstGeom>
          <a:solidFill>
            <a:srgbClr val="FFFFFF"/>
          </a:solidFill>
          <a:ln w="15240">
            <a:solidFill>
              <a:srgbClr val="10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6" name="Oval 145"/>
          <p:cNvSpPr/>
          <p:nvPr/>
        </p:nvSpPr>
        <p:spPr>
          <a:xfrm>
            <a:off x="10863072" y="758952"/>
            <a:ext cx="493776" cy="493776"/>
          </a:xfrm>
          <a:prstGeom prst="ellipse">
            <a:avLst/>
          </a:prstGeom>
          <a:solidFill>
            <a:srgbClr val="5596E1"/>
          </a:solidFill>
          <a:ln w="6350">
            <a:solidFill>
              <a:srgbClr val="5596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7" name="Oval 146"/>
          <p:cNvSpPr/>
          <p:nvPr/>
        </p:nvSpPr>
        <p:spPr>
          <a:xfrm>
            <a:off x="10981944" y="877824"/>
            <a:ext cx="256032" cy="256032"/>
          </a:xfrm>
          <a:prstGeom prst="ellipse">
            <a:avLst/>
          </a:prstGeom>
          <a:solidFill>
            <a:srgbClr val="FFFFFF"/>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48" name="Connector 147"/>
          <p:cNvCxnSpPr/>
          <p:nvPr/>
        </p:nvCxnSpPr>
        <p:spPr>
          <a:xfrm flipV="1">
            <a:off x="11475720" y="228600"/>
            <a:ext cx="594360" cy="484632"/>
          </a:xfrm>
          <a:prstGeom prst="line">
            <a:avLst/>
          </a:prstGeom>
          <a:ln w="12700">
            <a:solidFill>
              <a:srgbClr val="6EAAEB"/>
            </a:solidFill>
          </a:ln>
        </p:spPr>
        <p:style>
          <a:lnRef idx="2">
            <a:schemeClr val="accent1"/>
          </a:lnRef>
          <a:fillRef idx="0">
            <a:schemeClr val="accent1"/>
          </a:fillRef>
          <a:effectRef idx="1">
            <a:schemeClr val="accent1"/>
          </a:effectRef>
          <a:fontRef idx="minor">
            <a:schemeClr val="tx1"/>
          </a:fontRef>
        </p:style>
      </p:cxnSp>
      <p:sp>
        <p:nvSpPr>
          <p:cNvPr id="149" name="Rounded Rectangle 148"/>
          <p:cNvSpPr/>
          <p:nvPr/>
        </p:nvSpPr>
        <p:spPr>
          <a:xfrm>
            <a:off x="1965960" y="1993392"/>
            <a:ext cx="4114800" cy="841248"/>
          </a:xfrm>
          <a:prstGeom prst="roundRect">
            <a:avLst/>
          </a:prstGeom>
          <a:solidFill>
            <a:srgbClr val="EFF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0" name="Rounded Rectangle 149"/>
          <p:cNvSpPr/>
          <p:nvPr/>
        </p:nvSpPr>
        <p:spPr>
          <a:xfrm>
            <a:off x="1920240" y="1938528"/>
            <a:ext cx="685800" cy="841248"/>
          </a:xfrm>
          <a:prstGeom prst="roundRect">
            <a:avLst/>
          </a:prstGeom>
          <a:solidFill>
            <a:srgbClr val="1067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1" name="TextBox 150"/>
          <p:cNvSpPr txBox="1"/>
          <p:nvPr/>
        </p:nvSpPr>
        <p:spPr>
          <a:xfrm>
            <a:off x="1858025" y="2161211"/>
            <a:ext cx="566928" cy="384048"/>
          </a:xfrm>
          <a:prstGeom prst="rect">
            <a:avLst/>
          </a:prstGeom>
          <a:noFill/>
        </p:spPr>
        <p:txBody>
          <a:bodyPr wrap="none" anchor="ctr">
            <a:spAutoFit/>
          </a:bodyPr>
          <a:lstStyle/>
          <a:p>
            <a:pPr algn="ctr"/>
            <a:r>
              <a:rPr sz="1800" b="1">
                <a:solidFill>
                  <a:srgbClr val="FFFFFF"/>
                </a:solidFill>
                <a:latin typeface="Arial"/>
              </a:rPr>
              <a:t>01</a:t>
            </a:r>
          </a:p>
        </p:txBody>
      </p:sp>
      <p:sp>
        <p:nvSpPr>
          <p:cNvPr id="152" name="Rounded Rectangle 151"/>
          <p:cNvSpPr/>
          <p:nvPr/>
        </p:nvSpPr>
        <p:spPr>
          <a:xfrm>
            <a:off x="2423160" y="1938528"/>
            <a:ext cx="3611880" cy="841248"/>
          </a:xfrm>
          <a:prstGeom prst="roundRect">
            <a:avLst/>
          </a:prstGeom>
          <a:solidFill>
            <a:srgbClr val="FFFFFF"/>
          </a:solidFill>
          <a:ln w="7620">
            <a:solidFill>
              <a:srgbClr val="E1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3" name="Oval 152"/>
          <p:cNvSpPr/>
          <p:nvPr/>
        </p:nvSpPr>
        <p:spPr>
          <a:xfrm>
            <a:off x="2807208" y="2029968"/>
            <a:ext cx="658368" cy="658368"/>
          </a:xfrm>
          <a:prstGeom prst="ellipse">
            <a:avLst/>
          </a:prstGeom>
          <a:solidFill>
            <a:srgbClr val="FFFFFF"/>
          </a:solidFill>
          <a:ln w="16510">
            <a:solidFill>
              <a:srgbClr val="10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4" name="Oval 153"/>
          <p:cNvSpPr/>
          <p:nvPr/>
        </p:nvSpPr>
        <p:spPr>
          <a:xfrm>
            <a:off x="3067812" y="2180844"/>
            <a:ext cx="137160" cy="137160"/>
          </a:xfrm>
          <a:prstGeom prst="ellipse">
            <a:avLst/>
          </a:prstGeom>
          <a:solidFill>
            <a:srgbClr val="1067D2"/>
          </a:solidFill>
          <a:ln w="3810">
            <a:solidFill>
              <a:srgbClr val="10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5" name="Isosceles Triangle 154"/>
          <p:cNvSpPr/>
          <p:nvPr/>
        </p:nvSpPr>
        <p:spPr>
          <a:xfrm>
            <a:off x="3017520" y="2350008"/>
            <a:ext cx="237744" cy="201168"/>
          </a:xfrm>
          <a:prstGeom prst="triangle">
            <a:avLst/>
          </a:prstGeom>
          <a:solidFill>
            <a:srgbClr val="1067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6" name="TextBox 155"/>
          <p:cNvSpPr txBox="1"/>
          <p:nvPr/>
        </p:nvSpPr>
        <p:spPr>
          <a:xfrm>
            <a:off x="3749039" y="2048256"/>
            <a:ext cx="2103120" cy="274320"/>
          </a:xfrm>
          <a:prstGeom prst="rect">
            <a:avLst/>
          </a:prstGeom>
          <a:noFill/>
        </p:spPr>
        <p:txBody>
          <a:bodyPr wrap="none" anchor="ctr">
            <a:spAutoFit/>
          </a:bodyPr>
          <a:lstStyle/>
          <a:p>
            <a:pPr algn="l"/>
            <a:r>
              <a:rPr sz="1500" b="1">
                <a:solidFill>
                  <a:srgbClr val="08306F"/>
                </a:solidFill>
                <a:latin typeface="Arial"/>
              </a:rPr>
              <a:t>Trần Quốc Phong</a:t>
            </a:r>
          </a:p>
        </p:txBody>
      </p:sp>
      <p:sp>
        <p:nvSpPr>
          <p:cNvPr id="157" name="TextBox 156"/>
          <p:cNvSpPr txBox="1"/>
          <p:nvPr/>
        </p:nvSpPr>
        <p:spPr>
          <a:xfrm>
            <a:off x="3749039" y="2368296"/>
            <a:ext cx="2103120" cy="228600"/>
          </a:xfrm>
          <a:prstGeom prst="rect">
            <a:avLst/>
          </a:prstGeom>
          <a:noFill/>
        </p:spPr>
        <p:txBody>
          <a:bodyPr wrap="none" anchor="ctr">
            <a:spAutoFit/>
          </a:bodyPr>
          <a:lstStyle/>
          <a:p>
            <a:pPr algn="l"/>
            <a:r>
              <a:rPr sz="1100" b="0">
                <a:solidFill>
                  <a:srgbClr val="5F5F5F"/>
                </a:solidFill>
                <a:latin typeface="Arial"/>
              </a:rPr>
              <a:t>Nhóm trưởng</a:t>
            </a:r>
          </a:p>
        </p:txBody>
      </p:sp>
      <p:cxnSp>
        <p:nvCxnSpPr>
          <p:cNvPr id="158" name="Connector 157"/>
          <p:cNvCxnSpPr/>
          <p:nvPr/>
        </p:nvCxnSpPr>
        <p:spPr>
          <a:xfrm>
            <a:off x="5961888" y="2093976"/>
            <a:ext cx="0" cy="530352"/>
          </a:xfrm>
          <a:prstGeom prst="line">
            <a:avLst/>
          </a:prstGeom>
          <a:ln w="15240">
            <a:solidFill>
              <a:srgbClr val="1067D2"/>
            </a:solidFill>
          </a:ln>
        </p:spPr>
        <p:style>
          <a:lnRef idx="2">
            <a:schemeClr val="accent1"/>
          </a:lnRef>
          <a:fillRef idx="0">
            <a:schemeClr val="accent1"/>
          </a:fillRef>
          <a:effectRef idx="1">
            <a:schemeClr val="accent1"/>
          </a:effectRef>
          <a:fontRef idx="minor">
            <a:schemeClr val="tx1"/>
          </a:fontRef>
        </p:style>
      </p:cxnSp>
      <p:sp>
        <p:nvSpPr>
          <p:cNvPr id="159" name="Rounded Rectangle 158"/>
          <p:cNvSpPr/>
          <p:nvPr/>
        </p:nvSpPr>
        <p:spPr>
          <a:xfrm>
            <a:off x="6217920" y="1993392"/>
            <a:ext cx="4114800" cy="841248"/>
          </a:xfrm>
          <a:prstGeom prst="roundRect">
            <a:avLst/>
          </a:prstGeom>
          <a:solidFill>
            <a:srgbClr val="EFF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0" name="Rounded Rectangle 159"/>
          <p:cNvSpPr/>
          <p:nvPr/>
        </p:nvSpPr>
        <p:spPr>
          <a:xfrm>
            <a:off x="6172200" y="1938528"/>
            <a:ext cx="685800" cy="841248"/>
          </a:xfrm>
          <a:prstGeom prst="roundRect">
            <a:avLst/>
          </a:prstGeom>
          <a:solidFill>
            <a:srgbClr val="1067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1" name="TextBox 160"/>
          <p:cNvSpPr txBox="1"/>
          <p:nvPr/>
        </p:nvSpPr>
        <p:spPr>
          <a:xfrm>
            <a:off x="6065161" y="2172417"/>
            <a:ext cx="566928" cy="384048"/>
          </a:xfrm>
          <a:prstGeom prst="rect">
            <a:avLst/>
          </a:prstGeom>
          <a:noFill/>
        </p:spPr>
        <p:txBody>
          <a:bodyPr wrap="none" anchor="ctr">
            <a:spAutoFit/>
          </a:bodyPr>
          <a:lstStyle/>
          <a:p>
            <a:pPr algn="ctr"/>
            <a:r>
              <a:rPr sz="1800" b="1">
                <a:solidFill>
                  <a:srgbClr val="FFFFFF"/>
                </a:solidFill>
                <a:latin typeface="Arial"/>
              </a:rPr>
              <a:t>02</a:t>
            </a:r>
          </a:p>
        </p:txBody>
      </p:sp>
      <p:sp>
        <p:nvSpPr>
          <p:cNvPr id="162" name="Rounded Rectangle 161"/>
          <p:cNvSpPr/>
          <p:nvPr/>
        </p:nvSpPr>
        <p:spPr>
          <a:xfrm>
            <a:off x="6675120" y="1938528"/>
            <a:ext cx="3611880" cy="841248"/>
          </a:xfrm>
          <a:prstGeom prst="roundRect">
            <a:avLst/>
          </a:prstGeom>
          <a:solidFill>
            <a:srgbClr val="FFFFFF"/>
          </a:solidFill>
          <a:ln w="7620">
            <a:solidFill>
              <a:srgbClr val="E1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3" name="Oval 162"/>
          <p:cNvSpPr/>
          <p:nvPr/>
        </p:nvSpPr>
        <p:spPr>
          <a:xfrm>
            <a:off x="7059168" y="2029968"/>
            <a:ext cx="658368" cy="658368"/>
          </a:xfrm>
          <a:prstGeom prst="ellipse">
            <a:avLst/>
          </a:prstGeom>
          <a:solidFill>
            <a:srgbClr val="FFFFFF"/>
          </a:solidFill>
          <a:ln w="16510">
            <a:solidFill>
              <a:srgbClr val="10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4" name="Oval 163"/>
          <p:cNvSpPr/>
          <p:nvPr/>
        </p:nvSpPr>
        <p:spPr>
          <a:xfrm>
            <a:off x="7319772" y="2180844"/>
            <a:ext cx="137160" cy="137160"/>
          </a:xfrm>
          <a:prstGeom prst="ellipse">
            <a:avLst/>
          </a:prstGeom>
          <a:solidFill>
            <a:srgbClr val="1067D2"/>
          </a:solidFill>
          <a:ln w="3810">
            <a:solidFill>
              <a:srgbClr val="10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5" name="Isosceles Triangle 164"/>
          <p:cNvSpPr/>
          <p:nvPr/>
        </p:nvSpPr>
        <p:spPr>
          <a:xfrm>
            <a:off x="7269480" y="2350008"/>
            <a:ext cx="237744" cy="201168"/>
          </a:xfrm>
          <a:prstGeom prst="triangle">
            <a:avLst/>
          </a:prstGeom>
          <a:solidFill>
            <a:srgbClr val="1067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6" name="TextBox 165"/>
          <p:cNvSpPr txBox="1"/>
          <p:nvPr/>
        </p:nvSpPr>
        <p:spPr>
          <a:xfrm>
            <a:off x="8001000" y="2048256"/>
            <a:ext cx="2103120" cy="274320"/>
          </a:xfrm>
          <a:prstGeom prst="rect">
            <a:avLst/>
          </a:prstGeom>
          <a:noFill/>
        </p:spPr>
        <p:txBody>
          <a:bodyPr wrap="none" anchor="ctr">
            <a:spAutoFit/>
          </a:bodyPr>
          <a:lstStyle/>
          <a:p>
            <a:pPr algn="l"/>
            <a:r>
              <a:rPr sz="1500" b="1">
                <a:solidFill>
                  <a:srgbClr val="08306F"/>
                </a:solidFill>
                <a:latin typeface="Arial"/>
              </a:rPr>
              <a:t>Lê Ngọc Tài</a:t>
            </a:r>
          </a:p>
        </p:txBody>
      </p:sp>
      <p:sp>
        <p:nvSpPr>
          <p:cNvPr id="167" name="TextBox 166"/>
          <p:cNvSpPr txBox="1"/>
          <p:nvPr/>
        </p:nvSpPr>
        <p:spPr>
          <a:xfrm>
            <a:off x="8001000" y="2368296"/>
            <a:ext cx="2103120" cy="228600"/>
          </a:xfrm>
          <a:prstGeom prst="rect">
            <a:avLst/>
          </a:prstGeom>
          <a:noFill/>
        </p:spPr>
        <p:txBody>
          <a:bodyPr wrap="none" anchor="ctr">
            <a:spAutoFit/>
          </a:bodyPr>
          <a:lstStyle/>
          <a:p>
            <a:pPr algn="l"/>
            <a:r>
              <a:rPr sz="1100" b="0">
                <a:solidFill>
                  <a:srgbClr val="5F5F5F"/>
                </a:solidFill>
                <a:latin typeface="Arial"/>
              </a:rPr>
              <a:t>Thành viên</a:t>
            </a:r>
          </a:p>
        </p:txBody>
      </p:sp>
      <p:cxnSp>
        <p:nvCxnSpPr>
          <p:cNvPr id="168" name="Connector 167"/>
          <p:cNvCxnSpPr/>
          <p:nvPr/>
        </p:nvCxnSpPr>
        <p:spPr>
          <a:xfrm>
            <a:off x="10213848" y="2093976"/>
            <a:ext cx="0" cy="530352"/>
          </a:xfrm>
          <a:prstGeom prst="line">
            <a:avLst/>
          </a:prstGeom>
          <a:ln w="15240">
            <a:solidFill>
              <a:srgbClr val="1067D2"/>
            </a:solidFill>
          </a:ln>
        </p:spPr>
        <p:style>
          <a:lnRef idx="2">
            <a:schemeClr val="accent1"/>
          </a:lnRef>
          <a:fillRef idx="0">
            <a:schemeClr val="accent1"/>
          </a:fillRef>
          <a:effectRef idx="1">
            <a:schemeClr val="accent1"/>
          </a:effectRef>
          <a:fontRef idx="minor">
            <a:schemeClr val="tx1"/>
          </a:fontRef>
        </p:style>
      </p:cxnSp>
      <p:sp>
        <p:nvSpPr>
          <p:cNvPr id="169" name="Rounded Rectangle 168"/>
          <p:cNvSpPr/>
          <p:nvPr/>
        </p:nvSpPr>
        <p:spPr>
          <a:xfrm>
            <a:off x="1965960" y="3072384"/>
            <a:ext cx="4114800" cy="841248"/>
          </a:xfrm>
          <a:prstGeom prst="roundRect">
            <a:avLst/>
          </a:prstGeom>
          <a:solidFill>
            <a:srgbClr val="EFF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0" name="Rounded Rectangle 169"/>
          <p:cNvSpPr/>
          <p:nvPr/>
        </p:nvSpPr>
        <p:spPr>
          <a:xfrm>
            <a:off x="1920240" y="3017520"/>
            <a:ext cx="685800" cy="841248"/>
          </a:xfrm>
          <a:prstGeom prst="roundRect">
            <a:avLst/>
          </a:prstGeom>
          <a:solidFill>
            <a:srgbClr val="1067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1" name="TextBox 170"/>
          <p:cNvSpPr txBox="1"/>
          <p:nvPr/>
        </p:nvSpPr>
        <p:spPr>
          <a:xfrm>
            <a:off x="1858025" y="3251409"/>
            <a:ext cx="566928" cy="384048"/>
          </a:xfrm>
          <a:prstGeom prst="rect">
            <a:avLst/>
          </a:prstGeom>
          <a:noFill/>
        </p:spPr>
        <p:txBody>
          <a:bodyPr wrap="none" anchor="ctr">
            <a:spAutoFit/>
          </a:bodyPr>
          <a:lstStyle/>
          <a:p>
            <a:pPr algn="ctr"/>
            <a:r>
              <a:rPr sz="1800" b="1">
                <a:solidFill>
                  <a:srgbClr val="FFFFFF"/>
                </a:solidFill>
                <a:latin typeface="Arial"/>
              </a:rPr>
              <a:t>03</a:t>
            </a:r>
          </a:p>
        </p:txBody>
      </p:sp>
      <p:sp>
        <p:nvSpPr>
          <p:cNvPr id="172" name="Rounded Rectangle 171"/>
          <p:cNvSpPr/>
          <p:nvPr/>
        </p:nvSpPr>
        <p:spPr>
          <a:xfrm>
            <a:off x="2423160" y="3017520"/>
            <a:ext cx="3611880" cy="841248"/>
          </a:xfrm>
          <a:prstGeom prst="roundRect">
            <a:avLst/>
          </a:prstGeom>
          <a:solidFill>
            <a:srgbClr val="FFFFFF"/>
          </a:solidFill>
          <a:ln w="7620">
            <a:solidFill>
              <a:srgbClr val="E1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3" name="Oval 172"/>
          <p:cNvSpPr/>
          <p:nvPr/>
        </p:nvSpPr>
        <p:spPr>
          <a:xfrm>
            <a:off x="2807208" y="3108960"/>
            <a:ext cx="658368" cy="658368"/>
          </a:xfrm>
          <a:prstGeom prst="ellipse">
            <a:avLst/>
          </a:prstGeom>
          <a:solidFill>
            <a:srgbClr val="FFFFFF"/>
          </a:solidFill>
          <a:ln w="16510">
            <a:solidFill>
              <a:srgbClr val="10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4" name="Oval 173"/>
          <p:cNvSpPr/>
          <p:nvPr/>
        </p:nvSpPr>
        <p:spPr>
          <a:xfrm>
            <a:off x="3067812" y="3259835"/>
            <a:ext cx="137160" cy="137160"/>
          </a:xfrm>
          <a:prstGeom prst="ellipse">
            <a:avLst/>
          </a:prstGeom>
          <a:solidFill>
            <a:srgbClr val="1067D2"/>
          </a:solidFill>
          <a:ln w="3810">
            <a:solidFill>
              <a:srgbClr val="10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5" name="Isosceles Triangle 174"/>
          <p:cNvSpPr/>
          <p:nvPr/>
        </p:nvSpPr>
        <p:spPr>
          <a:xfrm>
            <a:off x="3017520" y="3429000"/>
            <a:ext cx="237744" cy="201168"/>
          </a:xfrm>
          <a:prstGeom prst="triangle">
            <a:avLst/>
          </a:prstGeom>
          <a:solidFill>
            <a:srgbClr val="1067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6" name="TextBox 175"/>
          <p:cNvSpPr txBox="1"/>
          <p:nvPr/>
        </p:nvSpPr>
        <p:spPr>
          <a:xfrm>
            <a:off x="3749039" y="3127248"/>
            <a:ext cx="2103120" cy="274320"/>
          </a:xfrm>
          <a:prstGeom prst="rect">
            <a:avLst/>
          </a:prstGeom>
          <a:noFill/>
        </p:spPr>
        <p:txBody>
          <a:bodyPr wrap="none" anchor="ctr">
            <a:spAutoFit/>
          </a:bodyPr>
          <a:lstStyle/>
          <a:p>
            <a:pPr algn="l"/>
            <a:r>
              <a:rPr sz="1500" b="1">
                <a:solidFill>
                  <a:srgbClr val="08306F"/>
                </a:solidFill>
                <a:latin typeface="Arial"/>
              </a:rPr>
              <a:t>Lạc Mạnh Quân</a:t>
            </a:r>
          </a:p>
        </p:txBody>
      </p:sp>
      <p:sp>
        <p:nvSpPr>
          <p:cNvPr id="177" name="TextBox 176"/>
          <p:cNvSpPr txBox="1"/>
          <p:nvPr/>
        </p:nvSpPr>
        <p:spPr>
          <a:xfrm>
            <a:off x="3749039" y="3447287"/>
            <a:ext cx="2103120" cy="228600"/>
          </a:xfrm>
          <a:prstGeom prst="rect">
            <a:avLst/>
          </a:prstGeom>
          <a:noFill/>
        </p:spPr>
        <p:txBody>
          <a:bodyPr wrap="none" anchor="ctr">
            <a:spAutoFit/>
          </a:bodyPr>
          <a:lstStyle/>
          <a:p>
            <a:pPr algn="l"/>
            <a:r>
              <a:rPr sz="1100" b="0">
                <a:solidFill>
                  <a:srgbClr val="5F5F5F"/>
                </a:solidFill>
                <a:latin typeface="Arial"/>
              </a:rPr>
              <a:t>Thành viên</a:t>
            </a:r>
          </a:p>
        </p:txBody>
      </p:sp>
      <p:cxnSp>
        <p:nvCxnSpPr>
          <p:cNvPr id="178" name="Connector 177"/>
          <p:cNvCxnSpPr/>
          <p:nvPr/>
        </p:nvCxnSpPr>
        <p:spPr>
          <a:xfrm>
            <a:off x="5961888" y="3172968"/>
            <a:ext cx="0" cy="530352"/>
          </a:xfrm>
          <a:prstGeom prst="line">
            <a:avLst/>
          </a:prstGeom>
          <a:ln w="15240">
            <a:solidFill>
              <a:srgbClr val="1067D2"/>
            </a:solidFill>
          </a:ln>
        </p:spPr>
        <p:style>
          <a:lnRef idx="2">
            <a:schemeClr val="accent1"/>
          </a:lnRef>
          <a:fillRef idx="0">
            <a:schemeClr val="accent1"/>
          </a:fillRef>
          <a:effectRef idx="1">
            <a:schemeClr val="accent1"/>
          </a:effectRef>
          <a:fontRef idx="minor">
            <a:schemeClr val="tx1"/>
          </a:fontRef>
        </p:style>
      </p:cxnSp>
      <p:sp>
        <p:nvSpPr>
          <p:cNvPr id="179" name="Rounded Rectangle 178"/>
          <p:cNvSpPr/>
          <p:nvPr/>
        </p:nvSpPr>
        <p:spPr>
          <a:xfrm>
            <a:off x="6217920" y="3072384"/>
            <a:ext cx="4114800" cy="841248"/>
          </a:xfrm>
          <a:prstGeom prst="roundRect">
            <a:avLst/>
          </a:prstGeom>
          <a:solidFill>
            <a:srgbClr val="EFF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0" name="Rounded Rectangle 179"/>
          <p:cNvSpPr/>
          <p:nvPr/>
        </p:nvSpPr>
        <p:spPr>
          <a:xfrm>
            <a:off x="6172200" y="3017520"/>
            <a:ext cx="685800" cy="841248"/>
          </a:xfrm>
          <a:prstGeom prst="roundRect">
            <a:avLst/>
          </a:prstGeom>
          <a:solidFill>
            <a:srgbClr val="1067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1" name="TextBox 180"/>
          <p:cNvSpPr txBox="1"/>
          <p:nvPr/>
        </p:nvSpPr>
        <p:spPr>
          <a:xfrm>
            <a:off x="6087573" y="3240203"/>
            <a:ext cx="566928" cy="384048"/>
          </a:xfrm>
          <a:prstGeom prst="rect">
            <a:avLst/>
          </a:prstGeom>
          <a:noFill/>
        </p:spPr>
        <p:txBody>
          <a:bodyPr wrap="none" anchor="ctr">
            <a:spAutoFit/>
          </a:bodyPr>
          <a:lstStyle/>
          <a:p>
            <a:pPr algn="ctr"/>
            <a:r>
              <a:rPr sz="1800" b="1">
                <a:solidFill>
                  <a:srgbClr val="FFFFFF"/>
                </a:solidFill>
                <a:latin typeface="Arial"/>
              </a:rPr>
              <a:t>04</a:t>
            </a:r>
          </a:p>
        </p:txBody>
      </p:sp>
      <p:sp>
        <p:nvSpPr>
          <p:cNvPr id="182" name="Rounded Rectangle 181"/>
          <p:cNvSpPr/>
          <p:nvPr/>
        </p:nvSpPr>
        <p:spPr>
          <a:xfrm>
            <a:off x="6675120" y="3017520"/>
            <a:ext cx="3611880" cy="841248"/>
          </a:xfrm>
          <a:prstGeom prst="roundRect">
            <a:avLst/>
          </a:prstGeom>
          <a:solidFill>
            <a:srgbClr val="FFFFFF"/>
          </a:solidFill>
          <a:ln w="7620">
            <a:solidFill>
              <a:srgbClr val="E1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3" name="Oval 182"/>
          <p:cNvSpPr/>
          <p:nvPr/>
        </p:nvSpPr>
        <p:spPr>
          <a:xfrm>
            <a:off x="7059168" y="3108960"/>
            <a:ext cx="658368" cy="658368"/>
          </a:xfrm>
          <a:prstGeom prst="ellipse">
            <a:avLst/>
          </a:prstGeom>
          <a:solidFill>
            <a:srgbClr val="FFFFFF"/>
          </a:solidFill>
          <a:ln w="16510">
            <a:solidFill>
              <a:srgbClr val="10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4" name="Oval 183"/>
          <p:cNvSpPr/>
          <p:nvPr/>
        </p:nvSpPr>
        <p:spPr>
          <a:xfrm>
            <a:off x="7319772" y="3259835"/>
            <a:ext cx="137160" cy="137160"/>
          </a:xfrm>
          <a:prstGeom prst="ellipse">
            <a:avLst/>
          </a:prstGeom>
          <a:solidFill>
            <a:srgbClr val="1067D2"/>
          </a:solidFill>
          <a:ln w="3810">
            <a:solidFill>
              <a:srgbClr val="10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5" name="Isosceles Triangle 184"/>
          <p:cNvSpPr/>
          <p:nvPr/>
        </p:nvSpPr>
        <p:spPr>
          <a:xfrm>
            <a:off x="7269480" y="3429000"/>
            <a:ext cx="237744" cy="201168"/>
          </a:xfrm>
          <a:prstGeom prst="triangle">
            <a:avLst/>
          </a:prstGeom>
          <a:solidFill>
            <a:srgbClr val="1067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6" name="TextBox 185"/>
          <p:cNvSpPr txBox="1"/>
          <p:nvPr/>
        </p:nvSpPr>
        <p:spPr>
          <a:xfrm>
            <a:off x="8001000" y="3127248"/>
            <a:ext cx="2103120" cy="274320"/>
          </a:xfrm>
          <a:prstGeom prst="rect">
            <a:avLst/>
          </a:prstGeom>
          <a:noFill/>
        </p:spPr>
        <p:txBody>
          <a:bodyPr wrap="none" anchor="ctr">
            <a:spAutoFit/>
          </a:bodyPr>
          <a:lstStyle/>
          <a:p>
            <a:pPr algn="l"/>
            <a:r>
              <a:rPr sz="1500" b="1">
                <a:solidFill>
                  <a:srgbClr val="08306F"/>
                </a:solidFill>
                <a:latin typeface="Arial"/>
              </a:rPr>
              <a:t>Y Thiết Niê</a:t>
            </a:r>
          </a:p>
        </p:txBody>
      </p:sp>
      <p:sp>
        <p:nvSpPr>
          <p:cNvPr id="187" name="TextBox 186"/>
          <p:cNvSpPr txBox="1"/>
          <p:nvPr/>
        </p:nvSpPr>
        <p:spPr>
          <a:xfrm>
            <a:off x="8001000" y="3447287"/>
            <a:ext cx="2103120" cy="228600"/>
          </a:xfrm>
          <a:prstGeom prst="rect">
            <a:avLst/>
          </a:prstGeom>
          <a:noFill/>
        </p:spPr>
        <p:txBody>
          <a:bodyPr wrap="none" anchor="ctr">
            <a:spAutoFit/>
          </a:bodyPr>
          <a:lstStyle/>
          <a:p>
            <a:pPr algn="l"/>
            <a:r>
              <a:rPr sz="1100" b="0">
                <a:solidFill>
                  <a:srgbClr val="5F5F5F"/>
                </a:solidFill>
                <a:latin typeface="Arial"/>
              </a:rPr>
              <a:t>Thành viên</a:t>
            </a:r>
          </a:p>
        </p:txBody>
      </p:sp>
      <p:cxnSp>
        <p:nvCxnSpPr>
          <p:cNvPr id="188" name="Connector 187"/>
          <p:cNvCxnSpPr/>
          <p:nvPr/>
        </p:nvCxnSpPr>
        <p:spPr>
          <a:xfrm>
            <a:off x="10213848" y="3172968"/>
            <a:ext cx="0" cy="530352"/>
          </a:xfrm>
          <a:prstGeom prst="line">
            <a:avLst/>
          </a:prstGeom>
          <a:ln w="15240">
            <a:solidFill>
              <a:srgbClr val="1067D2"/>
            </a:solidFill>
          </a:ln>
        </p:spPr>
        <p:style>
          <a:lnRef idx="2">
            <a:schemeClr val="accent1"/>
          </a:lnRef>
          <a:fillRef idx="0">
            <a:schemeClr val="accent1"/>
          </a:fillRef>
          <a:effectRef idx="1">
            <a:schemeClr val="accent1"/>
          </a:effectRef>
          <a:fontRef idx="minor">
            <a:schemeClr val="tx1"/>
          </a:fontRef>
        </p:style>
      </p:cxnSp>
      <p:sp>
        <p:nvSpPr>
          <p:cNvPr id="189" name="Rounded Rectangle 188"/>
          <p:cNvSpPr/>
          <p:nvPr/>
        </p:nvSpPr>
        <p:spPr>
          <a:xfrm>
            <a:off x="1965960" y="4151376"/>
            <a:ext cx="4114800" cy="841248"/>
          </a:xfrm>
          <a:prstGeom prst="roundRect">
            <a:avLst/>
          </a:prstGeom>
          <a:solidFill>
            <a:srgbClr val="EFF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0" name="Rounded Rectangle 189"/>
          <p:cNvSpPr/>
          <p:nvPr/>
        </p:nvSpPr>
        <p:spPr>
          <a:xfrm>
            <a:off x="1920240" y="4096512"/>
            <a:ext cx="685800" cy="841248"/>
          </a:xfrm>
          <a:prstGeom prst="roundRect">
            <a:avLst/>
          </a:prstGeom>
          <a:solidFill>
            <a:srgbClr val="1067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1" name="TextBox 190"/>
          <p:cNvSpPr txBox="1"/>
          <p:nvPr/>
        </p:nvSpPr>
        <p:spPr>
          <a:xfrm>
            <a:off x="1858025" y="4330401"/>
            <a:ext cx="566928" cy="384048"/>
          </a:xfrm>
          <a:prstGeom prst="rect">
            <a:avLst/>
          </a:prstGeom>
          <a:noFill/>
        </p:spPr>
        <p:txBody>
          <a:bodyPr wrap="none" anchor="ctr">
            <a:spAutoFit/>
          </a:bodyPr>
          <a:lstStyle/>
          <a:p>
            <a:pPr algn="ctr"/>
            <a:r>
              <a:rPr sz="1800" b="1">
                <a:solidFill>
                  <a:srgbClr val="FFFFFF"/>
                </a:solidFill>
                <a:latin typeface="Arial"/>
              </a:rPr>
              <a:t>05</a:t>
            </a:r>
          </a:p>
        </p:txBody>
      </p:sp>
      <p:sp>
        <p:nvSpPr>
          <p:cNvPr id="192" name="Rounded Rectangle 191"/>
          <p:cNvSpPr/>
          <p:nvPr/>
        </p:nvSpPr>
        <p:spPr>
          <a:xfrm>
            <a:off x="2423160" y="4096512"/>
            <a:ext cx="3611880" cy="841248"/>
          </a:xfrm>
          <a:prstGeom prst="roundRect">
            <a:avLst/>
          </a:prstGeom>
          <a:solidFill>
            <a:srgbClr val="FFFFFF"/>
          </a:solidFill>
          <a:ln w="7620">
            <a:solidFill>
              <a:srgbClr val="E1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3" name="Oval 192"/>
          <p:cNvSpPr/>
          <p:nvPr/>
        </p:nvSpPr>
        <p:spPr>
          <a:xfrm>
            <a:off x="2807208" y="4187952"/>
            <a:ext cx="658368" cy="658368"/>
          </a:xfrm>
          <a:prstGeom prst="ellipse">
            <a:avLst/>
          </a:prstGeom>
          <a:solidFill>
            <a:srgbClr val="FFFFFF"/>
          </a:solidFill>
          <a:ln w="16510">
            <a:solidFill>
              <a:srgbClr val="10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4" name="Oval 193"/>
          <p:cNvSpPr/>
          <p:nvPr/>
        </p:nvSpPr>
        <p:spPr>
          <a:xfrm>
            <a:off x="3067812" y="4338828"/>
            <a:ext cx="137160" cy="137160"/>
          </a:xfrm>
          <a:prstGeom prst="ellipse">
            <a:avLst/>
          </a:prstGeom>
          <a:solidFill>
            <a:srgbClr val="1067D2"/>
          </a:solidFill>
          <a:ln w="3810">
            <a:solidFill>
              <a:srgbClr val="10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5" name="Isosceles Triangle 194"/>
          <p:cNvSpPr/>
          <p:nvPr/>
        </p:nvSpPr>
        <p:spPr>
          <a:xfrm>
            <a:off x="3017520" y="4507992"/>
            <a:ext cx="237744" cy="201168"/>
          </a:xfrm>
          <a:prstGeom prst="triangle">
            <a:avLst/>
          </a:prstGeom>
          <a:solidFill>
            <a:srgbClr val="1067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6" name="TextBox 195"/>
          <p:cNvSpPr txBox="1"/>
          <p:nvPr/>
        </p:nvSpPr>
        <p:spPr>
          <a:xfrm>
            <a:off x="3749039" y="4181818"/>
            <a:ext cx="1058047" cy="323165"/>
          </a:xfrm>
          <a:prstGeom prst="rect">
            <a:avLst/>
          </a:prstGeom>
          <a:noFill/>
        </p:spPr>
        <p:txBody>
          <a:bodyPr wrap="none" lIns="91440" tIns="45720" rIns="91440" bIns="45720" anchor="ctr">
            <a:spAutoFit/>
          </a:bodyPr>
          <a:lstStyle/>
          <a:p>
            <a:r>
              <a:rPr lang="en-US" sz="1500" b="1">
                <a:solidFill>
                  <a:srgbClr val="08306F"/>
                </a:solidFill>
                <a:ea typeface="+mn-lt"/>
                <a:cs typeface="+mn-lt"/>
              </a:rPr>
              <a:t>Y Pak </a:t>
            </a:r>
            <a:r>
              <a:rPr lang="en-US" sz="1500" b="1" err="1">
                <a:solidFill>
                  <a:srgbClr val="08306F"/>
                </a:solidFill>
                <a:ea typeface="+mn-lt"/>
                <a:cs typeface="+mn-lt"/>
              </a:rPr>
              <a:t>Ayŭn</a:t>
            </a:r>
            <a:endParaRPr lang="en-US" b="1" err="1">
              <a:ea typeface="Calibri"/>
              <a:cs typeface="Calibri"/>
            </a:endParaRPr>
          </a:p>
        </p:txBody>
      </p:sp>
      <p:sp>
        <p:nvSpPr>
          <p:cNvPr id="197" name="TextBox 196"/>
          <p:cNvSpPr txBox="1"/>
          <p:nvPr/>
        </p:nvSpPr>
        <p:spPr>
          <a:xfrm>
            <a:off x="3749039" y="4526280"/>
            <a:ext cx="2103120" cy="228600"/>
          </a:xfrm>
          <a:prstGeom prst="rect">
            <a:avLst/>
          </a:prstGeom>
          <a:noFill/>
        </p:spPr>
        <p:txBody>
          <a:bodyPr wrap="none" anchor="ctr">
            <a:spAutoFit/>
          </a:bodyPr>
          <a:lstStyle/>
          <a:p>
            <a:pPr algn="l"/>
            <a:r>
              <a:rPr sz="1100" b="0">
                <a:solidFill>
                  <a:srgbClr val="5F5F5F"/>
                </a:solidFill>
                <a:latin typeface="Arial"/>
              </a:rPr>
              <a:t>Thành viên</a:t>
            </a:r>
          </a:p>
        </p:txBody>
      </p:sp>
      <p:cxnSp>
        <p:nvCxnSpPr>
          <p:cNvPr id="198" name="Connector 197"/>
          <p:cNvCxnSpPr/>
          <p:nvPr/>
        </p:nvCxnSpPr>
        <p:spPr>
          <a:xfrm>
            <a:off x="5961888" y="4251960"/>
            <a:ext cx="0" cy="530352"/>
          </a:xfrm>
          <a:prstGeom prst="line">
            <a:avLst/>
          </a:prstGeom>
          <a:ln w="15240">
            <a:solidFill>
              <a:srgbClr val="1067D2"/>
            </a:solidFill>
          </a:ln>
        </p:spPr>
        <p:style>
          <a:lnRef idx="2">
            <a:schemeClr val="accent1"/>
          </a:lnRef>
          <a:fillRef idx="0">
            <a:schemeClr val="accent1"/>
          </a:fillRef>
          <a:effectRef idx="1">
            <a:schemeClr val="accent1"/>
          </a:effectRef>
          <a:fontRef idx="minor">
            <a:schemeClr val="tx1"/>
          </a:fontRef>
        </p:style>
      </p:cxnSp>
      <p:sp>
        <p:nvSpPr>
          <p:cNvPr id="199" name="Rounded Rectangle 198"/>
          <p:cNvSpPr/>
          <p:nvPr/>
        </p:nvSpPr>
        <p:spPr>
          <a:xfrm>
            <a:off x="6217920" y="4151376"/>
            <a:ext cx="4114800" cy="841248"/>
          </a:xfrm>
          <a:prstGeom prst="roundRect">
            <a:avLst/>
          </a:prstGeom>
          <a:solidFill>
            <a:srgbClr val="EFF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 name="Rounded Rectangle 199"/>
          <p:cNvSpPr/>
          <p:nvPr/>
        </p:nvSpPr>
        <p:spPr>
          <a:xfrm>
            <a:off x="6172200" y="4096512"/>
            <a:ext cx="685800" cy="841248"/>
          </a:xfrm>
          <a:prstGeom prst="roundRect">
            <a:avLst/>
          </a:prstGeom>
          <a:solidFill>
            <a:srgbClr val="1067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1" name="TextBox 200"/>
          <p:cNvSpPr txBox="1"/>
          <p:nvPr/>
        </p:nvSpPr>
        <p:spPr>
          <a:xfrm>
            <a:off x="6087573" y="4307989"/>
            <a:ext cx="566928" cy="384048"/>
          </a:xfrm>
          <a:prstGeom prst="rect">
            <a:avLst/>
          </a:prstGeom>
          <a:noFill/>
        </p:spPr>
        <p:txBody>
          <a:bodyPr wrap="none" anchor="ctr">
            <a:spAutoFit/>
          </a:bodyPr>
          <a:lstStyle/>
          <a:p>
            <a:pPr algn="ctr"/>
            <a:r>
              <a:rPr sz="1800" b="1">
                <a:solidFill>
                  <a:srgbClr val="FFFFFF"/>
                </a:solidFill>
                <a:latin typeface="Arial"/>
              </a:rPr>
              <a:t>06</a:t>
            </a:r>
          </a:p>
        </p:txBody>
      </p:sp>
      <p:sp>
        <p:nvSpPr>
          <p:cNvPr id="202" name="Rounded Rectangle 201"/>
          <p:cNvSpPr/>
          <p:nvPr/>
        </p:nvSpPr>
        <p:spPr>
          <a:xfrm>
            <a:off x="6675120" y="4096512"/>
            <a:ext cx="3611880" cy="841248"/>
          </a:xfrm>
          <a:prstGeom prst="roundRect">
            <a:avLst/>
          </a:prstGeom>
          <a:solidFill>
            <a:srgbClr val="FFFFFF"/>
          </a:solidFill>
          <a:ln w="7620">
            <a:solidFill>
              <a:srgbClr val="E1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3" name="Oval 202"/>
          <p:cNvSpPr/>
          <p:nvPr/>
        </p:nvSpPr>
        <p:spPr>
          <a:xfrm>
            <a:off x="7059168" y="4187952"/>
            <a:ext cx="658368" cy="658368"/>
          </a:xfrm>
          <a:prstGeom prst="ellipse">
            <a:avLst/>
          </a:prstGeom>
          <a:solidFill>
            <a:srgbClr val="FFFFFF"/>
          </a:solidFill>
          <a:ln w="16510">
            <a:solidFill>
              <a:srgbClr val="10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4" name="Oval 203"/>
          <p:cNvSpPr/>
          <p:nvPr/>
        </p:nvSpPr>
        <p:spPr>
          <a:xfrm>
            <a:off x="7319772" y="4338828"/>
            <a:ext cx="137160" cy="137160"/>
          </a:xfrm>
          <a:prstGeom prst="ellipse">
            <a:avLst/>
          </a:prstGeom>
          <a:solidFill>
            <a:srgbClr val="1067D2"/>
          </a:solidFill>
          <a:ln w="3810">
            <a:solidFill>
              <a:srgbClr val="10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5" name="Isosceles Triangle 204"/>
          <p:cNvSpPr/>
          <p:nvPr/>
        </p:nvSpPr>
        <p:spPr>
          <a:xfrm>
            <a:off x="7269480" y="4507992"/>
            <a:ext cx="237744" cy="201168"/>
          </a:xfrm>
          <a:prstGeom prst="triangle">
            <a:avLst/>
          </a:prstGeom>
          <a:solidFill>
            <a:srgbClr val="1067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6" name="TextBox 205"/>
          <p:cNvSpPr txBox="1"/>
          <p:nvPr/>
        </p:nvSpPr>
        <p:spPr>
          <a:xfrm>
            <a:off x="8001000" y="4206240"/>
            <a:ext cx="2103120" cy="274320"/>
          </a:xfrm>
          <a:prstGeom prst="rect">
            <a:avLst/>
          </a:prstGeom>
          <a:noFill/>
        </p:spPr>
        <p:txBody>
          <a:bodyPr wrap="none" anchor="ctr">
            <a:spAutoFit/>
          </a:bodyPr>
          <a:lstStyle/>
          <a:p>
            <a:pPr algn="l"/>
            <a:r>
              <a:rPr sz="1500" b="1">
                <a:solidFill>
                  <a:srgbClr val="08306F"/>
                </a:solidFill>
                <a:latin typeface="Arial"/>
              </a:rPr>
              <a:t>Quách Đức Thành</a:t>
            </a:r>
          </a:p>
        </p:txBody>
      </p:sp>
      <p:sp>
        <p:nvSpPr>
          <p:cNvPr id="207" name="TextBox 206"/>
          <p:cNvSpPr txBox="1"/>
          <p:nvPr/>
        </p:nvSpPr>
        <p:spPr>
          <a:xfrm>
            <a:off x="8001000" y="4526280"/>
            <a:ext cx="2103120" cy="228600"/>
          </a:xfrm>
          <a:prstGeom prst="rect">
            <a:avLst/>
          </a:prstGeom>
          <a:noFill/>
        </p:spPr>
        <p:txBody>
          <a:bodyPr wrap="none" anchor="ctr">
            <a:spAutoFit/>
          </a:bodyPr>
          <a:lstStyle/>
          <a:p>
            <a:pPr algn="l"/>
            <a:r>
              <a:rPr sz="1100" b="0">
                <a:solidFill>
                  <a:srgbClr val="5F5F5F"/>
                </a:solidFill>
                <a:latin typeface="Arial"/>
              </a:rPr>
              <a:t>Thành viên</a:t>
            </a:r>
          </a:p>
        </p:txBody>
      </p:sp>
      <p:cxnSp>
        <p:nvCxnSpPr>
          <p:cNvPr id="208" name="Connector 207"/>
          <p:cNvCxnSpPr/>
          <p:nvPr/>
        </p:nvCxnSpPr>
        <p:spPr>
          <a:xfrm>
            <a:off x="10213848" y="4251960"/>
            <a:ext cx="0" cy="530352"/>
          </a:xfrm>
          <a:prstGeom prst="line">
            <a:avLst/>
          </a:prstGeom>
          <a:ln w="15240">
            <a:solidFill>
              <a:srgbClr val="1067D2"/>
            </a:solidFill>
          </a:ln>
        </p:spPr>
        <p:style>
          <a:lnRef idx="2">
            <a:schemeClr val="accent1"/>
          </a:lnRef>
          <a:fillRef idx="0">
            <a:schemeClr val="accent1"/>
          </a:fillRef>
          <a:effectRef idx="1">
            <a:schemeClr val="accent1"/>
          </a:effectRef>
          <a:fontRef idx="minor">
            <a:schemeClr val="tx1"/>
          </a:fontRef>
        </p:style>
      </p:cxnSp>
      <p:sp>
        <p:nvSpPr>
          <p:cNvPr id="209" name="Rounded Rectangle 208"/>
          <p:cNvSpPr/>
          <p:nvPr/>
        </p:nvSpPr>
        <p:spPr>
          <a:xfrm>
            <a:off x="4087368" y="5285231"/>
            <a:ext cx="4114800" cy="841248"/>
          </a:xfrm>
          <a:prstGeom prst="roundRect">
            <a:avLst/>
          </a:prstGeom>
          <a:solidFill>
            <a:srgbClr val="EFF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0" name="Rounded Rectangle 209"/>
          <p:cNvSpPr/>
          <p:nvPr/>
        </p:nvSpPr>
        <p:spPr>
          <a:xfrm>
            <a:off x="4041648" y="5230368"/>
            <a:ext cx="685800" cy="841248"/>
          </a:xfrm>
          <a:prstGeom prst="roundRect">
            <a:avLst/>
          </a:prstGeom>
          <a:solidFill>
            <a:srgbClr val="1067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1" name="TextBox 210"/>
          <p:cNvSpPr txBox="1"/>
          <p:nvPr/>
        </p:nvSpPr>
        <p:spPr>
          <a:xfrm>
            <a:off x="3945815" y="5475463"/>
            <a:ext cx="566928" cy="384048"/>
          </a:xfrm>
          <a:prstGeom prst="rect">
            <a:avLst/>
          </a:prstGeom>
          <a:noFill/>
        </p:spPr>
        <p:txBody>
          <a:bodyPr wrap="none" anchor="ctr">
            <a:spAutoFit/>
          </a:bodyPr>
          <a:lstStyle/>
          <a:p>
            <a:pPr algn="ctr"/>
            <a:r>
              <a:rPr sz="1800" b="1">
                <a:solidFill>
                  <a:srgbClr val="FFFFFF"/>
                </a:solidFill>
                <a:latin typeface="Arial"/>
              </a:rPr>
              <a:t>07</a:t>
            </a:r>
          </a:p>
        </p:txBody>
      </p:sp>
      <p:sp>
        <p:nvSpPr>
          <p:cNvPr id="212" name="Rounded Rectangle 211"/>
          <p:cNvSpPr/>
          <p:nvPr/>
        </p:nvSpPr>
        <p:spPr>
          <a:xfrm>
            <a:off x="4544568" y="5230368"/>
            <a:ext cx="3611880" cy="841248"/>
          </a:xfrm>
          <a:prstGeom prst="roundRect">
            <a:avLst/>
          </a:prstGeom>
          <a:solidFill>
            <a:srgbClr val="FFFFFF"/>
          </a:solidFill>
          <a:ln w="7620">
            <a:solidFill>
              <a:srgbClr val="E1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3" name="Oval 212"/>
          <p:cNvSpPr/>
          <p:nvPr/>
        </p:nvSpPr>
        <p:spPr>
          <a:xfrm>
            <a:off x="4928616" y="5321807"/>
            <a:ext cx="658368" cy="658368"/>
          </a:xfrm>
          <a:prstGeom prst="ellipse">
            <a:avLst/>
          </a:prstGeom>
          <a:solidFill>
            <a:srgbClr val="FFFFFF"/>
          </a:solidFill>
          <a:ln w="16510">
            <a:solidFill>
              <a:srgbClr val="10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4" name="Oval 213"/>
          <p:cNvSpPr/>
          <p:nvPr/>
        </p:nvSpPr>
        <p:spPr>
          <a:xfrm>
            <a:off x="5189220" y="5472683"/>
            <a:ext cx="137160" cy="137160"/>
          </a:xfrm>
          <a:prstGeom prst="ellipse">
            <a:avLst/>
          </a:prstGeom>
          <a:solidFill>
            <a:srgbClr val="1067D2"/>
          </a:solidFill>
          <a:ln w="3810">
            <a:solidFill>
              <a:srgbClr val="10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5" name="Isosceles Triangle 214"/>
          <p:cNvSpPr/>
          <p:nvPr/>
        </p:nvSpPr>
        <p:spPr>
          <a:xfrm>
            <a:off x="5138928" y="5641848"/>
            <a:ext cx="237744" cy="201168"/>
          </a:xfrm>
          <a:prstGeom prst="triangle">
            <a:avLst/>
          </a:prstGeom>
          <a:solidFill>
            <a:srgbClr val="1067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6" name="TextBox 215"/>
          <p:cNvSpPr txBox="1"/>
          <p:nvPr/>
        </p:nvSpPr>
        <p:spPr>
          <a:xfrm>
            <a:off x="5870448" y="5340096"/>
            <a:ext cx="2103120" cy="274320"/>
          </a:xfrm>
          <a:prstGeom prst="rect">
            <a:avLst/>
          </a:prstGeom>
          <a:noFill/>
        </p:spPr>
        <p:txBody>
          <a:bodyPr wrap="none" anchor="ctr">
            <a:spAutoFit/>
          </a:bodyPr>
          <a:lstStyle/>
          <a:p>
            <a:pPr algn="l"/>
            <a:r>
              <a:rPr sz="1500" b="1">
                <a:solidFill>
                  <a:srgbClr val="08306F"/>
                </a:solidFill>
                <a:latin typeface="Arial"/>
              </a:rPr>
              <a:t>Y Đăng Niê</a:t>
            </a:r>
          </a:p>
        </p:txBody>
      </p:sp>
      <p:sp>
        <p:nvSpPr>
          <p:cNvPr id="217" name="TextBox 216"/>
          <p:cNvSpPr txBox="1"/>
          <p:nvPr/>
        </p:nvSpPr>
        <p:spPr>
          <a:xfrm>
            <a:off x="5870448" y="5660136"/>
            <a:ext cx="2103120" cy="228600"/>
          </a:xfrm>
          <a:prstGeom prst="rect">
            <a:avLst/>
          </a:prstGeom>
          <a:noFill/>
        </p:spPr>
        <p:txBody>
          <a:bodyPr wrap="none" anchor="ctr">
            <a:spAutoFit/>
          </a:bodyPr>
          <a:lstStyle/>
          <a:p>
            <a:pPr algn="l"/>
            <a:r>
              <a:rPr sz="1100" b="0">
                <a:solidFill>
                  <a:srgbClr val="5F5F5F"/>
                </a:solidFill>
                <a:latin typeface="Arial"/>
              </a:rPr>
              <a:t>Thành viên</a:t>
            </a:r>
          </a:p>
        </p:txBody>
      </p:sp>
      <p:cxnSp>
        <p:nvCxnSpPr>
          <p:cNvPr id="218" name="Connector 217"/>
          <p:cNvCxnSpPr/>
          <p:nvPr/>
        </p:nvCxnSpPr>
        <p:spPr>
          <a:xfrm>
            <a:off x="8083296" y="5385816"/>
            <a:ext cx="0" cy="530352"/>
          </a:xfrm>
          <a:prstGeom prst="line">
            <a:avLst/>
          </a:prstGeom>
          <a:ln w="15240">
            <a:solidFill>
              <a:srgbClr val="1067D2"/>
            </a:solidFill>
          </a:ln>
        </p:spPr>
        <p:style>
          <a:lnRef idx="2">
            <a:schemeClr val="accent1"/>
          </a:lnRef>
          <a:fillRef idx="0">
            <a:schemeClr val="accent1"/>
          </a:fillRef>
          <a:effectRef idx="1">
            <a:schemeClr val="accent1"/>
          </a:effectRef>
          <a:fontRef idx="minor">
            <a:schemeClr val="tx1"/>
          </a:fontRef>
        </p:style>
      </p:cxnSp>
      <p:sp>
        <p:nvSpPr>
          <p:cNvPr id="219" name="Rectangle 218"/>
          <p:cNvSpPr/>
          <p:nvPr/>
        </p:nvSpPr>
        <p:spPr>
          <a:xfrm>
            <a:off x="0" y="6473952"/>
            <a:ext cx="12191999" cy="384048"/>
          </a:xfrm>
          <a:prstGeom prst="rect">
            <a:avLst/>
          </a:prstGeom>
          <a:solidFill>
            <a:srgbClr val="0C45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0" name="Rectangle 219"/>
          <p:cNvSpPr/>
          <p:nvPr/>
        </p:nvSpPr>
        <p:spPr>
          <a:xfrm>
            <a:off x="0" y="6309360"/>
            <a:ext cx="12191999" cy="201168"/>
          </a:xfrm>
          <a:prstGeom prst="rect">
            <a:avLst/>
          </a:prstGeom>
          <a:solidFill>
            <a:srgbClr val="125C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1" name="Oval 220"/>
          <p:cNvSpPr/>
          <p:nvPr/>
        </p:nvSpPr>
        <p:spPr>
          <a:xfrm>
            <a:off x="594359" y="5623560"/>
            <a:ext cx="914400" cy="914400"/>
          </a:xfrm>
          <a:prstGeom prst="ellipse">
            <a:avLst/>
          </a:prstGeom>
          <a:solidFill>
            <a:srgbClr val="FFFFFF"/>
          </a:solidFill>
          <a:ln w="12700">
            <a:solidFill>
              <a:srgbClr val="5FA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2" name="Oval 221"/>
          <p:cNvSpPr/>
          <p:nvPr/>
        </p:nvSpPr>
        <p:spPr>
          <a:xfrm>
            <a:off x="740663" y="5769864"/>
            <a:ext cx="621792" cy="621792"/>
          </a:xfrm>
          <a:prstGeom prst="ellipse">
            <a:avLst/>
          </a:prstGeom>
          <a:solidFill>
            <a:srgbClr val="DEEFFF"/>
          </a:solidFill>
          <a:ln w="12700">
            <a:solidFill>
              <a:srgbClr val="5FA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3" name="Oval 222"/>
          <p:cNvSpPr/>
          <p:nvPr/>
        </p:nvSpPr>
        <p:spPr>
          <a:xfrm>
            <a:off x="868680" y="5897880"/>
            <a:ext cx="365760" cy="365760"/>
          </a:xfrm>
          <a:prstGeom prst="ellipse">
            <a:avLst/>
          </a:prstGeom>
          <a:solidFill>
            <a:srgbClr val="1067D2"/>
          </a:solidFill>
          <a:ln w="5080">
            <a:solidFill>
              <a:srgbClr val="10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4" name="Oval 223"/>
          <p:cNvSpPr/>
          <p:nvPr/>
        </p:nvSpPr>
        <p:spPr>
          <a:xfrm>
            <a:off x="960119" y="5989320"/>
            <a:ext cx="182880" cy="182880"/>
          </a:xfrm>
          <a:prstGeom prst="ellipse">
            <a:avLst/>
          </a:prstGeom>
          <a:solidFill>
            <a:srgbClr val="FFFFFF"/>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25" name="Connector 224"/>
          <p:cNvCxnSpPr/>
          <p:nvPr/>
        </p:nvCxnSpPr>
        <p:spPr>
          <a:xfrm>
            <a:off x="1481328" y="6080760"/>
            <a:ext cx="850392" cy="301752"/>
          </a:xfrm>
          <a:prstGeom prst="line">
            <a:avLst/>
          </a:prstGeom>
          <a:ln w="12700">
            <a:solidFill>
              <a:srgbClr val="6EAAEB"/>
            </a:solidFill>
          </a:ln>
        </p:spPr>
        <p:style>
          <a:lnRef idx="2">
            <a:schemeClr val="accent1"/>
          </a:lnRef>
          <a:fillRef idx="0">
            <a:schemeClr val="accent1"/>
          </a:fillRef>
          <a:effectRef idx="1">
            <a:schemeClr val="accent1"/>
          </a:effectRef>
          <a:fontRef idx="minor">
            <a:schemeClr val="tx1"/>
          </a:fontRef>
        </p:style>
      </p:cxnSp>
      <p:sp>
        <p:nvSpPr>
          <p:cNvPr id="226" name="Oval 225"/>
          <p:cNvSpPr/>
          <p:nvPr/>
        </p:nvSpPr>
        <p:spPr>
          <a:xfrm>
            <a:off x="2359152" y="6345936"/>
            <a:ext cx="128016" cy="128016"/>
          </a:xfrm>
          <a:prstGeom prst="ellipse">
            <a:avLst/>
          </a:prstGeom>
          <a:solidFill>
            <a:srgbClr val="1067D2"/>
          </a:solidFill>
          <a:ln w="5080">
            <a:solidFill>
              <a:srgbClr val="10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27" name="Picture 226" descr="A black background with orange and blue text&#10;&#10;Description automatically generated">
            <a:extLst>
              <a:ext uri="{FF2B5EF4-FFF2-40B4-BE49-F238E27FC236}">
                <a16:creationId xmlns:a16="http://schemas.microsoft.com/office/drawing/2014/main" id="{13BD1C05-A4F5-F43E-1B9E-CB141A8DC27E}"/>
              </a:ext>
            </a:extLst>
          </p:cNvPr>
          <p:cNvPicPr>
            <a:picLocks noChangeAspect="1"/>
          </p:cNvPicPr>
          <p:nvPr/>
        </p:nvPicPr>
        <p:blipFill>
          <a:blip r:embed="rId2"/>
          <a:stretch>
            <a:fillRect/>
          </a:stretch>
        </p:blipFill>
        <p:spPr>
          <a:xfrm>
            <a:off x="10777306" y="-88712"/>
            <a:ext cx="1164758" cy="1164758"/>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393192" y="438912"/>
            <a:ext cx="219456" cy="219456"/>
          </a:xfrm>
          <a:prstGeom prst="ellipse">
            <a:avLst/>
          </a:prstGeom>
          <a:solidFill>
            <a:srgbClr val="FFFFFF"/>
          </a:solidFill>
          <a:ln w="15240">
            <a:solidFill>
              <a:srgbClr val="2184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452628" y="498347"/>
            <a:ext cx="100584" cy="100584"/>
          </a:xfrm>
          <a:prstGeom prst="ellipse">
            <a:avLst/>
          </a:prstGeom>
          <a:solidFill>
            <a:srgbClr val="69BEF2"/>
          </a:solidFill>
          <a:ln w="2540">
            <a:solidFill>
              <a:srgbClr val="69BE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 name="Connector 3"/>
          <p:cNvCxnSpPr/>
          <p:nvPr/>
        </p:nvCxnSpPr>
        <p:spPr>
          <a:xfrm>
            <a:off x="612648" y="548640"/>
            <a:ext cx="713232" cy="164592"/>
          </a:xfrm>
          <a:prstGeom prst="line">
            <a:avLst/>
          </a:prstGeom>
          <a:ln w="12700">
            <a:solidFill>
              <a:srgbClr val="87B4E1"/>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1367028" y="681228"/>
            <a:ext cx="100584" cy="100584"/>
          </a:xfrm>
          <a:prstGeom prst="ellipse">
            <a:avLst/>
          </a:prstGeom>
          <a:solidFill>
            <a:srgbClr val="2184DC"/>
          </a:solidFill>
          <a:ln w="2540">
            <a:solidFill>
              <a:srgbClr val="2184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1384280" y="502920"/>
            <a:ext cx="182880" cy="182880"/>
          </a:xfrm>
          <a:prstGeom prst="ellipse">
            <a:avLst/>
          </a:prstGeom>
          <a:solidFill>
            <a:srgbClr val="DEF2FF"/>
          </a:solidFill>
          <a:ln w="10160">
            <a:solidFill>
              <a:srgbClr val="0A306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 name="Connector 6"/>
          <p:cNvCxnSpPr/>
          <p:nvPr/>
        </p:nvCxnSpPr>
        <p:spPr>
          <a:xfrm>
            <a:off x="11475720" y="685800"/>
            <a:ext cx="0" cy="548640"/>
          </a:xfrm>
          <a:prstGeom prst="line">
            <a:avLst/>
          </a:prstGeom>
          <a:ln w="12700">
            <a:solidFill>
              <a:srgbClr val="82A5CD"/>
            </a:solidFill>
          </a:ln>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11228832" y="1124712"/>
            <a:ext cx="493776" cy="493776"/>
          </a:xfrm>
          <a:prstGeom prst="ellipse">
            <a:avLst/>
          </a:prstGeom>
          <a:solidFill>
            <a:srgbClr val="FFFFFF"/>
          </a:solidFill>
          <a:ln w="12700">
            <a:solidFill>
              <a:srgbClr val="0A306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1338560" y="1234440"/>
            <a:ext cx="274320" cy="274320"/>
          </a:xfrm>
          <a:prstGeom prst="ellipse">
            <a:avLst/>
          </a:prstGeom>
          <a:solidFill>
            <a:srgbClr val="69BEF2"/>
          </a:solidFill>
          <a:ln w="8890">
            <a:solidFill>
              <a:srgbClr val="2184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77240" y="1417320"/>
            <a:ext cx="1097280" cy="457200"/>
          </a:xfrm>
          <a:prstGeom prst="rect">
            <a:avLst/>
          </a:prstGeom>
          <a:noFill/>
        </p:spPr>
        <p:txBody>
          <a:bodyPr wrap="none" anchor="ctr">
            <a:spAutoFit/>
          </a:bodyPr>
          <a:lstStyle/>
          <a:p>
            <a:pPr algn="l"/>
            <a:r>
              <a:rPr sz="3400" b="1">
                <a:solidFill>
                  <a:srgbClr val="2184DC"/>
                </a:solidFill>
                <a:latin typeface="Arial"/>
              </a:rPr>
              <a:t>01</a:t>
            </a:r>
          </a:p>
        </p:txBody>
      </p:sp>
      <p:sp>
        <p:nvSpPr>
          <p:cNvPr id="11" name="Rectangle 10"/>
          <p:cNvSpPr/>
          <p:nvPr/>
        </p:nvSpPr>
        <p:spPr>
          <a:xfrm>
            <a:off x="804672" y="1947672"/>
            <a:ext cx="685800" cy="50292"/>
          </a:xfrm>
          <a:prstGeom prst="rect">
            <a:avLst/>
          </a:prstGeom>
          <a:solidFill>
            <a:srgbClr val="2184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77240" y="2103120"/>
            <a:ext cx="2377440" cy="310896"/>
          </a:xfrm>
          <a:prstGeom prst="rect">
            <a:avLst/>
          </a:prstGeom>
          <a:noFill/>
        </p:spPr>
        <p:txBody>
          <a:bodyPr wrap="none" anchor="ctr">
            <a:spAutoFit/>
          </a:bodyPr>
          <a:lstStyle/>
          <a:p>
            <a:pPr algn="l"/>
            <a:r>
              <a:rPr sz="1200" b="1">
                <a:solidFill>
                  <a:srgbClr val="0A3069"/>
                </a:solidFill>
                <a:latin typeface="Arial"/>
              </a:rPr>
              <a:t>GIỚI THIỆU DỰ ÁN</a:t>
            </a:r>
          </a:p>
        </p:txBody>
      </p:sp>
      <p:sp>
        <p:nvSpPr>
          <p:cNvPr id="13" name="TextBox 12"/>
          <p:cNvSpPr txBox="1"/>
          <p:nvPr/>
        </p:nvSpPr>
        <p:spPr>
          <a:xfrm>
            <a:off x="3246120" y="1325880"/>
            <a:ext cx="6858000" cy="658368"/>
          </a:xfrm>
          <a:prstGeom prst="rect">
            <a:avLst/>
          </a:prstGeom>
          <a:noFill/>
        </p:spPr>
        <p:txBody>
          <a:bodyPr wrap="none" anchor="ctr">
            <a:spAutoFit/>
          </a:bodyPr>
          <a:lstStyle/>
          <a:p>
            <a:pPr algn="l"/>
            <a:r>
              <a:rPr sz="3000" b="1">
                <a:solidFill>
                  <a:srgbClr val="0A3069"/>
                </a:solidFill>
                <a:latin typeface="Arial"/>
              </a:rPr>
              <a:t>Giới thiệu dự án</a:t>
            </a:r>
          </a:p>
        </p:txBody>
      </p:sp>
      <p:sp>
        <p:nvSpPr>
          <p:cNvPr id="14" name="TextBox 13"/>
          <p:cNvSpPr txBox="1"/>
          <p:nvPr/>
        </p:nvSpPr>
        <p:spPr>
          <a:xfrm>
            <a:off x="3273552" y="2011680"/>
            <a:ext cx="7040880" cy="475488"/>
          </a:xfrm>
          <a:prstGeom prst="rect">
            <a:avLst/>
          </a:prstGeom>
          <a:noFill/>
        </p:spPr>
        <p:txBody>
          <a:bodyPr wrap="none" anchor="ctr">
            <a:spAutoFit/>
          </a:bodyPr>
          <a:lstStyle/>
          <a:p>
            <a:pPr algn="l"/>
            <a:r>
              <a:rPr sz="1600" b="0">
                <a:solidFill>
                  <a:srgbClr val="626C78"/>
                </a:solidFill>
                <a:latin typeface="Arial"/>
              </a:rPr>
              <a:t>Tổng quan về website bán laptop &amp; phụ kiện</a:t>
            </a:r>
          </a:p>
        </p:txBody>
      </p:sp>
      <p:sp>
        <p:nvSpPr>
          <p:cNvPr id="15" name="Rounded Rectangle 14"/>
          <p:cNvSpPr/>
          <p:nvPr/>
        </p:nvSpPr>
        <p:spPr>
          <a:xfrm>
            <a:off x="3246120" y="2788920"/>
            <a:ext cx="7178040" cy="2331720"/>
          </a:xfrm>
          <a:prstGeom prst="roundRect">
            <a:avLst/>
          </a:prstGeom>
          <a:solidFill>
            <a:srgbClr val="F7FBFF"/>
          </a:solidFill>
          <a:ln>
            <a:solidFill>
              <a:srgbClr val="DCE8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3246120" y="2788920"/>
            <a:ext cx="82296" cy="2331720"/>
          </a:xfrm>
          <a:prstGeom prst="roundRect">
            <a:avLst/>
          </a:prstGeom>
          <a:solidFill>
            <a:srgbClr val="2184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584448" y="3054096"/>
            <a:ext cx="1828800" cy="256032"/>
          </a:xfrm>
          <a:prstGeom prst="rect">
            <a:avLst/>
          </a:prstGeom>
          <a:noFill/>
        </p:spPr>
        <p:txBody>
          <a:bodyPr wrap="none" anchor="ctr">
            <a:spAutoFit/>
          </a:bodyPr>
          <a:lstStyle/>
          <a:p>
            <a:pPr algn="l"/>
            <a:r>
              <a:rPr sz="1000" b="1">
                <a:solidFill>
                  <a:srgbClr val="2184DC"/>
                </a:solidFill>
                <a:latin typeface="Arial"/>
              </a:rPr>
              <a:t>MỤC TIÊU</a:t>
            </a:r>
          </a:p>
        </p:txBody>
      </p:sp>
      <p:sp>
        <p:nvSpPr>
          <p:cNvPr id="18" name="TextBox 17"/>
          <p:cNvSpPr txBox="1"/>
          <p:nvPr/>
        </p:nvSpPr>
        <p:spPr>
          <a:xfrm>
            <a:off x="3584448" y="3430893"/>
            <a:ext cx="6660798" cy="553998"/>
          </a:xfrm>
          <a:prstGeom prst="rect">
            <a:avLst/>
          </a:prstGeom>
          <a:noFill/>
        </p:spPr>
        <p:txBody>
          <a:bodyPr wrap="none" anchor="ctr">
            <a:spAutoFit/>
          </a:bodyPr>
          <a:lstStyle/>
          <a:p>
            <a:pPr algn="l"/>
            <a:r>
              <a:rPr sz="1500" b="1" err="1">
                <a:solidFill>
                  <a:srgbClr val="0A3069"/>
                </a:solidFill>
                <a:latin typeface="Arial"/>
              </a:rPr>
              <a:t>Xây</a:t>
            </a:r>
            <a:r>
              <a:rPr sz="1500" b="1">
                <a:solidFill>
                  <a:srgbClr val="0A3069"/>
                </a:solidFill>
                <a:latin typeface="Arial"/>
              </a:rPr>
              <a:t> </a:t>
            </a:r>
            <a:r>
              <a:rPr sz="1500" b="1" err="1">
                <a:solidFill>
                  <a:srgbClr val="0A3069"/>
                </a:solidFill>
                <a:latin typeface="Arial"/>
              </a:rPr>
              <a:t>dựng</a:t>
            </a:r>
            <a:r>
              <a:rPr sz="1500" b="1">
                <a:solidFill>
                  <a:srgbClr val="0A3069"/>
                </a:solidFill>
                <a:latin typeface="Arial"/>
              </a:rPr>
              <a:t> website </a:t>
            </a:r>
            <a:r>
              <a:rPr sz="1500" b="1" err="1">
                <a:solidFill>
                  <a:srgbClr val="0A3069"/>
                </a:solidFill>
                <a:latin typeface="Arial"/>
              </a:rPr>
              <a:t>hỗ</a:t>
            </a:r>
            <a:r>
              <a:rPr sz="1500" b="1">
                <a:solidFill>
                  <a:srgbClr val="0A3069"/>
                </a:solidFill>
                <a:latin typeface="Arial"/>
              </a:rPr>
              <a:t> </a:t>
            </a:r>
            <a:r>
              <a:rPr sz="1500" b="1" err="1">
                <a:solidFill>
                  <a:srgbClr val="0A3069"/>
                </a:solidFill>
                <a:latin typeface="Arial"/>
              </a:rPr>
              <a:t>trợ</a:t>
            </a:r>
            <a:r>
              <a:rPr sz="1500" b="1">
                <a:solidFill>
                  <a:srgbClr val="0A3069"/>
                </a:solidFill>
                <a:latin typeface="Arial"/>
              </a:rPr>
              <a:t> </a:t>
            </a:r>
            <a:r>
              <a:rPr sz="1500" b="1" err="1">
                <a:solidFill>
                  <a:srgbClr val="0A3069"/>
                </a:solidFill>
                <a:latin typeface="Arial"/>
              </a:rPr>
              <a:t>khách</a:t>
            </a:r>
            <a:r>
              <a:rPr sz="1500" b="1">
                <a:solidFill>
                  <a:srgbClr val="0A3069"/>
                </a:solidFill>
                <a:latin typeface="Arial"/>
              </a:rPr>
              <a:t> </a:t>
            </a:r>
            <a:r>
              <a:rPr sz="1500" b="1" err="1">
                <a:solidFill>
                  <a:srgbClr val="0A3069"/>
                </a:solidFill>
                <a:latin typeface="Arial"/>
              </a:rPr>
              <a:t>hàng</a:t>
            </a:r>
            <a:r>
              <a:rPr sz="1500" b="1">
                <a:solidFill>
                  <a:srgbClr val="0A3069"/>
                </a:solidFill>
                <a:latin typeface="Arial"/>
              </a:rPr>
              <a:t> </a:t>
            </a:r>
            <a:r>
              <a:rPr sz="1500" b="1" err="1">
                <a:solidFill>
                  <a:srgbClr val="0A3069"/>
                </a:solidFill>
                <a:latin typeface="Arial"/>
              </a:rPr>
              <a:t>tìm</a:t>
            </a:r>
            <a:r>
              <a:rPr sz="1500" b="1">
                <a:solidFill>
                  <a:srgbClr val="0A3069"/>
                </a:solidFill>
                <a:latin typeface="Arial"/>
              </a:rPr>
              <a:t> </a:t>
            </a:r>
            <a:r>
              <a:rPr sz="1500" b="1" err="1">
                <a:solidFill>
                  <a:srgbClr val="0A3069"/>
                </a:solidFill>
                <a:latin typeface="Arial"/>
              </a:rPr>
              <a:t>kiếm</a:t>
            </a:r>
            <a:r>
              <a:rPr sz="1500" b="1">
                <a:solidFill>
                  <a:srgbClr val="0A3069"/>
                </a:solidFill>
                <a:latin typeface="Arial"/>
              </a:rPr>
              <a:t>, </a:t>
            </a:r>
            <a:r>
              <a:rPr sz="1500" b="1" err="1">
                <a:solidFill>
                  <a:srgbClr val="0A3069"/>
                </a:solidFill>
                <a:latin typeface="Arial"/>
              </a:rPr>
              <a:t>lựa</a:t>
            </a:r>
            <a:r>
              <a:rPr sz="1500" b="1">
                <a:solidFill>
                  <a:srgbClr val="0A3069"/>
                </a:solidFill>
                <a:latin typeface="Arial"/>
              </a:rPr>
              <a:t> </a:t>
            </a:r>
            <a:r>
              <a:rPr sz="1500" b="1" err="1">
                <a:solidFill>
                  <a:srgbClr val="0A3069"/>
                </a:solidFill>
                <a:latin typeface="Arial"/>
              </a:rPr>
              <a:t>chọn</a:t>
            </a:r>
            <a:r>
              <a:rPr sz="1500" b="1">
                <a:solidFill>
                  <a:srgbClr val="0A3069"/>
                </a:solidFill>
                <a:latin typeface="Arial"/>
              </a:rPr>
              <a:t> </a:t>
            </a:r>
            <a:r>
              <a:rPr sz="1500" b="1" err="1">
                <a:solidFill>
                  <a:srgbClr val="0A3069"/>
                </a:solidFill>
                <a:latin typeface="Arial"/>
              </a:rPr>
              <a:t>và</a:t>
            </a:r>
            <a:r>
              <a:rPr sz="1500" b="1">
                <a:solidFill>
                  <a:srgbClr val="0A3069"/>
                </a:solidFill>
                <a:latin typeface="Arial"/>
              </a:rPr>
              <a:t> </a:t>
            </a:r>
            <a:r>
              <a:rPr sz="1500" b="1" err="1">
                <a:solidFill>
                  <a:srgbClr val="0A3069"/>
                </a:solidFill>
                <a:latin typeface="Arial"/>
              </a:rPr>
              <a:t>mua</a:t>
            </a:r>
            <a:r>
              <a:rPr sz="1500" b="1">
                <a:solidFill>
                  <a:srgbClr val="0A3069"/>
                </a:solidFill>
                <a:latin typeface="Arial"/>
              </a:rPr>
              <a:t> laptop</a:t>
            </a:r>
            <a:br>
              <a:rPr lang="en-US" sz="1500" b="1">
                <a:solidFill>
                  <a:srgbClr val="0A3069"/>
                </a:solidFill>
                <a:latin typeface="Arial"/>
              </a:rPr>
            </a:br>
            <a:r>
              <a:rPr sz="1500" b="1" err="1">
                <a:solidFill>
                  <a:srgbClr val="0A3069"/>
                </a:solidFill>
                <a:latin typeface="Arial"/>
              </a:rPr>
              <a:t>phụ</a:t>
            </a:r>
            <a:r>
              <a:rPr sz="1500" b="1">
                <a:solidFill>
                  <a:srgbClr val="0A3069"/>
                </a:solidFill>
                <a:latin typeface="Arial"/>
              </a:rPr>
              <a:t> </a:t>
            </a:r>
            <a:r>
              <a:rPr sz="1500" b="1" err="1">
                <a:solidFill>
                  <a:srgbClr val="0A3069"/>
                </a:solidFill>
                <a:latin typeface="Arial"/>
              </a:rPr>
              <a:t>kiện</a:t>
            </a:r>
            <a:r>
              <a:rPr sz="1500" b="1">
                <a:solidFill>
                  <a:srgbClr val="0A3069"/>
                </a:solidFill>
                <a:latin typeface="Arial"/>
              </a:rPr>
              <a:t> </a:t>
            </a:r>
            <a:r>
              <a:rPr sz="1500" b="1" err="1">
                <a:solidFill>
                  <a:srgbClr val="0A3069"/>
                </a:solidFill>
                <a:latin typeface="Arial"/>
              </a:rPr>
              <a:t>một</a:t>
            </a:r>
            <a:r>
              <a:rPr sz="1500" b="1">
                <a:solidFill>
                  <a:srgbClr val="0A3069"/>
                </a:solidFill>
                <a:latin typeface="Arial"/>
              </a:rPr>
              <a:t> </a:t>
            </a:r>
            <a:r>
              <a:rPr sz="1500" b="1" err="1">
                <a:solidFill>
                  <a:srgbClr val="0A3069"/>
                </a:solidFill>
                <a:latin typeface="Arial"/>
              </a:rPr>
              <a:t>cách</a:t>
            </a:r>
            <a:r>
              <a:rPr sz="1500" b="1">
                <a:solidFill>
                  <a:srgbClr val="0A3069"/>
                </a:solidFill>
                <a:latin typeface="Arial"/>
              </a:rPr>
              <a:t> </a:t>
            </a:r>
            <a:r>
              <a:rPr sz="1500" b="1" err="1">
                <a:solidFill>
                  <a:srgbClr val="0A3069"/>
                </a:solidFill>
                <a:latin typeface="Arial"/>
              </a:rPr>
              <a:t>thuận</a:t>
            </a:r>
            <a:r>
              <a:rPr sz="1500" b="1">
                <a:solidFill>
                  <a:srgbClr val="0A3069"/>
                </a:solidFill>
                <a:latin typeface="Arial"/>
              </a:rPr>
              <a:t> </a:t>
            </a:r>
            <a:r>
              <a:rPr sz="1500" b="1" err="1">
                <a:solidFill>
                  <a:srgbClr val="0A3069"/>
                </a:solidFill>
                <a:latin typeface="Arial"/>
              </a:rPr>
              <a:t>tiện</a:t>
            </a:r>
            <a:r>
              <a:rPr sz="1500" b="1">
                <a:solidFill>
                  <a:srgbClr val="0A3069"/>
                </a:solidFill>
                <a:latin typeface="Arial"/>
              </a:rPr>
              <a:t>.</a:t>
            </a:r>
          </a:p>
        </p:txBody>
      </p:sp>
      <p:sp>
        <p:nvSpPr>
          <p:cNvPr id="19" name="Rounded Rectangle 18"/>
          <p:cNvSpPr/>
          <p:nvPr/>
        </p:nvSpPr>
        <p:spPr>
          <a:xfrm>
            <a:off x="3584448" y="4315968"/>
            <a:ext cx="1783080" cy="502920"/>
          </a:xfrm>
          <a:prstGeom prst="roundRect">
            <a:avLst/>
          </a:prstGeom>
          <a:solidFill>
            <a:srgbClr val="FFFFFF"/>
          </a:solidFill>
          <a:ln>
            <a:solidFill>
              <a:srgbClr val="DCE8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3807872" y="4419801"/>
            <a:ext cx="237744" cy="237744"/>
          </a:xfrm>
          <a:prstGeom prst="ellipse">
            <a:avLst/>
          </a:prstGeom>
          <a:solidFill>
            <a:srgbClr val="DEF2FF"/>
          </a:solidFill>
          <a:ln w="10160">
            <a:solidFill>
              <a:srgbClr val="2184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840479" y="4434179"/>
            <a:ext cx="182880" cy="201168"/>
          </a:xfrm>
          <a:prstGeom prst="rect">
            <a:avLst/>
          </a:prstGeom>
          <a:noFill/>
        </p:spPr>
        <p:txBody>
          <a:bodyPr wrap="none" anchor="ctr">
            <a:spAutoFit/>
          </a:bodyPr>
          <a:lstStyle/>
          <a:p>
            <a:pPr algn="ctr"/>
            <a:r>
              <a:rPr sz="800" b="1">
                <a:solidFill>
                  <a:srgbClr val="2184DC"/>
                </a:solidFill>
                <a:latin typeface="Arial"/>
              </a:rPr>
              <a:t>01</a:t>
            </a:r>
          </a:p>
        </p:txBody>
      </p:sp>
      <p:sp>
        <p:nvSpPr>
          <p:cNvPr id="22" name="TextBox 21"/>
          <p:cNvSpPr txBox="1"/>
          <p:nvPr/>
        </p:nvSpPr>
        <p:spPr>
          <a:xfrm>
            <a:off x="4059935" y="4416552"/>
            <a:ext cx="1097280" cy="274320"/>
          </a:xfrm>
          <a:prstGeom prst="rect">
            <a:avLst/>
          </a:prstGeom>
          <a:noFill/>
        </p:spPr>
        <p:txBody>
          <a:bodyPr wrap="none" anchor="ctr">
            <a:spAutoFit/>
          </a:bodyPr>
          <a:lstStyle/>
          <a:p>
            <a:pPr algn="l"/>
            <a:r>
              <a:rPr sz="1000" b="1">
                <a:solidFill>
                  <a:srgbClr val="0A3069"/>
                </a:solidFill>
                <a:latin typeface="Arial"/>
              </a:rPr>
              <a:t>Dễ sử dụng</a:t>
            </a:r>
          </a:p>
        </p:txBody>
      </p:sp>
      <p:sp>
        <p:nvSpPr>
          <p:cNvPr id="23" name="Rounded Rectangle 22"/>
          <p:cNvSpPr/>
          <p:nvPr/>
        </p:nvSpPr>
        <p:spPr>
          <a:xfrm>
            <a:off x="5577840" y="4315968"/>
            <a:ext cx="1783080" cy="502920"/>
          </a:xfrm>
          <a:prstGeom prst="roundRect">
            <a:avLst/>
          </a:prstGeom>
          <a:solidFill>
            <a:srgbClr val="FFFFFF"/>
          </a:solidFill>
          <a:ln>
            <a:solidFill>
              <a:srgbClr val="DCE8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5815642" y="4434179"/>
            <a:ext cx="237744" cy="237744"/>
          </a:xfrm>
          <a:prstGeom prst="ellipse">
            <a:avLst/>
          </a:prstGeom>
          <a:solidFill>
            <a:srgbClr val="DEF2FF"/>
          </a:solidFill>
          <a:ln w="10160">
            <a:solidFill>
              <a:srgbClr val="2184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842986" y="4456377"/>
            <a:ext cx="182880" cy="201168"/>
          </a:xfrm>
          <a:prstGeom prst="rect">
            <a:avLst/>
          </a:prstGeom>
          <a:noFill/>
        </p:spPr>
        <p:txBody>
          <a:bodyPr wrap="none" anchor="ctr">
            <a:spAutoFit/>
          </a:bodyPr>
          <a:lstStyle/>
          <a:p>
            <a:pPr algn="ctr"/>
            <a:r>
              <a:rPr sz="800" b="1">
                <a:solidFill>
                  <a:srgbClr val="2184DC"/>
                </a:solidFill>
                <a:latin typeface="Arial"/>
              </a:rPr>
              <a:t>02</a:t>
            </a:r>
          </a:p>
        </p:txBody>
      </p:sp>
      <p:sp>
        <p:nvSpPr>
          <p:cNvPr id="26" name="TextBox 25"/>
          <p:cNvSpPr txBox="1"/>
          <p:nvPr/>
        </p:nvSpPr>
        <p:spPr>
          <a:xfrm>
            <a:off x="6053327" y="4416552"/>
            <a:ext cx="1097280" cy="274320"/>
          </a:xfrm>
          <a:prstGeom prst="rect">
            <a:avLst/>
          </a:prstGeom>
          <a:noFill/>
        </p:spPr>
        <p:txBody>
          <a:bodyPr wrap="none" anchor="ctr">
            <a:spAutoFit/>
          </a:bodyPr>
          <a:lstStyle/>
          <a:p>
            <a:pPr algn="l"/>
            <a:r>
              <a:rPr sz="1000" b="1">
                <a:solidFill>
                  <a:srgbClr val="0A3069"/>
                </a:solidFill>
                <a:latin typeface="Arial"/>
              </a:rPr>
              <a:t>Trực quan</a:t>
            </a:r>
          </a:p>
        </p:txBody>
      </p:sp>
      <p:sp>
        <p:nvSpPr>
          <p:cNvPr id="27" name="Rounded Rectangle 26"/>
          <p:cNvSpPr/>
          <p:nvPr/>
        </p:nvSpPr>
        <p:spPr>
          <a:xfrm>
            <a:off x="7571232" y="4315968"/>
            <a:ext cx="1783080" cy="502920"/>
          </a:xfrm>
          <a:prstGeom prst="roundRect">
            <a:avLst/>
          </a:prstGeom>
          <a:solidFill>
            <a:srgbClr val="FFFFFF"/>
          </a:solidFill>
          <a:ln>
            <a:solidFill>
              <a:srgbClr val="DCE8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7794656" y="4448556"/>
            <a:ext cx="237744" cy="237744"/>
          </a:xfrm>
          <a:prstGeom prst="ellipse">
            <a:avLst/>
          </a:prstGeom>
          <a:solidFill>
            <a:srgbClr val="DEF2FF"/>
          </a:solidFill>
          <a:ln w="10160">
            <a:solidFill>
              <a:srgbClr val="2184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818090" y="4466844"/>
            <a:ext cx="182880" cy="201168"/>
          </a:xfrm>
          <a:prstGeom prst="rect">
            <a:avLst/>
          </a:prstGeom>
          <a:noFill/>
        </p:spPr>
        <p:txBody>
          <a:bodyPr wrap="none" anchor="ctr">
            <a:spAutoFit/>
          </a:bodyPr>
          <a:lstStyle/>
          <a:p>
            <a:pPr algn="ctr"/>
            <a:r>
              <a:rPr sz="800" b="1">
                <a:solidFill>
                  <a:srgbClr val="2184DC"/>
                </a:solidFill>
                <a:latin typeface="Arial"/>
              </a:rPr>
              <a:t>03</a:t>
            </a:r>
          </a:p>
        </p:txBody>
      </p:sp>
      <p:sp>
        <p:nvSpPr>
          <p:cNvPr id="30" name="TextBox 29"/>
          <p:cNvSpPr txBox="1"/>
          <p:nvPr/>
        </p:nvSpPr>
        <p:spPr>
          <a:xfrm>
            <a:off x="8046720" y="4416552"/>
            <a:ext cx="1097280" cy="274320"/>
          </a:xfrm>
          <a:prstGeom prst="rect">
            <a:avLst/>
          </a:prstGeom>
          <a:noFill/>
        </p:spPr>
        <p:txBody>
          <a:bodyPr wrap="none" anchor="ctr">
            <a:spAutoFit/>
          </a:bodyPr>
          <a:lstStyle/>
          <a:p>
            <a:pPr algn="l"/>
            <a:r>
              <a:rPr sz="1000" b="1">
                <a:solidFill>
                  <a:srgbClr val="0A3069"/>
                </a:solidFill>
                <a:latin typeface="Arial"/>
              </a:rPr>
              <a:t>Tiện lợi</a:t>
            </a:r>
          </a:p>
        </p:txBody>
      </p:sp>
      <p:sp>
        <p:nvSpPr>
          <p:cNvPr id="31" name="TextBox 30"/>
          <p:cNvSpPr txBox="1"/>
          <p:nvPr/>
        </p:nvSpPr>
        <p:spPr>
          <a:xfrm>
            <a:off x="3246120" y="5504688"/>
            <a:ext cx="7223760" cy="329184"/>
          </a:xfrm>
          <a:prstGeom prst="rect">
            <a:avLst/>
          </a:prstGeom>
          <a:noFill/>
        </p:spPr>
        <p:txBody>
          <a:bodyPr wrap="none" anchor="ctr">
            <a:spAutoFit/>
          </a:bodyPr>
          <a:lstStyle/>
          <a:p>
            <a:pPr algn="l"/>
            <a:r>
              <a:rPr sz="900" b="1">
                <a:solidFill>
                  <a:srgbClr val="2184DC"/>
                </a:solidFill>
                <a:latin typeface="Arial"/>
              </a:rPr>
              <a:t>WEBSITE LAPTOP &amp; ACCESSORIES</a:t>
            </a:r>
          </a:p>
        </p:txBody>
      </p:sp>
      <p:cxnSp>
        <p:nvCxnSpPr>
          <p:cNvPr id="32" name="Connector 31"/>
          <p:cNvCxnSpPr/>
          <p:nvPr/>
        </p:nvCxnSpPr>
        <p:spPr>
          <a:xfrm>
            <a:off x="3246120" y="5925312"/>
            <a:ext cx="7178040" cy="0"/>
          </a:xfrm>
          <a:prstGeom prst="line">
            <a:avLst/>
          </a:prstGeom>
          <a:ln w="12700">
            <a:solidFill>
              <a:srgbClr val="CDDEEF"/>
            </a:solidFill>
          </a:ln>
        </p:spPr>
        <p:style>
          <a:lnRef idx="2">
            <a:schemeClr val="accent1"/>
          </a:lnRef>
          <a:fillRef idx="0">
            <a:schemeClr val="accent1"/>
          </a:fillRef>
          <a:effectRef idx="1">
            <a:schemeClr val="accent1"/>
          </a:effectRef>
          <a:fontRef idx="minor">
            <a:schemeClr val="tx1"/>
          </a:fontRef>
        </p:style>
      </p:cxnSp>
      <p:sp>
        <p:nvSpPr>
          <p:cNvPr id="33" name="Oval 32"/>
          <p:cNvSpPr/>
          <p:nvPr/>
        </p:nvSpPr>
        <p:spPr>
          <a:xfrm>
            <a:off x="10639958" y="5427878"/>
            <a:ext cx="25603" cy="25603"/>
          </a:xfrm>
          <a:prstGeom prst="ellipse">
            <a:avLst/>
          </a:prstGeom>
          <a:solidFill>
            <a:srgbClr val="DEF2FF"/>
          </a:solidFill>
          <a:ln w="2540">
            <a:solidFill>
              <a:srgbClr val="DEF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10758830" y="5427878"/>
            <a:ext cx="25603" cy="25603"/>
          </a:xfrm>
          <a:prstGeom prst="ellipse">
            <a:avLst/>
          </a:prstGeom>
          <a:solidFill>
            <a:srgbClr val="DEF2FF"/>
          </a:solidFill>
          <a:ln w="2540">
            <a:solidFill>
              <a:srgbClr val="DEF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10877702" y="5427878"/>
            <a:ext cx="25603" cy="25603"/>
          </a:xfrm>
          <a:prstGeom prst="ellipse">
            <a:avLst/>
          </a:prstGeom>
          <a:solidFill>
            <a:srgbClr val="DEF2FF"/>
          </a:solidFill>
          <a:ln w="2540">
            <a:solidFill>
              <a:srgbClr val="DEF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10996574" y="5427878"/>
            <a:ext cx="25603" cy="25603"/>
          </a:xfrm>
          <a:prstGeom prst="ellipse">
            <a:avLst/>
          </a:prstGeom>
          <a:solidFill>
            <a:srgbClr val="DEF2FF"/>
          </a:solidFill>
          <a:ln w="2540">
            <a:solidFill>
              <a:srgbClr val="DEF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11115446" y="5427878"/>
            <a:ext cx="25603" cy="25603"/>
          </a:xfrm>
          <a:prstGeom prst="ellipse">
            <a:avLst/>
          </a:prstGeom>
          <a:solidFill>
            <a:srgbClr val="DEF2FF"/>
          </a:solidFill>
          <a:ln w="2540">
            <a:solidFill>
              <a:srgbClr val="DEF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11234318" y="5427878"/>
            <a:ext cx="25603" cy="25603"/>
          </a:xfrm>
          <a:prstGeom prst="ellipse">
            <a:avLst/>
          </a:prstGeom>
          <a:solidFill>
            <a:srgbClr val="DEF2FF"/>
          </a:solidFill>
          <a:ln w="2540">
            <a:solidFill>
              <a:srgbClr val="DEF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11353190" y="5427878"/>
            <a:ext cx="25603" cy="25603"/>
          </a:xfrm>
          <a:prstGeom prst="ellipse">
            <a:avLst/>
          </a:prstGeom>
          <a:solidFill>
            <a:srgbClr val="DEF2FF"/>
          </a:solidFill>
          <a:ln w="2540">
            <a:solidFill>
              <a:srgbClr val="DEF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11472062" y="5427878"/>
            <a:ext cx="25603" cy="25603"/>
          </a:xfrm>
          <a:prstGeom prst="ellipse">
            <a:avLst/>
          </a:prstGeom>
          <a:solidFill>
            <a:srgbClr val="DEF2FF"/>
          </a:solidFill>
          <a:ln w="2540">
            <a:solidFill>
              <a:srgbClr val="DEF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11590934" y="5427878"/>
            <a:ext cx="25603" cy="25603"/>
          </a:xfrm>
          <a:prstGeom prst="ellipse">
            <a:avLst/>
          </a:prstGeom>
          <a:solidFill>
            <a:srgbClr val="DEF2FF"/>
          </a:solidFill>
          <a:ln w="2540">
            <a:solidFill>
              <a:srgbClr val="DEF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10639958" y="5546750"/>
            <a:ext cx="25603" cy="25603"/>
          </a:xfrm>
          <a:prstGeom prst="ellipse">
            <a:avLst/>
          </a:prstGeom>
          <a:solidFill>
            <a:srgbClr val="DEF2FF"/>
          </a:solidFill>
          <a:ln w="2540">
            <a:solidFill>
              <a:srgbClr val="DEF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p:cNvSpPr/>
          <p:nvPr/>
        </p:nvSpPr>
        <p:spPr>
          <a:xfrm>
            <a:off x="10758830" y="5546750"/>
            <a:ext cx="25603" cy="25603"/>
          </a:xfrm>
          <a:prstGeom prst="ellipse">
            <a:avLst/>
          </a:prstGeom>
          <a:solidFill>
            <a:srgbClr val="DEF2FF"/>
          </a:solidFill>
          <a:ln w="2540">
            <a:solidFill>
              <a:srgbClr val="DEF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a:off x="10877702" y="5546750"/>
            <a:ext cx="25603" cy="25603"/>
          </a:xfrm>
          <a:prstGeom prst="ellipse">
            <a:avLst/>
          </a:prstGeom>
          <a:solidFill>
            <a:srgbClr val="DEF2FF"/>
          </a:solidFill>
          <a:ln w="2540">
            <a:solidFill>
              <a:srgbClr val="DEF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val 44"/>
          <p:cNvSpPr/>
          <p:nvPr/>
        </p:nvSpPr>
        <p:spPr>
          <a:xfrm>
            <a:off x="10996574" y="5546750"/>
            <a:ext cx="25603" cy="25603"/>
          </a:xfrm>
          <a:prstGeom prst="ellipse">
            <a:avLst/>
          </a:prstGeom>
          <a:solidFill>
            <a:srgbClr val="DEF2FF"/>
          </a:solidFill>
          <a:ln w="2540">
            <a:solidFill>
              <a:srgbClr val="DEF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val 45"/>
          <p:cNvSpPr/>
          <p:nvPr/>
        </p:nvSpPr>
        <p:spPr>
          <a:xfrm>
            <a:off x="11115446" y="5546750"/>
            <a:ext cx="25603" cy="25603"/>
          </a:xfrm>
          <a:prstGeom prst="ellipse">
            <a:avLst/>
          </a:prstGeom>
          <a:solidFill>
            <a:srgbClr val="DEF2FF"/>
          </a:solidFill>
          <a:ln w="2540">
            <a:solidFill>
              <a:srgbClr val="DEF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p:cNvSpPr/>
          <p:nvPr/>
        </p:nvSpPr>
        <p:spPr>
          <a:xfrm>
            <a:off x="11234318" y="5546750"/>
            <a:ext cx="25603" cy="25603"/>
          </a:xfrm>
          <a:prstGeom prst="ellipse">
            <a:avLst/>
          </a:prstGeom>
          <a:solidFill>
            <a:srgbClr val="DEF2FF"/>
          </a:solidFill>
          <a:ln w="2540">
            <a:solidFill>
              <a:srgbClr val="DEF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val 47"/>
          <p:cNvSpPr/>
          <p:nvPr/>
        </p:nvSpPr>
        <p:spPr>
          <a:xfrm>
            <a:off x="11353190" y="5546750"/>
            <a:ext cx="25603" cy="25603"/>
          </a:xfrm>
          <a:prstGeom prst="ellipse">
            <a:avLst/>
          </a:prstGeom>
          <a:solidFill>
            <a:srgbClr val="DEF2FF"/>
          </a:solidFill>
          <a:ln w="2540">
            <a:solidFill>
              <a:srgbClr val="DEF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11472062" y="5546750"/>
            <a:ext cx="25603" cy="25603"/>
          </a:xfrm>
          <a:prstGeom prst="ellipse">
            <a:avLst/>
          </a:prstGeom>
          <a:solidFill>
            <a:srgbClr val="DEF2FF"/>
          </a:solidFill>
          <a:ln w="2540">
            <a:solidFill>
              <a:srgbClr val="DEF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11590934" y="5546750"/>
            <a:ext cx="25603" cy="25603"/>
          </a:xfrm>
          <a:prstGeom prst="ellipse">
            <a:avLst/>
          </a:prstGeom>
          <a:solidFill>
            <a:srgbClr val="DEF2FF"/>
          </a:solidFill>
          <a:ln w="2540">
            <a:solidFill>
              <a:srgbClr val="DEF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val 50"/>
          <p:cNvSpPr/>
          <p:nvPr/>
        </p:nvSpPr>
        <p:spPr>
          <a:xfrm>
            <a:off x="10639958" y="5665622"/>
            <a:ext cx="25603" cy="25603"/>
          </a:xfrm>
          <a:prstGeom prst="ellipse">
            <a:avLst/>
          </a:prstGeom>
          <a:solidFill>
            <a:srgbClr val="DEF2FF"/>
          </a:solidFill>
          <a:ln w="2540">
            <a:solidFill>
              <a:srgbClr val="DEF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val 51"/>
          <p:cNvSpPr/>
          <p:nvPr/>
        </p:nvSpPr>
        <p:spPr>
          <a:xfrm>
            <a:off x="10758830" y="5665622"/>
            <a:ext cx="25603" cy="25603"/>
          </a:xfrm>
          <a:prstGeom prst="ellipse">
            <a:avLst/>
          </a:prstGeom>
          <a:solidFill>
            <a:srgbClr val="DEF2FF"/>
          </a:solidFill>
          <a:ln w="2540">
            <a:solidFill>
              <a:srgbClr val="DEF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Oval 52"/>
          <p:cNvSpPr/>
          <p:nvPr/>
        </p:nvSpPr>
        <p:spPr>
          <a:xfrm>
            <a:off x="10877702" y="5665622"/>
            <a:ext cx="25603" cy="25603"/>
          </a:xfrm>
          <a:prstGeom prst="ellipse">
            <a:avLst/>
          </a:prstGeom>
          <a:solidFill>
            <a:srgbClr val="DEF2FF"/>
          </a:solidFill>
          <a:ln w="2540">
            <a:solidFill>
              <a:srgbClr val="DEF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val 53"/>
          <p:cNvSpPr/>
          <p:nvPr/>
        </p:nvSpPr>
        <p:spPr>
          <a:xfrm>
            <a:off x="10996574" y="5665622"/>
            <a:ext cx="25603" cy="25603"/>
          </a:xfrm>
          <a:prstGeom prst="ellipse">
            <a:avLst/>
          </a:prstGeom>
          <a:solidFill>
            <a:srgbClr val="DEF2FF"/>
          </a:solidFill>
          <a:ln w="2540">
            <a:solidFill>
              <a:srgbClr val="DEF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Oval 54"/>
          <p:cNvSpPr/>
          <p:nvPr/>
        </p:nvSpPr>
        <p:spPr>
          <a:xfrm>
            <a:off x="11115446" y="5665622"/>
            <a:ext cx="25603" cy="25603"/>
          </a:xfrm>
          <a:prstGeom prst="ellipse">
            <a:avLst/>
          </a:prstGeom>
          <a:solidFill>
            <a:srgbClr val="DEF2FF"/>
          </a:solidFill>
          <a:ln w="2540">
            <a:solidFill>
              <a:srgbClr val="DEF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val 55"/>
          <p:cNvSpPr/>
          <p:nvPr/>
        </p:nvSpPr>
        <p:spPr>
          <a:xfrm>
            <a:off x="11234318" y="5665622"/>
            <a:ext cx="25603" cy="25603"/>
          </a:xfrm>
          <a:prstGeom prst="ellipse">
            <a:avLst/>
          </a:prstGeom>
          <a:solidFill>
            <a:srgbClr val="DEF2FF"/>
          </a:solidFill>
          <a:ln w="2540">
            <a:solidFill>
              <a:srgbClr val="DEF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Oval 56"/>
          <p:cNvSpPr/>
          <p:nvPr/>
        </p:nvSpPr>
        <p:spPr>
          <a:xfrm>
            <a:off x="11353190" y="5665622"/>
            <a:ext cx="25603" cy="25603"/>
          </a:xfrm>
          <a:prstGeom prst="ellipse">
            <a:avLst/>
          </a:prstGeom>
          <a:solidFill>
            <a:srgbClr val="DEF2FF"/>
          </a:solidFill>
          <a:ln w="2540">
            <a:solidFill>
              <a:srgbClr val="DEF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Oval 57"/>
          <p:cNvSpPr/>
          <p:nvPr/>
        </p:nvSpPr>
        <p:spPr>
          <a:xfrm>
            <a:off x="11472062" y="5665622"/>
            <a:ext cx="25603" cy="25603"/>
          </a:xfrm>
          <a:prstGeom prst="ellipse">
            <a:avLst/>
          </a:prstGeom>
          <a:solidFill>
            <a:srgbClr val="DEF2FF"/>
          </a:solidFill>
          <a:ln w="2540">
            <a:solidFill>
              <a:srgbClr val="DEF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Oval 58"/>
          <p:cNvSpPr/>
          <p:nvPr/>
        </p:nvSpPr>
        <p:spPr>
          <a:xfrm>
            <a:off x="11590934" y="5665622"/>
            <a:ext cx="25603" cy="25603"/>
          </a:xfrm>
          <a:prstGeom prst="ellipse">
            <a:avLst/>
          </a:prstGeom>
          <a:solidFill>
            <a:srgbClr val="DEF2FF"/>
          </a:solidFill>
          <a:ln w="2540">
            <a:solidFill>
              <a:srgbClr val="DEF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Oval 59"/>
          <p:cNvSpPr/>
          <p:nvPr/>
        </p:nvSpPr>
        <p:spPr>
          <a:xfrm>
            <a:off x="10639958" y="5784494"/>
            <a:ext cx="25603" cy="25603"/>
          </a:xfrm>
          <a:prstGeom prst="ellipse">
            <a:avLst/>
          </a:prstGeom>
          <a:solidFill>
            <a:srgbClr val="DEF2FF"/>
          </a:solidFill>
          <a:ln w="2540">
            <a:solidFill>
              <a:srgbClr val="DEF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Oval 60"/>
          <p:cNvSpPr/>
          <p:nvPr/>
        </p:nvSpPr>
        <p:spPr>
          <a:xfrm>
            <a:off x="10758830" y="5784494"/>
            <a:ext cx="25603" cy="25603"/>
          </a:xfrm>
          <a:prstGeom prst="ellipse">
            <a:avLst/>
          </a:prstGeom>
          <a:solidFill>
            <a:srgbClr val="DEF2FF"/>
          </a:solidFill>
          <a:ln w="2540">
            <a:solidFill>
              <a:srgbClr val="DEF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Oval 61"/>
          <p:cNvSpPr/>
          <p:nvPr/>
        </p:nvSpPr>
        <p:spPr>
          <a:xfrm>
            <a:off x="10877702" y="5784494"/>
            <a:ext cx="25603" cy="25603"/>
          </a:xfrm>
          <a:prstGeom prst="ellipse">
            <a:avLst/>
          </a:prstGeom>
          <a:solidFill>
            <a:srgbClr val="DEF2FF"/>
          </a:solidFill>
          <a:ln w="2540">
            <a:solidFill>
              <a:srgbClr val="DEF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Oval 62"/>
          <p:cNvSpPr/>
          <p:nvPr/>
        </p:nvSpPr>
        <p:spPr>
          <a:xfrm>
            <a:off x="10996574" y="5784494"/>
            <a:ext cx="25603" cy="25603"/>
          </a:xfrm>
          <a:prstGeom prst="ellipse">
            <a:avLst/>
          </a:prstGeom>
          <a:solidFill>
            <a:srgbClr val="DEF2FF"/>
          </a:solidFill>
          <a:ln w="2540">
            <a:solidFill>
              <a:srgbClr val="DEF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Oval 63"/>
          <p:cNvSpPr/>
          <p:nvPr/>
        </p:nvSpPr>
        <p:spPr>
          <a:xfrm>
            <a:off x="11115446" y="5784494"/>
            <a:ext cx="25603" cy="25603"/>
          </a:xfrm>
          <a:prstGeom prst="ellipse">
            <a:avLst/>
          </a:prstGeom>
          <a:solidFill>
            <a:srgbClr val="DEF2FF"/>
          </a:solidFill>
          <a:ln w="2540">
            <a:solidFill>
              <a:srgbClr val="DEF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Oval 64"/>
          <p:cNvSpPr/>
          <p:nvPr/>
        </p:nvSpPr>
        <p:spPr>
          <a:xfrm>
            <a:off x="11234318" y="5784494"/>
            <a:ext cx="25603" cy="25603"/>
          </a:xfrm>
          <a:prstGeom prst="ellipse">
            <a:avLst/>
          </a:prstGeom>
          <a:solidFill>
            <a:srgbClr val="DEF2FF"/>
          </a:solidFill>
          <a:ln w="2540">
            <a:solidFill>
              <a:srgbClr val="DEF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Oval 65"/>
          <p:cNvSpPr/>
          <p:nvPr/>
        </p:nvSpPr>
        <p:spPr>
          <a:xfrm>
            <a:off x="11353190" y="5784494"/>
            <a:ext cx="25603" cy="25603"/>
          </a:xfrm>
          <a:prstGeom prst="ellipse">
            <a:avLst/>
          </a:prstGeom>
          <a:solidFill>
            <a:srgbClr val="DEF2FF"/>
          </a:solidFill>
          <a:ln w="2540">
            <a:solidFill>
              <a:srgbClr val="DEF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Oval 66"/>
          <p:cNvSpPr/>
          <p:nvPr/>
        </p:nvSpPr>
        <p:spPr>
          <a:xfrm>
            <a:off x="11472062" y="5784494"/>
            <a:ext cx="25603" cy="25603"/>
          </a:xfrm>
          <a:prstGeom prst="ellipse">
            <a:avLst/>
          </a:prstGeom>
          <a:solidFill>
            <a:srgbClr val="DEF2FF"/>
          </a:solidFill>
          <a:ln w="2540">
            <a:solidFill>
              <a:srgbClr val="DEF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Oval 67"/>
          <p:cNvSpPr/>
          <p:nvPr/>
        </p:nvSpPr>
        <p:spPr>
          <a:xfrm>
            <a:off x="11590934" y="5784494"/>
            <a:ext cx="25603" cy="25603"/>
          </a:xfrm>
          <a:prstGeom prst="ellipse">
            <a:avLst/>
          </a:prstGeom>
          <a:solidFill>
            <a:srgbClr val="DEF2FF"/>
          </a:solidFill>
          <a:ln w="2540">
            <a:solidFill>
              <a:srgbClr val="DEF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Oval 68"/>
          <p:cNvSpPr/>
          <p:nvPr/>
        </p:nvSpPr>
        <p:spPr>
          <a:xfrm>
            <a:off x="10639958" y="5903366"/>
            <a:ext cx="25603" cy="25603"/>
          </a:xfrm>
          <a:prstGeom prst="ellipse">
            <a:avLst/>
          </a:prstGeom>
          <a:solidFill>
            <a:srgbClr val="DEF2FF"/>
          </a:solidFill>
          <a:ln w="2540">
            <a:solidFill>
              <a:srgbClr val="DEF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Oval 69"/>
          <p:cNvSpPr/>
          <p:nvPr/>
        </p:nvSpPr>
        <p:spPr>
          <a:xfrm>
            <a:off x="10758830" y="5903366"/>
            <a:ext cx="25603" cy="25603"/>
          </a:xfrm>
          <a:prstGeom prst="ellipse">
            <a:avLst/>
          </a:prstGeom>
          <a:solidFill>
            <a:srgbClr val="DEF2FF"/>
          </a:solidFill>
          <a:ln w="2540">
            <a:solidFill>
              <a:srgbClr val="DEF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Oval 70"/>
          <p:cNvSpPr/>
          <p:nvPr/>
        </p:nvSpPr>
        <p:spPr>
          <a:xfrm>
            <a:off x="10877702" y="5903366"/>
            <a:ext cx="25603" cy="25603"/>
          </a:xfrm>
          <a:prstGeom prst="ellipse">
            <a:avLst/>
          </a:prstGeom>
          <a:solidFill>
            <a:srgbClr val="DEF2FF"/>
          </a:solidFill>
          <a:ln w="2540">
            <a:solidFill>
              <a:srgbClr val="DEF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Oval 71"/>
          <p:cNvSpPr/>
          <p:nvPr/>
        </p:nvSpPr>
        <p:spPr>
          <a:xfrm>
            <a:off x="10996574" y="5903366"/>
            <a:ext cx="25603" cy="25603"/>
          </a:xfrm>
          <a:prstGeom prst="ellipse">
            <a:avLst/>
          </a:prstGeom>
          <a:solidFill>
            <a:srgbClr val="DEF2FF"/>
          </a:solidFill>
          <a:ln w="2540">
            <a:solidFill>
              <a:srgbClr val="DEF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Oval 72"/>
          <p:cNvSpPr/>
          <p:nvPr/>
        </p:nvSpPr>
        <p:spPr>
          <a:xfrm>
            <a:off x="11115446" y="5903366"/>
            <a:ext cx="25603" cy="25603"/>
          </a:xfrm>
          <a:prstGeom prst="ellipse">
            <a:avLst/>
          </a:prstGeom>
          <a:solidFill>
            <a:srgbClr val="DEF2FF"/>
          </a:solidFill>
          <a:ln w="2540">
            <a:solidFill>
              <a:srgbClr val="DEF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Oval 73"/>
          <p:cNvSpPr/>
          <p:nvPr/>
        </p:nvSpPr>
        <p:spPr>
          <a:xfrm>
            <a:off x="11234318" y="5903366"/>
            <a:ext cx="25603" cy="25603"/>
          </a:xfrm>
          <a:prstGeom prst="ellipse">
            <a:avLst/>
          </a:prstGeom>
          <a:solidFill>
            <a:srgbClr val="DEF2FF"/>
          </a:solidFill>
          <a:ln w="2540">
            <a:solidFill>
              <a:srgbClr val="DEF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Oval 74"/>
          <p:cNvSpPr/>
          <p:nvPr/>
        </p:nvSpPr>
        <p:spPr>
          <a:xfrm>
            <a:off x="11353190" y="5903366"/>
            <a:ext cx="25603" cy="25603"/>
          </a:xfrm>
          <a:prstGeom prst="ellipse">
            <a:avLst/>
          </a:prstGeom>
          <a:solidFill>
            <a:srgbClr val="DEF2FF"/>
          </a:solidFill>
          <a:ln w="2540">
            <a:solidFill>
              <a:srgbClr val="DEF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Oval 75"/>
          <p:cNvSpPr/>
          <p:nvPr/>
        </p:nvSpPr>
        <p:spPr>
          <a:xfrm>
            <a:off x="11472062" y="5903366"/>
            <a:ext cx="25603" cy="25603"/>
          </a:xfrm>
          <a:prstGeom prst="ellipse">
            <a:avLst/>
          </a:prstGeom>
          <a:solidFill>
            <a:srgbClr val="DEF2FF"/>
          </a:solidFill>
          <a:ln w="2540">
            <a:solidFill>
              <a:srgbClr val="DEF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Oval 76"/>
          <p:cNvSpPr/>
          <p:nvPr/>
        </p:nvSpPr>
        <p:spPr>
          <a:xfrm>
            <a:off x="11590934" y="5903366"/>
            <a:ext cx="25603" cy="25603"/>
          </a:xfrm>
          <a:prstGeom prst="ellipse">
            <a:avLst/>
          </a:prstGeom>
          <a:solidFill>
            <a:srgbClr val="DEF2FF"/>
          </a:solidFill>
          <a:ln w="2540">
            <a:solidFill>
              <a:srgbClr val="DEF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8" name="Picture 77" descr="A black background with orange and blue text&#10;&#10;Description automatically generated">
            <a:extLst>
              <a:ext uri="{FF2B5EF4-FFF2-40B4-BE49-F238E27FC236}">
                <a16:creationId xmlns:a16="http://schemas.microsoft.com/office/drawing/2014/main" id="{35C9E54A-AE16-1D15-7931-852E10F90C2A}"/>
              </a:ext>
            </a:extLst>
          </p:cNvPr>
          <p:cNvPicPr>
            <a:picLocks noChangeAspect="1"/>
          </p:cNvPicPr>
          <p:nvPr/>
        </p:nvPicPr>
        <p:blipFill>
          <a:blip r:embed="rId2"/>
          <a:stretch>
            <a:fillRect/>
          </a:stretch>
        </p:blipFill>
        <p:spPr>
          <a:xfrm>
            <a:off x="10777306" y="-88712"/>
            <a:ext cx="1164758" cy="1164758"/>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384048" y="475488"/>
            <a:ext cx="237744" cy="237744"/>
          </a:xfrm>
          <a:prstGeom prst="ellipse">
            <a:avLst/>
          </a:prstGeom>
          <a:solidFill>
            <a:srgbClr val="FFFFFF"/>
          </a:solidFill>
          <a:ln w="15240">
            <a:solidFill>
              <a:srgbClr val="2184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448056" y="539496"/>
            <a:ext cx="109728" cy="109728"/>
          </a:xfrm>
          <a:prstGeom prst="ellipse">
            <a:avLst/>
          </a:prstGeom>
          <a:solidFill>
            <a:srgbClr val="69BEF2"/>
          </a:solidFill>
          <a:ln w="2540">
            <a:solidFill>
              <a:srgbClr val="69BE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 name="Connector 3"/>
          <p:cNvCxnSpPr/>
          <p:nvPr/>
        </p:nvCxnSpPr>
        <p:spPr>
          <a:xfrm>
            <a:off x="621792" y="594360"/>
            <a:ext cx="704088" cy="155448"/>
          </a:xfrm>
          <a:prstGeom prst="line">
            <a:avLst/>
          </a:prstGeom>
          <a:ln w="12700">
            <a:solidFill>
              <a:srgbClr val="87B4E1"/>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11484864" y="512064"/>
            <a:ext cx="164592" cy="164592"/>
          </a:xfrm>
          <a:prstGeom prst="ellipse">
            <a:avLst/>
          </a:prstGeom>
          <a:solidFill>
            <a:srgbClr val="E1F3FF"/>
          </a:solidFill>
          <a:ln w="10160">
            <a:solidFill>
              <a:srgbClr val="0A306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11567160" y="676656"/>
            <a:ext cx="0" cy="557784"/>
          </a:xfrm>
          <a:prstGeom prst="line">
            <a:avLst/>
          </a:prstGeom>
          <a:ln w="12700">
            <a:solidFill>
              <a:srgbClr val="82A5CD"/>
            </a:solidFill>
          </a:ln>
        </p:spPr>
        <p:style>
          <a:lnRef idx="2">
            <a:schemeClr val="accent1"/>
          </a:lnRef>
          <a:fillRef idx="0">
            <a:schemeClr val="accent1"/>
          </a:fillRef>
          <a:effectRef idx="1">
            <a:schemeClr val="accent1"/>
          </a:effectRef>
          <a:fontRef idx="minor">
            <a:schemeClr val="tx1"/>
          </a:fontRef>
        </p:style>
      </p:cxnSp>
      <p:sp>
        <p:nvSpPr>
          <p:cNvPr id="7" name="Oval 6"/>
          <p:cNvSpPr/>
          <p:nvPr/>
        </p:nvSpPr>
        <p:spPr>
          <a:xfrm>
            <a:off x="11338560" y="1143000"/>
            <a:ext cx="457200" cy="457200"/>
          </a:xfrm>
          <a:prstGeom prst="ellipse">
            <a:avLst/>
          </a:prstGeom>
          <a:solidFill>
            <a:srgbClr val="FFFFFF"/>
          </a:solidFill>
          <a:ln w="12700">
            <a:solidFill>
              <a:srgbClr val="0A306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1439144" y="1243584"/>
            <a:ext cx="256032" cy="256032"/>
          </a:xfrm>
          <a:prstGeom prst="ellipse">
            <a:avLst/>
          </a:prstGeom>
          <a:solidFill>
            <a:srgbClr val="69BEF2"/>
          </a:solidFill>
          <a:ln w="8890">
            <a:solidFill>
              <a:srgbClr val="2184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 y="960120"/>
            <a:ext cx="914400" cy="411480"/>
          </a:xfrm>
          <a:prstGeom prst="rect">
            <a:avLst/>
          </a:prstGeom>
          <a:noFill/>
        </p:spPr>
        <p:txBody>
          <a:bodyPr wrap="square" anchor="ctr">
            <a:spAutoFit/>
          </a:bodyPr>
          <a:lstStyle/>
          <a:p>
            <a:pPr algn="l"/>
            <a:r>
              <a:rPr sz="3000" b="1">
                <a:solidFill>
                  <a:srgbClr val="2184DC"/>
                </a:solidFill>
                <a:latin typeface="Arial"/>
              </a:rPr>
              <a:t>01</a:t>
            </a:r>
          </a:p>
        </p:txBody>
      </p:sp>
      <p:sp>
        <p:nvSpPr>
          <p:cNvPr id="10" name="Rectangle 9"/>
          <p:cNvSpPr/>
          <p:nvPr/>
        </p:nvSpPr>
        <p:spPr>
          <a:xfrm>
            <a:off x="795528" y="1435608"/>
            <a:ext cx="594360" cy="45720"/>
          </a:xfrm>
          <a:prstGeom prst="rect">
            <a:avLst/>
          </a:prstGeom>
          <a:solidFill>
            <a:srgbClr val="2184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965960" y="841248"/>
            <a:ext cx="8686800" cy="548640"/>
          </a:xfrm>
          <a:prstGeom prst="rect">
            <a:avLst/>
          </a:prstGeom>
          <a:noFill/>
        </p:spPr>
        <p:txBody>
          <a:bodyPr wrap="square" anchor="ctr">
            <a:spAutoFit/>
          </a:bodyPr>
          <a:lstStyle/>
          <a:p>
            <a:pPr algn="l"/>
            <a:r>
              <a:rPr sz="2700" b="1">
                <a:solidFill>
                  <a:srgbClr val="0A3069"/>
                </a:solidFill>
                <a:latin typeface="Arial"/>
              </a:rPr>
              <a:t>Mục đích, đối tượng &amp; tầm quan trọng</a:t>
            </a:r>
          </a:p>
        </p:txBody>
      </p:sp>
      <p:sp>
        <p:nvSpPr>
          <p:cNvPr id="12" name="TextBox 11"/>
          <p:cNvSpPr txBox="1"/>
          <p:nvPr/>
        </p:nvSpPr>
        <p:spPr>
          <a:xfrm>
            <a:off x="1993392" y="1444752"/>
            <a:ext cx="7955279" cy="329184"/>
          </a:xfrm>
          <a:prstGeom prst="rect">
            <a:avLst/>
          </a:prstGeom>
          <a:noFill/>
        </p:spPr>
        <p:txBody>
          <a:bodyPr wrap="square" anchor="ctr">
            <a:spAutoFit/>
          </a:bodyPr>
          <a:lstStyle/>
          <a:p>
            <a:pPr algn="l"/>
            <a:r>
              <a:rPr sz="1200" b="0">
                <a:solidFill>
                  <a:srgbClr val="5D6977"/>
                </a:solidFill>
                <a:latin typeface="Arial"/>
              </a:rPr>
              <a:t>Định hướng dự án website bán laptop &amp; phụ kiện</a:t>
            </a:r>
          </a:p>
        </p:txBody>
      </p:sp>
      <p:sp>
        <p:nvSpPr>
          <p:cNvPr id="13" name="Rounded Rectangle 12"/>
          <p:cNvSpPr/>
          <p:nvPr/>
        </p:nvSpPr>
        <p:spPr>
          <a:xfrm>
            <a:off x="1965960" y="2148840"/>
            <a:ext cx="8229600" cy="1024128"/>
          </a:xfrm>
          <a:prstGeom prst="roundRect">
            <a:avLst/>
          </a:prstGeom>
          <a:solidFill>
            <a:srgbClr val="F7FBFF"/>
          </a:solidFill>
          <a:ln>
            <a:solidFill>
              <a:srgbClr val="DCE8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1965960" y="2148840"/>
            <a:ext cx="109728" cy="1024128"/>
          </a:xfrm>
          <a:prstGeom prst="roundRect">
            <a:avLst/>
          </a:prstGeom>
          <a:solidFill>
            <a:srgbClr val="2184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2258568" y="2432304"/>
            <a:ext cx="457200" cy="457200"/>
          </a:xfrm>
          <a:prstGeom prst="ellipse">
            <a:avLst/>
          </a:prstGeom>
          <a:solidFill>
            <a:srgbClr val="E1F3FF"/>
          </a:solidFill>
          <a:ln w="12700">
            <a:solidFill>
              <a:srgbClr val="2184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304288" y="2505456"/>
            <a:ext cx="365760" cy="310896"/>
          </a:xfrm>
          <a:prstGeom prst="rect">
            <a:avLst/>
          </a:prstGeom>
          <a:noFill/>
        </p:spPr>
        <p:txBody>
          <a:bodyPr wrap="square" anchor="ctr">
            <a:spAutoFit/>
          </a:bodyPr>
          <a:lstStyle/>
          <a:p>
            <a:pPr algn="ctr"/>
            <a:r>
              <a:rPr sz="1100" b="1">
                <a:solidFill>
                  <a:srgbClr val="2184DC"/>
                </a:solidFill>
                <a:latin typeface="Arial"/>
              </a:rPr>
              <a:t>01</a:t>
            </a:r>
          </a:p>
        </p:txBody>
      </p:sp>
      <p:sp>
        <p:nvSpPr>
          <p:cNvPr id="17" name="TextBox 16"/>
          <p:cNvSpPr txBox="1"/>
          <p:nvPr/>
        </p:nvSpPr>
        <p:spPr>
          <a:xfrm>
            <a:off x="2907792" y="2304288"/>
            <a:ext cx="2514600" cy="256032"/>
          </a:xfrm>
          <a:prstGeom prst="rect">
            <a:avLst/>
          </a:prstGeom>
          <a:noFill/>
        </p:spPr>
        <p:txBody>
          <a:bodyPr wrap="square" anchor="ctr">
            <a:spAutoFit/>
          </a:bodyPr>
          <a:lstStyle/>
          <a:p>
            <a:pPr algn="l"/>
            <a:r>
              <a:rPr sz="1100" b="1">
                <a:solidFill>
                  <a:srgbClr val="2184DC"/>
                </a:solidFill>
                <a:latin typeface="Arial"/>
              </a:rPr>
              <a:t>MỤC ĐÍCH</a:t>
            </a:r>
          </a:p>
        </p:txBody>
      </p:sp>
      <p:sp>
        <p:nvSpPr>
          <p:cNvPr id="18" name="TextBox 17"/>
          <p:cNvSpPr txBox="1"/>
          <p:nvPr/>
        </p:nvSpPr>
        <p:spPr>
          <a:xfrm>
            <a:off x="2907792" y="2569464"/>
            <a:ext cx="6903720" cy="438912"/>
          </a:xfrm>
          <a:prstGeom prst="rect">
            <a:avLst/>
          </a:prstGeom>
          <a:noFill/>
        </p:spPr>
        <p:txBody>
          <a:bodyPr wrap="square" anchor="ctr">
            <a:spAutoFit/>
          </a:bodyPr>
          <a:lstStyle/>
          <a:p>
            <a:pPr algn="l"/>
            <a:r>
              <a:rPr sz="1200" b="0">
                <a:solidFill>
                  <a:srgbClr val="0A3069"/>
                </a:solidFill>
                <a:latin typeface="Arial"/>
              </a:rPr>
              <a:t>Xây dựng website thương mại điện tử chuyên biệt về laptop và phụ kiện công nghệ, cung cấp trải nghiệm mua sắm trực tuyến hiện đại, tiện lợi và an toàn.</a:t>
            </a:r>
          </a:p>
        </p:txBody>
      </p:sp>
      <p:sp>
        <p:nvSpPr>
          <p:cNvPr id="19" name="Rounded Rectangle 18"/>
          <p:cNvSpPr/>
          <p:nvPr/>
        </p:nvSpPr>
        <p:spPr>
          <a:xfrm>
            <a:off x="1965960" y="3429000"/>
            <a:ext cx="8229600" cy="1024128"/>
          </a:xfrm>
          <a:prstGeom prst="roundRect">
            <a:avLst/>
          </a:prstGeom>
          <a:solidFill>
            <a:srgbClr val="F7FBFF"/>
          </a:solidFill>
          <a:ln>
            <a:solidFill>
              <a:srgbClr val="DCE8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1965960" y="3429000"/>
            <a:ext cx="109728" cy="1024128"/>
          </a:xfrm>
          <a:prstGeom prst="roundRect">
            <a:avLst/>
          </a:prstGeom>
          <a:solidFill>
            <a:srgbClr val="2184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2258568" y="3712464"/>
            <a:ext cx="457200" cy="457200"/>
          </a:xfrm>
          <a:prstGeom prst="ellipse">
            <a:avLst/>
          </a:prstGeom>
          <a:solidFill>
            <a:srgbClr val="E1F3FF"/>
          </a:solidFill>
          <a:ln w="12700">
            <a:solidFill>
              <a:srgbClr val="2184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2304288" y="3785615"/>
            <a:ext cx="365760" cy="310896"/>
          </a:xfrm>
          <a:prstGeom prst="rect">
            <a:avLst/>
          </a:prstGeom>
          <a:noFill/>
        </p:spPr>
        <p:txBody>
          <a:bodyPr wrap="square" anchor="ctr">
            <a:spAutoFit/>
          </a:bodyPr>
          <a:lstStyle/>
          <a:p>
            <a:pPr algn="ctr"/>
            <a:r>
              <a:rPr sz="1100" b="1">
                <a:solidFill>
                  <a:srgbClr val="2184DC"/>
                </a:solidFill>
                <a:latin typeface="Arial"/>
              </a:rPr>
              <a:t>02</a:t>
            </a:r>
          </a:p>
        </p:txBody>
      </p:sp>
      <p:sp>
        <p:nvSpPr>
          <p:cNvPr id="23" name="TextBox 22"/>
          <p:cNvSpPr txBox="1"/>
          <p:nvPr/>
        </p:nvSpPr>
        <p:spPr>
          <a:xfrm>
            <a:off x="2907792" y="3584448"/>
            <a:ext cx="2514600" cy="256032"/>
          </a:xfrm>
          <a:prstGeom prst="rect">
            <a:avLst/>
          </a:prstGeom>
          <a:noFill/>
        </p:spPr>
        <p:txBody>
          <a:bodyPr wrap="square" anchor="ctr">
            <a:spAutoFit/>
          </a:bodyPr>
          <a:lstStyle/>
          <a:p>
            <a:pPr algn="l"/>
            <a:r>
              <a:rPr sz="1100" b="1">
                <a:solidFill>
                  <a:srgbClr val="2184DC"/>
                </a:solidFill>
                <a:latin typeface="Arial"/>
              </a:rPr>
              <a:t>ĐỐI TƯỢNG KHÁCH HÀNG</a:t>
            </a:r>
          </a:p>
        </p:txBody>
      </p:sp>
      <p:sp>
        <p:nvSpPr>
          <p:cNvPr id="24" name="TextBox 23"/>
          <p:cNvSpPr txBox="1"/>
          <p:nvPr/>
        </p:nvSpPr>
        <p:spPr>
          <a:xfrm>
            <a:off x="2907792" y="3849624"/>
            <a:ext cx="6903720" cy="438912"/>
          </a:xfrm>
          <a:prstGeom prst="rect">
            <a:avLst/>
          </a:prstGeom>
          <a:noFill/>
        </p:spPr>
        <p:txBody>
          <a:bodyPr wrap="square" anchor="ctr">
            <a:spAutoFit/>
          </a:bodyPr>
          <a:lstStyle/>
          <a:p>
            <a:pPr algn="l"/>
            <a:r>
              <a:rPr sz="1200" b="0">
                <a:solidFill>
                  <a:srgbClr val="0A3069"/>
                </a:solidFill>
                <a:latin typeface="Arial"/>
              </a:rPr>
              <a:t>Sinh viên, nhân viên văn phòng, người làm công nghệ và khách hàng có nhu cầu mua laptop, phụ kiện chính hãng với giá cạnh tranh và dịch vụ hậu mãi tốt.</a:t>
            </a:r>
          </a:p>
        </p:txBody>
      </p:sp>
      <p:sp>
        <p:nvSpPr>
          <p:cNvPr id="25" name="Rounded Rectangle 24"/>
          <p:cNvSpPr/>
          <p:nvPr/>
        </p:nvSpPr>
        <p:spPr>
          <a:xfrm>
            <a:off x="1965960" y="4709160"/>
            <a:ext cx="8229600" cy="1024128"/>
          </a:xfrm>
          <a:prstGeom prst="roundRect">
            <a:avLst/>
          </a:prstGeom>
          <a:solidFill>
            <a:srgbClr val="F7FBFF"/>
          </a:solidFill>
          <a:ln>
            <a:solidFill>
              <a:srgbClr val="DCE8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1965960" y="4709160"/>
            <a:ext cx="109728" cy="1024128"/>
          </a:xfrm>
          <a:prstGeom prst="roundRect">
            <a:avLst/>
          </a:prstGeom>
          <a:solidFill>
            <a:srgbClr val="2184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2258568" y="4992624"/>
            <a:ext cx="457200" cy="457200"/>
          </a:xfrm>
          <a:prstGeom prst="ellipse">
            <a:avLst/>
          </a:prstGeom>
          <a:solidFill>
            <a:srgbClr val="E1F3FF"/>
          </a:solidFill>
          <a:ln w="12700">
            <a:solidFill>
              <a:srgbClr val="2184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2304288" y="5065776"/>
            <a:ext cx="365760" cy="310896"/>
          </a:xfrm>
          <a:prstGeom prst="rect">
            <a:avLst/>
          </a:prstGeom>
          <a:noFill/>
        </p:spPr>
        <p:txBody>
          <a:bodyPr wrap="square" anchor="ctr">
            <a:spAutoFit/>
          </a:bodyPr>
          <a:lstStyle/>
          <a:p>
            <a:pPr algn="ctr"/>
            <a:r>
              <a:rPr sz="1100" b="1">
                <a:solidFill>
                  <a:srgbClr val="2184DC"/>
                </a:solidFill>
                <a:latin typeface="Arial"/>
              </a:rPr>
              <a:t>03</a:t>
            </a:r>
          </a:p>
        </p:txBody>
      </p:sp>
      <p:sp>
        <p:nvSpPr>
          <p:cNvPr id="29" name="TextBox 28"/>
          <p:cNvSpPr txBox="1"/>
          <p:nvPr/>
        </p:nvSpPr>
        <p:spPr>
          <a:xfrm>
            <a:off x="2907792" y="4864608"/>
            <a:ext cx="2514600" cy="256032"/>
          </a:xfrm>
          <a:prstGeom prst="rect">
            <a:avLst/>
          </a:prstGeom>
          <a:noFill/>
        </p:spPr>
        <p:txBody>
          <a:bodyPr wrap="square" anchor="ctr">
            <a:spAutoFit/>
          </a:bodyPr>
          <a:lstStyle/>
          <a:p>
            <a:pPr algn="l"/>
            <a:r>
              <a:rPr sz="1100" b="1">
                <a:solidFill>
                  <a:srgbClr val="2184DC"/>
                </a:solidFill>
                <a:latin typeface="Arial"/>
              </a:rPr>
              <a:t>TẦM QUAN TRỌNG</a:t>
            </a:r>
          </a:p>
        </p:txBody>
      </p:sp>
      <p:sp>
        <p:nvSpPr>
          <p:cNvPr id="30" name="TextBox 29"/>
          <p:cNvSpPr txBox="1"/>
          <p:nvPr/>
        </p:nvSpPr>
        <p:spPr>
          <a:xfrm>
            <a:off x="2907792" y="5129784"/>
            <a:ext cx="6903720" cy="438912"/>
          </a:xfrm>
          <a:prstGeom prst="rect">
            <a:avLst/>
          </a:prstGeom>
          <a:noFill/>
        </p:spPr>
        <p:txBody>
          <a:bodyPr wrap="square" anchor="ctr">
            <a:spAutoFit/>
          </a:bodyPr>
          <a:lstStyle/>
          <a:p>
            <a:pPr algn="l"/>
            <a:r>
              <a:rPr sz="1200" b="0">
                <a:solidFill>
                  <a:srgbClr val="0A3069"/>
                </a:solidFill>
                <a:latin typeface="Arial"/>
              </a:rPr>
              <a:t>Đáp ứng xu hướng mua sắm công nghệ trực tuyến, góp phần số hóa hoạt động bán lẻ, tối ưu trải nghiệm người dùng và nâng cao năng lực cạnh tranh trên thị trường TMĐT.</a:t>
            </a:r>
          </a:p>
        </p:txBody>
      </p:sp>
      <p:cxnSp>
        <p:nvCxnSpPr>
          <p:cNvPr id="31" name="Connector 30"/>
          <p:cNvCxnSpPr/>
          <p:nvPr/>
        </p:nvCxnSpPr>
        <p:spPr>
          <a:xfrm>
            <a:off x="1965960" y="6108192"/>
            <a:ext cx="8229600" cy="0"/>
          </a:xfrm>
          <a:prstGeom prst="line">
            <a:avLst/>
          </a:prstGeom>
          <a:ln w="12700">
            <a:solidFill>
              <a:srgbClr val="CDDEEF"/>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1965960" y="6217920"/>
            <a:ext cx="4572000" cy="228600"/>
          </a:xfrm>
          <a:prstGeom prst="rect">
            <a:avLst/>
          </a:prstGeom>
          <a:noFill/>
        </p:spPr>
        <p:txBody>
          <a:bodyPr wrap="square" anchor="ctr">
            <a:spAutoFit/>
          </a:bodyPr>
          <a:lstStyle/>
          <a:p>
            <a:pPr algn="l"/>
            <a:r>
              <a:rPr sz="800" b="1">
                <a:solidFill>
                  <a:srgbClr val="5D6977"/>
                </a:solidFill>
                <a:latin typeface="Arial"/>
              </a:rPr>
              <a:t>WEBSITE LAPTOP &amp; ACCESSORIES</a:t>
            </a:r>
          </a:p>
        </p:txBody>
      </p:sp>
      <p:pic>
        <p:nvPicPr>
          <p:cNvPr id="34" name="Picture 33" descr="A black background with orange and blue text&#10;&#10;Description automatically generated">
            <a:extLst>
              <a:ext uri="{FF2B5EF4-FFF2-40B4-BE49-F238E27FC236}">
                <a16:creationId xmlns:a16="http://schemas.microsoft.com/office/drawing/2014/main" id="{2254B56F-F136-7E1B-C058-510272A47265}"/>
              </a:ext>
            </a:extLst>
          </p:cNvPr>
          <p:cNvPicPr>
            <a:picLocks noChangeAspect="1"/>
          </p:cNvPicPr>
          <p:nvPr/>
        </p:nvPicPr>
        <p:blipFill>
          <a:blip r:embed="rId2"/>
          <a:stretch>
            <a:fillRect/>
          </a:stretch>
        </p:blipFill>
        <p:spPr>
          <a:xfrm>
            <a:off x="10777306" y="-88712"/>
            <a:ext cx="1164758" cy="1164758"/>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9335966" y="245623"/>
            <a:ext cx="786384" cy="786384"/>
          </a:xfrm>
          <a:prstGeom prst="ellipse">
            <a:avLst/>
          </a:prstGeom>
          <a:solidFill>
            <a:srgbClr val="E9F5FF"/>
          </a:solidFill>
          <a:ln w="8890">
            <a:solidFill>
              <a:srgbClr val="CFE2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414352" y="390132"/>
            <a:ext cx="600859" cy="507831"/>
          </a:xfrm>
          <a:prstGeom prst="rect">
            <a:avLst/>
          </a:prstGeom>
          <a:noFill/>
        </p:spPr>
        <p:txBody>
          <a:bodyPr wrap="square" anchor="ctr">
            <a:spAutoFit/>
          </a:bodyPr>
          <a:lstStyle/>
          <a:p>
            <a:pPr algn="ctr"/>
            <a:r>
              <a:rPr sz="2700" b="1">
                <a:solidFill>
                  <a:srgbClr val="135EE1"/>
                </a:solidFill>
                <a:latin typeface="Arial"/>
              </a:rPr>
              <a:t>02</a:t>
            </a:r>
          </a:p>
        </p:txBody>
      </p:sp>
      <p:sp>
        <p:nvSpPr>
          <p:cNvPr id="4" name="TextBox 3"/>
          <p:cNvSpPr txBox="1"/>
          <p:nvPr/>
        </p:nvSpPr>
        <p:spPr>
          <a:xfrm>
            <a:off x="7800867" y="175059"/>
            <a:ext cx="1828800" cy="219456"/>
          </a:xfrm>
          <a:prstGeom prst="rect">
            <a:avLst/>
          </a:prstGeom>
          <a:noFill/>
        </p:spPr>
        <p:txBody>
          <a:bodyPr wrap="square" anchor="ctr">
            <a:spAutoFit/>
          </a:bodyPr>
          <a:lstStyle/>
          <a:p>
            <a:pPr algn="l"/>
            <a:r>
              <a:rPr sz="1000" b="0">
                <a:solidFill>
                  <a:srgbClr val="135EE1"/>
                </a:solidFill>
                <a:latin typeface="Arial"/>
              </a:rPr>
              <a:t>WEBSITE PHONG VŨ</a:t>
            </a:r>
          </a:p>
        </p:txBody>
      </p:sp>
      <p:sp>
        <p:nvSpPr>
          <p:cNvPr id="5" name="TextBox 4"/>
          <p:cNvSpPr txBox="1"/>
          <p:nvPr/>
        </p:nvSpPr>
        <p:spPr>
          <a:xfrm>
            <a:off x="4163395" y="420624"/>
            <a:ext cx="6309360" cy="438912"/>
          </a:xfrm>
          <a:prstGeom prst="rect">
            <a:avLst/>
          </a:prstGeom>
          <a:noFill/>
        </p:spPr>
        <p:txBody>
          <a:bodyPr wrap="square" anchor="ctr">
            <a:spAutoFit/>
          </a:bodyPr>
          <a:lstStyle/>
          <a:p>
            <a:pPr algn="l"/>
            <a:r>
              <a:rPr sz="2500" b="1">
                <a:solidFill>
                  <a:srgbClr val="04235B"/>
                </a:solidFill>
                <a:latin typeface="Arial"/>
              </a:rPr>
              <a:t>KHẢO SÁT WEBSITE PHONG VŨ</a:t>
            </a:r>
          </a:p>
        </p:txBody>
      </p:sp>
      <p:sp>
        <p:nvSpPr>
          <p:cNvPr id="6" name="TextBox 5"/>
          <p:cNvSpPr txBox="1"/>
          <p:nvPr/>
        </p:nvSpPr>
        <p:spPr>
          <a:xfrm>
            <a:off x="3990867" y="870003"/>
            <a:ext cx="6766560" cy="246888"/>
          </a:xfrm>
          <a:prstGeom prst="rect">
            <a:avLst/>
          </a:prstGeom>
          <a:noFill/>
        </p:spPr>
        <p:txBody>
          <a:bodyPr wrap="square" anchor="ctr">
            <a:spAutoFit/>
          </a:bodyPr>
          <a:lstStyle/>
          <a:p>
            <a:pPr algn="l"/>
            <a:r>
              <a:rPr sz="1000" b="0">
                <a:solidFill>
                  <a:srgbClr val="4D5E7D"/>
                </a:solidFill>
                <a:latin typeface="Arial"/>
              </a:rPr>
              <a:t>Cùng tìm hiểu giao diện, quy trình mua hàng và các chức năng chính trên website Phong Vũ</a:t>
            </a:r>
          </a:p>
        </p:txBody>
      </p:sp>
      <p:sp>
        <p:nvSpPr>
          <p:cNvPr id="13" name="Rounded Rectangle 12"/>
          <p:cNvSpPr/>
          <p:nvPr/>
        </p:nvSpPr>
        <p:spPr>
          <a:xfrm>
            <a:off x="201168" y="1261872"/>
            <a:ext cx="2761488" cy="3767328"/>
          </a:xfrm>
          <a:prstGeom prst="roundRect">
            <a:avLst/>
          </a:prstGeom>
          <a:solidFill>
            <a:srgbClr val="FFFFFF"/>
          </a:solidFill>
          <a:ln w="8255">
            <a:solidFill>
              <a:srgbClr val="CFE2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347471" y="1371600"/>
            <a:ext cx="365760" cy="365760"/>
          </a:xfrm>
          <a:prstGeom prst="ellipse">
            <a:avLst/>
          </a:prstGeom>
          <a:solidFill>
            <a:srgbClr val="135EE1"/>
          </a:solidFill>
          <a:ln w="3810">
            <a:solidFill>
              <a:srgbClr val="135E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61187" y="1419103"/>
            <a:ext cx="352044" cy="261610"/>
          </a:xfrm>
          <a:prstGeom prst="rect">
            <a:avLst/>
          </a:prstGeom>
          <a:noFill/>
        </p:spPr>
        <p:txBody>
          <a:bodyPr wrap="square" anchor="ctr">
            <a:spAutoFit/>
          </a:bodyPr>
          <a:lstStyle/>
          <a:p>
            <a:pPr algn="ctr"/>
            <a:r>
              <a:rPr sz="1100" b="1">
                <a:solidFill>
                  <a:srgbClr val="FFFFFF"/>
                </a:solidFill>
                <a:latin typeface="Arial"/>
              </a:rPr>
              <a:t>01</a:t>
            </a:r>
          </a:p>
        </p:txBody>
      </p:sp>
      <p:sp>
        <p:nvSpPr>
          <p:cNvPr id="16" name="TextBox 15"/>
          <p:cNvSpPr txBox="1"/>
          <p:nvPr/>
        </p:nvSpPr>
        <p:spPr>
          <a:xfrm>
            <a:off x="822960" y="1426464"/>
            <a:ext cx="1975104" cy="256032"/>
          </a:xfrm>
          <a:prstGeom prst="rect">
            <a:avLst/>
          </a:prstGeom>
          <a:noFill/>
        </p:spPr>
        <p:txBody>
          <a:bodyPr wrap="square" anchor="ctr">
            <a:spAutoFit/>
          </a:bodyPr>
          <a:lstStyle/>
          <a:p>
            <a:pPr algn="l"/>
            <a:r>
              <a:rPr sz="1050" b="1">
                <a:solidFill>
                  <a:srgbClr val="04235B"/>
                </a:solidFill>
                <a:latin typeface="Arial"/>
              </a:rPr>
              <a:t>TRANG CHỦ WEBSITE</a:t>
            </a:r>
          </a:p>
        </p:txBody>
      </p:sp>
      <p:sp>
        <p:nvSpPr>
          <p:cNvPr id="26" name="TextBox 25"/>
          <p:cNvSpPr txBox="1"/>
          <p:nvPr/>
        </p:nvSpPr>
        <p:spPr>
          <a:xfrm>
            <a:off x="557784" y="2340864"/>
            <a:ext cx="2048256" cy="228600"/>
          </a:xfrm>
          <a:prstGeom prst="rect">
            <a:avLst/>
          </a:prstGeom>
          <a:noFill/>
        </p:spPr>
        <p:txBody>
          <a:bodyPr wrap="square" anchor="ctr">
            <a:spAutoFit/>
          </a:bodyPr>
          <a:lstStyle/>
          <a:p>
            <a:pPr algn="ctr"/>
            <a:r>
              <a:rPr sz="1100" b="1">
                <a:solidFill>
                  <a:srgbClr val="FFFFFF"/>
                </a:solidFill>
                <a:latin typeface="Arial"/>
              </a:rPr>
              <a:t>LENOVO
SẮP DEAL</a:t>
            </a:r>
          </a:p>
        </p:txBody>
      </p:sp>
      <p:sp>
        <p:nvSpPr>
          <p:cNvPr id="50" name="Rectangle 49"/>
          <p:cNvSpPr/>
          <p:nvPr/>
        </p:nvSpPr>
        <p:spPr>
          <a:xfrm>
            <a:off x="429402" y="4720498"/>
            <a:ext cx="92171" cy="10972"/>
          </a:xfrm>
          <a:prstGeom prst="rect">
            <a:avLst/>
          </a:prstGeom>
          <a:solidFill>
            <a:srgbClr val="135E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ounded Rectangle 51"/>
          <p:cNvSpPr/>
          <p:nvPr/>
        </p:nvSpPr>
        <p:spPr>
          <a:xfrm>
            <a:off x="3127248" y="1261872"/>
            <a:ext cx="2761488" cy="3767328"/>
          </a:xfrm>
          <a:prstGeom prst="roundRect">
            <a:avLst/>
          </a:prstGeom>
          <a:solidFill>
            <a:srgbClr val="FFFFFF"/>
          </a:solidFill>
          <a:ln w="8255">
            <a:solidFill>
              <a:srgbClr val="CFE2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Oval 52"/>
          <p:cNvSpPr/>
          <p:nvPr/>
        </p:nvSpPr>
        <p:spPr>
          <a:xfrm>
            <a:off x="3273551" y="1371600"/>
            <a:ext cx="365760" cy="365760"/>
          </a:xfrm>
          <a:prstGeom prst="ellipse">
            <a:avLst/>
          </a:prstGeom>
          <a:solidFill>
            <a:srgbClr val="135EE1"/>
          </a:solidFill>
          <a:ln w="3810">
            <a:solidFill>
              <a:srgbClr val="135E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3226306" y="1419103"/>
            <a:ext cx="448055" cy="261610"/>
          </a:xfrm>
          <a:prstGeom prst="rect">
            <a:avLst/>
          </a:prstGeom>
          <a:noFill/>
        </p:spPr>
        <p:txBody>
          <a:bodyPr wrap="square" anchor="ctr">
            <a:spAutoFit/>
          </a:bodyPr>
          <a:lstStyle/>
          <a:p>
            <a:pPr algn="ctr"/>
            <a:r>
              <a:rPr sz="1100" b="1">
                <a:solidFill>
                  <a:srgbClr val="FFFFFF"/>
                </a:solidFill>
                <a:latin typeface="Arial"/>
              </a:rPr>
              <a:t>02</a:t>
            </a:r>
          </a:p>
        </p:txBody>
      </p:sp>
      <p:sp>
        <p:nvSpPr>
          <p:cNvPr id="55" name="TextBox 54"/>
          <p:cNvSpPr txBox="1"/>
          <p:nvPr/>
        </p:nvSpPr>
        <p:spPr>
          <a:xfrm>
            <a:off x="3749039" y="1426464"/>
            <a:ext cx="1975104" cy="256032"/>
          </a:xfrm>
          <a:prstGeom prst="rect">
            <a:avLst/>
          </a:prstGeom>
          <a:noFill/>
        </p:spPr>
        <p:txBody>
          <a:bodyPr wrap="square" anchor="ctr">
            <a:spAutoFit/>
          </a:bodyPr>
          <a:lstStyle/>
          <a:p>
            <a:pPr algn="l"/>
            <a:r>
              <a:rPr sz="1050" b="1">
                <a:solidFill>
                  <a:srgbClr val="04235B"/>
                </a:solidFill>
                <a:latin typeface="Arial"/>
              </a:rPr>
              <a:t>DANH MỤC SẢN PHẨM</a:t>
            </a:r>
          </a:p>
        </p:txBody>
      </p:sp>
      <p:sp>
        <p:nvSpPr>
          <p:cNvPr id="104" name="Rounded Rectangle 103"/>
          <p:cNvSpPr/>
          <p:nvPr/>
        </p:nvSpPr>
        <p:spPr>
          <a:xfrm>
            <a:off x="6053328" y="1261872"/>
            <a:ext cx="2761488" cy="3767328"/>
          </a:xfrm>
          <a:prstGeom prst="roundRect">
            <a:avLst/>
          </a:prstGeom>
          <a:solidFill>
            <a:srgbClr val="FFFFFF"/>
          </a:solidFill>
          <a:ln w="8255">
            <a:solidFill>
              <a:srgbClr val="CFE2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Oval 104"/>
          <p:cNvSpPr/>
          <p:nvPr/>
        </p:nvSpPr>
        <p:spPr>
          <a:xfrm>
            <a:off x="6199632" y="1371600"/>
            <a:ext cx="365760" cy="365760"/>
          </a:xfrm>
          <a:prstGeom prst="ellipse">
            <a:avLst/>
          </a:prstGeom>
          <a:solidFill>
            <a:srgbClr val="135EE1"/>
          </a:solidFill>
          <a:ln w="3810">
            <a:solidFill>
              <a:srgbClr val="135EE1"/>
            </a:solidFill>
          </a:ln>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endParaRPr lang="en-US">
              <a:ea typeface="Calibri"/>
              <a:cs typeface="Calibri"/>
            </a:endParaRPr>
          </a:p>
        </p:txBody>
      </p:sp>
      <p:sp>
        <p:nvSpPr>
          <p:cNvPr id="106" name="TextBox 105"/>
          <p:cNvSpPr txBox="1"/>
          <p:nvPr/>
        </p:nvSpPr>
        <p:spPr>
          <a:xfrm>
            <a:off x="6206188" y="1445199"/>
            <a:ext cx="383963" cy="261610"/>
          </a:xfrm>
          <a:prstGeom prst="rect">
            <a:avLst/>
          </a:prstGeom>
          <a:noFill/>
        </p:spPr>
        <p:txBody>
          <a:bodyPr wrap="square" anchor="ctr">
            <a:spAutoFit/>
          </a:bodyPr>
          <a:lstStyle/>
          <a:p>
            <a:pPr algn="ctr"/>
            <a:r>
              <a:rPr sz="1100" b="1">
                <a:solidFill>
                  <a:srgbClr val="FFFFFF"/>
                </a:solidFill>
                <a:latin typeface="Arial"/>
              </a:rPr>
              <a:t>03</a:t>
            </a:r>
          </a:p>
        </p:txBody>
      </p:sp>
      <p:sp>
        <p:nvSpPr>
          <p:cNvPr id="107" name="TextBox 106"/>
          <p:cNvSpPr txBox="1"/>
          <p:nvPr/>
        </p:nvSpPr>
        <p:spPr>
          <a:xfrm>
            <a:off x="6675120" y="1426464"/>
            <a:ext cx="1975104" cy="256032"/>
          </a:xfrm>
          <a:prstGeom prst="rect">
            <a:avLst/>
          </a:prstGeom>
          <a:noFill/>
        </p:spPr>
        <p:txBody>
          <a:bodyPr wrap="square" anchor="ctr">
            <a:spAutoFit/>
          </a:bodyPr>
          <a:lstStyle/>
          <a:p>
            <a:pPr algn="l"/>
            <a:r>
              <a:rPr sz="1050" b="1">
                <a:solidFill>
                  <a:srgbClr val="04235B"/>
                </a:solidFill>
                <a:latin typeface="Arial"/>
              </a:rPr>
              <a:t>CHI TIẾT SẢN PHẨM</a:t>
            </a:r>
          </a:p>
        </p:txBody>
      </p:sp>
      <p:sp>
        <p:nvSpPr>
          <p:cNvPr id="143" name="Rounded Rectangle 142"/>
          <p:cNvSpPr/>
          <p:nvPr/>
        </p:nvSpPr>
        <p:spPr>
          <a:xfrm>
            <a:off x="8979408" y="1261872"/>
            <a:ext cx="2761488" cy="3767328"/>
          </a:xfrm>
          <a:prstGeom prst="roundRect">
            <a:avLst/>
          </a:prstGeom>
          <a:solidFill>
            <a:srgbClr val="FFFFFF"/>
          </a:solidFill>
          <a:ln w="8255">
            <a:solidFill>
              <a:srgbClr val="CFE2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4" name="Oval 143"/>
          <p:cNvSpPr/>
          <p:nvPr/>
        </p:nvSpPr>
        <p:spPr>
          <a:xfrm>
            <a:off x="9125712" y="1371600"/>
            <a:ext cx="365760" cy="365760"/>
          </a:xfrm>
          <a:prstGeom prst="ellipse">
            <a:avLst/>
          </a:prstGeom>
          <a:solidFill>
            <a:srgbClr val="135EE1"/>
          </a:solidFill>
          <a:ln w="3810">
            <a:solidFill>
              <a:srgbClr val="135E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5" name="TextBox 144"/>
          <p:cNvSpPr txBox="1"/>
          <p:nvPr/>
        </p:nvSpPr>
        <p:spPr>
          <a:xfrm>
            <a:off x="9132268" y="1425170"/>
            <a:ext cx="415278" cy="259914"/>
          </a:xfrm>
          <a:prstGeom prst="rect">
            <a:avLst/>
          </a:prstGeom>
          <a:noFill/>
        </p:spPr>
        <p:txBody>
          <a:bodyPr wrap="square" anchor="ctr">
            <a:spAutoFit/>
          </a:bodyPr>
          <a:lstStyle/>
          <a:p>
            <a:pPr algn="ctr"/>
            <a:r>
              <a:rPr sz="1100" b="1">
                <a:solidFill>
                  <a:srgbClr val="FFFFFF"/>
                </a:solidFill>
                <a:latin typeface="Arial"/>
              </a:rPr>
              <a:t>04</a:t>
            </a:r>
          </a:p>
        </p:txBody>
      </p:sp>
      <p:sp>
        <p:nvSpPr>
          <p:cNvPr id="146" name="TextBox 145"/>
          <p:cNvSpPr txBox="1"/>
          <p:nvPr/>
        </p:nvSpPr>
        <p:spPr>
          <a:xfrm>
            <a:off x="9601200" y="1426464"/>
            <a:ext cx="1975104" cy="256032"/>
          </a:xfrm>
          <a:prstGeom prst="rect">
            <a:avLst/>
          </a:prstGeom>
          <a:noFill/>
        </p:spPr>
        <p:txBody>
          <a:bodyPr wrap="square" anchor="ctr">
            <a:spAutoFit/>
          </a:bodyPr>
          <a:lstStyle/>
          <a:p>
            <a:pPr algn="l"/>
            <a:r>
              <a:rPr sz="1050" b="1">
                <a:solidFill>
                  <a:srgbClr val="04235B"/>
                </a:solidFill>
                <a:latin typeface="Arial"/>
              </a:rPr>
              <a:t>GIỎ HÀNG / THANH TOÁN</a:t>
            </a:r>
          </a:p>
        </p:txBody>
      </p:sp>
      <p:sp>
        <p:nvSpPr>
          <p:cNvPr id="163" name="TextBox 162"/>
          <p:cNvSpPr txBox="1"/>
          <p:nvPr/>
        </p:nvSpPr>
        <p:spPr>
          <a:xfrm>
            <a:off x="9244584" y="4215384"/>
            <a:ext cx="2231136" cy="128016"/>
          </a:xfrm>
          <a:prstGeom prst="rect">
            <a:avLst/>
          </a:prstGeom>
          <a:noFill/>
        </p:spPr>
        <p:txBody>
          <a:bodyPr wrap="square" anchor="ctr">
            <a:spAutoFit/>
          </a:bodyPr>
          <a:lstStyle/>
          <a:p>
            <a:pPr algn="ctr"/>
            <a:r>
              <a:rPr sz="540" b="1">
                <a:solidFill>
                  <a:srgbClr val="FFFFFF"/>
                </a:solidFill>
                <a:latin typeface="Arial"/>
              </a:rPr>
              <a:t>THANH TOÁN</a:t>
            </a:r>
          </a:p>
        </p:txBody>
      </p:sp>
      <p:sp>
        <p:nvSpPr>
          <p:cNvPr id="169" name="Rounded Rectangle 168"/>
          <p:cNvSpPr/>
          <p:nvPr/>
        </p:nvSpPr>
        <p:spPr>
          <a:xfrm>
            <a:off x="210312" y="5230368"/>
            <a:ext cx="11475720" cy="1042415"/>
          </a:xfrm>
          <a:prstGeom prst="roundRect">
            <a:avLst/>
          </a:prstGeom>
          <a:solidFill>
            <a:srgbClr val="FFFFFF"/>
          </a:solidFill>
          <a:ln w="8255">
            <a:solidFill>
              <a:srgbClr val="CFE2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0" name="Oval 169"/>
          <p:cNvSpPr/>
          <p:nvPr/>
        </p:nvSpPr>
        <p:spPr>
          <a:xfrm>
            <a:off x="438911" y="5440680"/>
            <a:ext cx="621792" cy="621792"/>
          </a:xfrm>
          <a:prstGeom prst="ellipse">
            <a:avLst/>
          </a:prstGeom>
          <a:solidFill>
            <a:srgbClr val="135EE1"/>
          </a:solidFill>
          <a:ln w="2540">
            <a:solidFill>
              <a:srgbClr val="135E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1" name="Oval 170"/>
          <p:cNvSpPr/>
          <p:nvPr/>
        </p:nvSpPr>
        <p:spPr>
          <a:xfrm>
            <a:off x="578357" y="5582412"/>
            <a:ext cx="251460" cy="251460"/>
          </a:xfrm>
          <a:prstGeom prst="ellipse">
            <a:avLst/>
          </a:prstGeom>
          <a:solidFill>
            <a:srgbClr val="FFFFFF"/>
          </a:solidFill>
          <a:ln w="17780">
            <a:solidFill>
              <a:srgbClr val="135E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72" name="Connector 171"/>
          <p:cNvCxnSpPr/>
          <p:nvPr/>
        </p:nvCxnSpPr>
        <p:spPr>
          <a:xfrm>
            <a:off x="834088" y="5778347"/>
            <a:ext cx="137159" cy="137160"/>
          </a:xfrm>
          <a:prstGeom prst="line">
            <a:avLst/>
          </a:prstGeom>
          <a:ln w="19050">
            <a:solidFill>
              <a:srgbClr val="135EE1"/>
            </a:solidFill>
          </a:ln>
        </p:spPr>
        <p:style>
          <a:lnRef idx="2">
            <a:schemeClr val="accent1"/>
          </a:lnRef>
          <a:fillRef idx="0">
            <a:schemeClr val="accent1"/>
          </a:fillRef>
          <a:effectRef idx="1">
            <a:schemeClr val="accent1"/>
          </a:effectRef>
          <a:fontRef idx="minor">
            <a:schemeClr val="tx1"/>
          </a:fontRef>
        </p:style>
      </p:cxnSp>
      <p:sp>
        <p:nvSpPr>
          <p:cNvPr id="173" name="TextBox 172"/>
          <p:cNvSpPr txBox="1"/>
          <p:nvPr/>
        </p:nvSpPr>
        <p:spPr>
          <a:xfrm>
            <a:off x="1371600" y="5449824"/>
            <a:ext cx="1280160" cy="530352"/>
          </a:xfrm>
          <a:prstGeom prst="rect">
            <a:avLst/>
          </a:prstGeom>
          <a:noFill/>
        </p:spPr>
        <p:txBody>
          <a:bodyPr wrap="square" anchor="ctr">
            <a:spAutoFit/>
          </a:bodyPr>
          <a:lstStyle/>
          <a:p>
            <a:pPr algn="l"/>
            <a:r>
              <a:rPr sz="1150" b="1">
                <a:solidFill>
                  <a:srgbClr val="04235B"/>
                </a:solidFill>
                <a:latin typeface="Arial"/>
              </a:rPr>
              <a:t>ĐIỂM NỔI BẬT
TỪ KHẢO SÁT</a:t>
            </a:r>
          </a:p>
        </p:txBody>
      </p:sp>
      <p:cxnSp>
        <p:nvCxnSpPr>
          <p:cNvPr id="174" name="Connector 173"/>
          <p:cNvCxnSpPr/>
          <p:nvPr/>
        </p:nvCxnSpPr>
        <p:spPr>
          <a:xfrm>
            <a:off x="2788920" y="5394960"/>
            <a:ext cx="0" cy="713232"/>
          </a:xfrm>
          <a:prstGeom prst="line">
            <a:avLst/>
          </a:prstGeom>
          <a:ln w="10160">
            <a:solidFill>
              <a:srgbClr val="CFE2F7"/>
            </a:solidFill>
          </a:ln>
        </p:spPr>
        <p:style>
          <a:lnRef idx="2">
            <a:schemeClr val="accent1"/>
          </a:lnRef>
          <a:fillRef idx="0">
            <a:schemeClr val="accent1"/>
          </a:fillRef>
          <a:effectRef idx="1">
            <a:schemeClr val="accent1"/>
          </a:effectRef>
          <a:fontRef idx="minor">
            <a:schemeClr val="tx1"/>
          </a:fontRef>
        </p:style>
      </p:cxnSp>
      <p:sp>
        <p:nvSpPr>
          <p:cNvPr id="175" name="Oval 174"/>
          <p:cNvSpPr/>
          <p:nvPr/>
        </p:nvSpPr>
        <p:spPr>
          <a:xfrm>
            <a:off x="2971800" y="5504688"/>
            <a:ext cx="365760" cy="365760"/>
          </a:xfrm>
          <a:prstGeom prst="ellipse">
            <a:avLst/>
          </a:prstGeom>
          <a:solidFill>
            <a:srgbClr val="E9F5FF"/>
          </a:solidFill>
          <a:ln w="5080">
            <a:solidFill>
              <a:srgbClr val="CFE2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6" name="Rounded Rectangle 175"/>
          <p:cNvSpPr/>
          <p:nvPr/>
        </p:nvSpPr>
        <p:spPr>
          <a:xfrm>
            <a:off x="3044952" y="5608563"/>
            <a:ext cx="219456" cy="129479"/>
          </a:xfrm>
          <a:prstGeom prst="roundRect">
            <a:avLst/>
          </a:prstGeom>
          <a:solidFill>
            <a:srgbClr val="FFFFFF"/>
          </a:solidFill>
          <a:ln w="12700">
            <a:solidFill>
              <a:srgbClr val="135E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7" name="Rectangle 176"/>
          <p:cNvSpPr/>
          <p:nvPr/>
        </p:nvSpPr>
        <p:spPr>
          <a:xfrm>
            <a:off x="3108594" y="5744626"/>
            <a:ext cx="92171" cy="10972"/>
          </a:xfrm>
          <a:prstGeom prst="rect">
            <a:avLst/>
          </a:prstGeom>
          <a:solidFill>
            <a:srgbClr val="135E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8" name="TextBox 177"/>
          <p:cNvSpPr txBox="1"/>
          <p:nvPr/>
        </p:nvSpPr>
        <p:spPr>
          <a:xfrm>
            <a:off x="3429000" y="5431536"/>
            <a:ext cx="1508760" cy="201168"/>
          </a:xfrm>
          <a:prstGeom prst="rect">
            <a:avLst/>
          </a:prstGeom>
          <a:noFill/>
        </p:spPr>
        <p:txBody>
          <a:bodyPr wrap="square" anchor="ctr">
            <a:spAutoFit/>
          </a:bodyPr>
          <a:lstStyle/>
          <a:p>
            <a:pPr algn="l"/>
            <a:r>
              <a:rPr sz="760" b="1">
                <a:solidFill>
                  <a:srgbClr val="04235B"/>
                </a:solidFill>
                <a:latin typeface="Arial"/>
              </a:rPr>
              <a:t>Giao diện hiện đại</a:t>
            </a:r>
          </a:p>
        </p:txBody>
      </p:sp>
      <p:sp>
        <p:nvSpPr>
          <p:cNvPr id="179" name="TextBox 178"/>
          <p:cNvSpPr txBox="1"/>
          <p:nvPr/>
        </p:nvSpPr>
        <p:spPr>
          <a:xfrm>
            <a:off x="3429000" y="5669280"/>
            <a:ext cx="1508760" cy="384048"/>
          </a:xfrm>
          <a:prstGeom prst="rect">
            <a:avLst/>
          </a:prstGeom>
          <a:noFill/>
        </p:spPr>
        <p:txBody>
          <a:bodyPr wrap="square" anchor="ctr">
            <a:spAutoFit/>
          </a:bodyPr>
          <a:lstStyle/>
          <a:p>
            <a:pPr algn="l"/>
            <a:r>
              <a:rPr sz="640" b="0">
                <a:solidFill>
                  <a:srgbClr val="4D5E7D"/>
                </a:solidFill>
                <a:latin typeface="Arial"/>
              </a:rPr>
              <a:t>Bố cục khoa học, dễ nhìn,
trải nghiệm người dùng thân thiện.</a:t>
            </a:r>
          </a:p>
        </p:txBody>
      </p:sp>
      <p:cxnSp>
        <p:nvCxnSpPr>
          <p:cNvPr id="180" name="Connector 179"/>
          <p:cNvCxnSpPr/>
          <p:nvPr/>
        </p:nvCxnSpPr>
        <p:spPr>
          <a:xfrm>
            <a:off x="4983480" y="5413248"/>
            <a:ext cx="0" cy="685800"/>
          </a:xfrm>
          <a:prstGeom prst="line">
            <a:avLst/>
          </a:prstGeom>
          <a:ln w="8890">
            <a:solidFill>
              <a:srgbClr val="CFE2F7"/>
            </a:solidFill>
          </a:ln>
        </p:spPr>
        <p:style>
          <a:lnRef idx="2">
            <a:schemeClr val="accent1"/>
          </a:lnRef>
          <a:fillRef idx="0">
            <a:schemeClr val="accent1"/>
          </a:fillRef>
          <a:effectRef idx="1">
            <a:schemeClr val="accent1"/>
          </a:effectRef>
          <a:fontRef idx="minor">
            <a:schemeClr val="tx1"/>
          </a:fontRef>
        </p:style>
      </p:cxnSp>
      <p:sp>
        <p:nvSpPr>
          <p:cNvPr id="181" name="Oval 180"/>
          <p:cNvSpPr/>
          <p:nvPr/>
        </p:nvSpPr>
        <p:spPr>
          <a:xfrm>
            <a:off x="5111496" y="5504688"/>
            <a:ext cx="365760" cy="365760"/>
          </a:xfrm>
          <a:prstGeom prst="ellipse">
            <a:avLst/>
          </a:prstGeom>
          <a:solidFill>
            <a:srgbClr val="E9F5FF"/>
          </a:solidFill>
          <a:ln w="5080">
            <a:solidFill>
              <a:srgbClr val="CFE2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2" name="Rounded Rectangle 181"/>
          <p:cNvSpPr/>
          <p:nvPr/>
        </p:nvSpPr>
        <p:spPr>
          <a:xfrm>
            <a:off x="5184648" y="5627217"/>
            <a:ext cx="219456" cy="126187"/>
          </a:xfrm>
          <a:prstGeom prst="roundRect">
            <a:avLst/>
          </a:prstGeom>
          <a:solidFill>
            <a:srgbClr val="FFFFFF"/>
          </a:solidFill>
          <a:ln w="12700">
            <a:solidFill>
              <a:srgbClr val="135E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3" name="Rounded Rectangle 182"/>
          <p:cNvSpPr/>
          <p:nvPr/>
        </p:nvSpPr>
        <p:spPr>
          <a:xfrm>
            <a:off x="5208788" y="5608563"/>
            <a:ext cx="82296" cy="30723"/>
          </a:xfrm>
          <a:prstGeom prst="roundRect">
            <a:avLst/>
          </a:prstGeom>
          <a:solidFill>
            <a:srgbClr val="FFFFFF"/>
          </a:solidFill>
          <a:ln w="12700">
            <a:solidFill>
              <a:srgbClr val="135E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4" name="TextBox 183"/>
          <p:cNvSpPr txBox="1"/>
          <p:nvPr/>
        </p:nvSpPr>
        <p:spPr>
          <a:xfrm>
            <a:off x="5568696" y="5431536"/>
            <a:ext cx="1508760" cy="201168"/>
          </a:xfrm>
          <a:prstGeom prst="rect">
            <a:avLst/>
          </a:prstGeom>
          <a:noFill/>
        </p:spPr>
        <p:txBody>
          <a:bodyPr wrap="square" anchor="ctr">
            <a:spAutoFit/>
          </a:bodyPr>
          <a:lstStyle/>
          <a:p>
            <a:pPr algn="l"/>
            <a:r>
              <a:rPr sz="760" b="1">
                <a:solidFill>
                  <a:srgbClr val="04235B"/>
                </a:solidFill>
                <a:latin typeface="Arial"/>
              </a:rPr>
              <a:t>Sản phẩm chính hãng</a:t>
            </a:r>
          </a:p>
        </p:txBody>
      </p:sp>
      <p:sp>
        <p:nvSpPr>
          <p:cNvPr id="185" name="TextBox 184"/>
          <p:cNvSpPr txBox="1"/>
          <p:nvPr/>
        </p:nvSpPr>
        <p:spPr>
          <a:xfrm>
            <a:off x="5568696" y="5669280"/>
            <a:ext cx="1508760" cy="384048"/>
          </a:xfrm>
          <a:prstGeom prst="rect">
            <a:avLst/>
          </a:prstGeom>
          <a:noFill/>
        </p:spPr>
        <p:txBody>
          <a:bodyPr wrap="square" anchor="ctr">
            <a:spAutoFit/>
          </a:bodyPr>
          <a:lstStyle/>
          <a:p>
            <a:pPr algn="l"/>
            <a:r>
              <a:rPr sz="640" b="0">
                <a:solidFill>
                  <a:srgbClr val="4D5E7D"/>
                </a:solidFill>
                <a:latin typeface="Arial"/>
              </a:rPr>
              <a:t>Nhiều thương hiệu uy tín,
thông tin sản phẩm rõ ràng.</a:t>
            </a:r>
          </a:p>
        </p:txBody>
      </p:sp>
      <p:cxnSp>
        <p:nvCxnSpPr>
          <p:cNvPr id="186" name="Connector 185"/>
          <p:cNvCxnSpPr/>
          <p:nvPr/>
        </p:nvCxnSpPr>
        <p:spPr>
          <a:xfrm>
            <a:off x="7123176" y="5413248"/>
            <a:ext cx="0" cy="685800"/>
          </a:xfrm>
          <a:prstGeom prst="line">
            <a:avLst/>
          </a:prstGeom>
          <a:ln w="8890">
            <a:solidFill>
              <a:srgbClr val="CFE2F7"/>
            </a:solidFill>
          </a:ln>
        </p:spPr>
        <p:style>
          <a:lnRef idx="2">
            <a:schemeClr val="accent1"/>
          </a:lnRef>
          <a:fillRef idx="0">
            <a:schemeClr val="accent1"/>
          </a:fillRef>
          <a:effectRef idx="1">
            <a:schemeClr val="accent1"/>
          </a:effectRef>
          <a:fontRef idx="minor">
            <a:schemeClr val="tx1"/>
          </a:fontRef>
        </p:style>
      </p:cxnSp>
      <p:sp>
        <p:nvSpPr>
          <p:cNvPr id="187" name="Oval 186"/>
          <p:cNvSpPr/>
          <p:nvPr/>
        </p:nvSpPr>
        <p:spPr>
          <a:xfrm>
            <a:off x="7251191" y="5504688"/>
            <a:ext cx="365760" cy="365760"/>
          </a:xfrm>
          <a:prstGeom prst="ellipse">
            <a:avLst/>
          </a:prstGeom>
          <a:solidFill>
            <a:srgbClr val="E9F5FF"/>
          </a:solidFill>
          <a:ln w="5080">
            <a:solidFill>
              <a:srgbClr val="CFE2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8" name="Rounded Rectangle 187"/>
          <p:cNvSpPr/>
          <p:nvPr/>
        </p:nvSpPr>
        <p:spPr>
          <a:xfrm>
            <a:off x="7362748" y="5660136"/>
            <a:ext cx="115214" cy="60350"/>
          </a:xfrm>
          <a:prstGeom prst="roundRect">
            <a:avLst/>
          </a:prstGeom>
          <a:solidFill>
            <a:srgbClr val="FFFFFF"/>
          </a:solidFill>
          <a:ln w="12700">
            <a:solidFill>
              <a:srgbClr val="135E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9" name="Oval 188"/>
          <p:cNvSpPr/>
          <p:nvPr/>
        </p:nvSpPr>
        <p:spPr>
          <a:xfrm>
            <a:off x="7379207" y="5734751"/>
            <a:ext cx="26334" cy="26334"/>
          </a:xfrm>
          <a:prstGeom prst="ellipse">
            <a:avLst/>
          </a:prstGeom>
          <a:solidFill>
            <a:srgbClr val="135EE1"/>
          </a:solidFill>
          <a:ln w="3810">
            <a:solidFill>
              <a:srgbClr val="135E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0" name="Oval 189"/>
          <p:cNvSpPr/>
          <p:nvPr/>
        </p:nvSpPr>
        <p:spPr>
          <a:xfrm>
            <a:off x="7448336" y="5734751"/>
            <a:ext cx="26334" cy="26334"/>
          </a:xfrm>
          <a:prstGeom prst="ellipse">
            <a:avLst/>
          </a:prstGeom>
          <a:solidFill>
            <a:srgbClr val="135EE1"/>
          </a:solidFill>
          <a:ln w="3810">
            <a:solidFill>
              <a:srgbClr val="135E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1" name="TextBox 190"/>
          <p:cNvSpPr txBox="1"/>
          <p:nvPr/>
        </p:nvSpPr>
        <p:spPr>
          <a:xfrm>
            <a:off x="7708392" y="5431536"/>
            <a:ext cx="1508760" cy="201168"/>
          </a:xfrm>
          <a:prstGeom prst="rect">
            <a:avLst/>
          </a:prstGeom>
          <a:noFill/>
        </p:spPr>
        <p:txBody>
          <a:bodyPr wrap="square" anchor="ctr">
            <a:spAutoFit/>
          </a:bodyPr>
          <a:lstStyle/>
          <a:p>
            <a:pPr algn="l"/>
            <a:r>
              <a:rPr sz="760" b="1">
                <a:solidFill>
                  <a:srgbClr val="04235B"/>
                </a:solidFill>
                <a:latin typeface="Arial"/>
              </a:rPr>
              <a:t>Hỗ trợ giao hàng nhanh</a:t>
            </a:r>
          </a:p>
        </p:txBody>
      </p:sp>
      <p:sp>
        <p:nvSpPr>
          <p:cNvPr id="192" name="TextBox 191"/>
          <p:cNvSpPr txBox="1"/>
          <p:nvPr/>
        </p:nvSpPr>
        <p:spPr>
          <a:xfrm>
            <a:off x="7708392" y="5669280"/>
            <a:ext cx="1508760" cy="384048"/>
          </a:xfrm>
          <a:prstGeom prst="rect">
            <a:avLst/>
          </a:prstGeom>
          <a:noFill/>
        </p:spPr>
        <p:txBody>
          <a:bodyPr wrap="square" anchor="ctr">
            <a:spAutoFit/>
          </a:bodyPr>
          <a:lstStyle/>
          <a:p>
            <a:pPr algn="l"/>
            <a:r>
              <a:rPr sz="640" b="0">
                <a:solidFill>
                  <a:srgbClr val="4D5E7D"/>
                </a:solidFill>
                <a:latin typeface="Arial"/>
              </a:rPr>
              <a:t>Khu vực toàn quốc,
chính sách linh hoạt.</a:t>
            </a:r>
          </a:p>
        </p:txBody>
      </p:sp>
      <p:cxnSp>
        <p:nvCxnSpPr>
          <p:cNvPr id="193" name="Connector 192"/>
          <p:cNvCxnSpPr/>
          <p:nvPr/>
        </p:nvCxnSpPr>
        <p:spPr>
          <a:xfrm>
            <a:off x="9262872" y="5413248"/>
            <a:ext cx="0" cy="685800"/>
          </a:xfrm>
          <a:prstGeom prst="line">
            <a:avLst/>
          </a:prstGeom>
          <a:ln w="8890">
            <a:solidFill>
              <a:srgbClr val="CFE2F7"/>
            </a:solidFill>
          </a:ln>
        </p:spPr>
        <p:style>
          <a:lnRef idx="2">
            <a:schemeClr val="accent1"/>
          </a:lnRef>
          <a:fillRef idx="0">
            <a:schemeClr val="accent1"/>
          </a:fillRef>
          <a:effectRef idx="1">
            <a:schemeClr val="accent1"/>
          </a:effectRef>
          <a:fontRef idx="minor">
            <a:schemeClr val="tx1"/>
          </a:fontRef>
        </p:style>
      </p:cxnSp>
      <p:sp>
        <p:nvSpPr>
          <p:cNvPr id="194" name="Oval 193"/>
          <p:cNvSpPr/>
          <p:nvPr/>
        </p:nvSpPr>
        <p:spPr>
          <a:xfrm>
            <a:off x="9390888" y="5504688"/>
            <a:ext cx="365760" cy="365760"/>
          </a:xfrm>
          <a:prstGeom prst="ellipse">
            <a:avLst/>
          </a:prstGeom>
          <a:solidFill>
            <a:srgbClr val="E9F5FF"/>
          </a:solidFill>
          <a:ln w="5080">
            <a:solidFill>
              <a:srgbClr val="CFE2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5" name="Oval 194"/>
          <p:cNvSpPr/>
          <p:nvPr/>
        </p:nvSpPr>
        <p:spPr>
          <a:xfrm>
            <a:off x="9491472" y="5610758"/>
            <a:ext cx="120700" cy="120700"/>
          </a:xfrm>
          <a:prstGeom prst="ellipse">
            <a:avLst/>
          </a:prstGeom>
          <a:solidFill>
            <a:srgbClr val="FFFFFF"/>
          </a:solidFill>
          <a:ln w="17780">
            <a:solidFill>
              <a:srgbClr val="135E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96" name="Connector 195"/>
          <p:cNvCxnSpPr/>
          <p:nvPr/>
        </p:nvCxnSpPr>
        <p:spPr>
          <a:xfrm>
            <a:off x="9593519" y="5711708"/>
            <a:ext cx="65836" cy="65836"/>
          </a:xfrm>
          <a:prstGeom prst="line">
            <a:avLst/>
          </a:prstGeom>
          <a:ln w="19050">
            <a:solidFill>
              <a:srgbClr val="135EE1"/>
            </a:solidFill>
          </a:ln>
        </p:spPr>
        <p:style>
          <a:lnRef idx="2">
            <a:schemeClr val="accent1"/>
          </a:lnRef>
          <a:fillRef idx="0">
            <a:schemeClr val="accent1"/>
          </a:fillRef>
          <a:effectRef idx="1">
            <a:schemeClr val="accent1"/>
          </a:effectRef>
          <a:fontRef idx="minor">
            <a:schemeClr val="tx1"/>
          </a:fontRef>
        </p:style>
      </p:cxnSp>
      <p:sp>
        <p:nvSpPr>
          <p:cNvPr id="197" name="TextBox 196"/>
          <p:cNvSpPr txBox="1"/>
          <p:nvPr/>
        </p:nvSpPr>
        <p:spPr>
          <a:xfrm>
            <a:off x="9848088" y="5431536"/>
            <a:ext cx="1508760" cy="201168"/>
          </a:xfrm>
          <a:prstGeom prst="rect">
            <a:avLst/>
          </a:prstGeom>
          <a:noFill/>
        </p:spPr>
        <p:txBody>
          <a:bodyPr wrap="square" anchor="ctr">
            <a:spAutoFit/>
          </a:bodyPr>
          <a:lstStyle/>
          <a:p>
            <a:pPr algn="l"/>
            <a:r>
              <a:rPr sz="760" b="1">
                <a:solidFill>
                  <a:srgbClr val="04235B"/>
                </a:solidFill>
                <a:latin typeface="Arial"/>
              </a:rPr>
              <a:t>Dịch vụ hậu mãi tốt</a:t>
            </a:r>
          </a:p>
        </p:txBody>
      </p:sp>
      <p:sp>
        <p:nvSpPr>
          <p:cNvPr id="198" name="TextBox 197"/>
          <p:cNvSpPr txBox="1"/>
          <p:nvPr/>
        </p:nvSpPr>
        <p:spPr>
          <a:xfrm>
            <a:off x="9848088" y="5669280"/>
            <a:ext cx="1508760" cy="384048"/>
          </a:xfrm>
          <a:prstGeom prst="rect">
            <a:avLst/>
          </a:prstGeom>
          <a:noFill/>
        </p:spPr>
        <p:txBody>
          <a:bodyPr wrap="square" anchor="ctr">
            <a:spAutoFit/>
          </a:bodyPr>
          <a:lstStyle/>
          <a:p>
            <a:pPr algn="l"/>
            <a:r>
              <a:rPr sz="640" b="0">
                <a:solidFill>
                  <a:srgbClr val="4D5E7D"/>
                </a:solidFill>
                <a:latin typeface="Arial"/>
              </a:rPr>
              <a:t>Bảo hành chính hãng,
đội ngũ tư vấn chuyên nghiệp.</a:t>
            </a:r>
          </a:p>
        </p:txBody>
      </p:sp>
      <p:sp>
        <p:nvSpPr>
          <p:cNvPr id="199" name="TextBox 198"/>
          <p:cNvSpPr txBox="1"/>
          <p:nvPr/>
        </p:nvSpPr>
        <p:spPr>
          <a:xfrm>
            <a:off x="694944" y="6428232"/>
            <a:ext cx="1874519" cy="146304"/>
          </a:xfrm>
          <a:prstGeom prst="rect">
            <a:avLst/>
          </a:prstGeom>
          <a:noFill/>
        </p:spPr>
        <p:txBody>
          <a:bodyPr wrap="square" anchor="ctr">
            <a:spAutoFit/>
          </a:bodyPr>
          <a:lstStyle/>
          <a:p>
            <a:pPr algn="l"/>
            <a:r>
              <a:rPr sz="640" b="0">
                <a:solidFill>
                  <a:srgbClr val="04235B"/>
                </a:solidFill>
                <a:latin typeface="Arial"/>
              </a:rPr>
              <a:t>WEBSITE LAPTOP &amp; ACCESSORIES</a:t>
            </a:r>
          </a:p>
        </p:txBody>
      </p:sp>
      <p:cxnSp>
        <p:nvCxnSpPr>
          <p:cNvPr id="200" name="Connector 199"/>
          <p:cNvCxnSpPr/>
          <p:nvPr/>
        </p:nvCxnSpPr>
        <p:spPr>
          <a:xfrm>
            <a:off x="2697480" y="6501384"/>
            <a:ext cx="5989320" cy="0"/>
          </a:xfrm>
          <a:prstGeom prst="line">
            <a:avLst/>
          </a:prstGeom>
          <a:ln w="10160">
            <a:solidFill>
              <a:srgbClr val="70A1EC"/>
            </a:solidFill>
          </a:ln>
        </p:spPr>
        <p:style>
          <a:lnRef idx="2">
            <a:schemeClr val="accent1"/>
          </a:lnRef>
          <a:fillRef idx="0">
            <a:schemeClr val="accent1"/>
          </a:fillRef>
          <a:effectRef idx="1">
            <a:schemeClr val="accent1"/>
          </a:effectRef>
          <a:fontRef idx="minor">
            <a:schemeClr val="tx1"/>
          </a:fontRef>
        </p:style>
      </p:cxnSp>
      <p:sp>
        <p:nvSpPr>
          <p:cNvPr id="201" name="TextBox 200"/>
          <p:cNvSpPr txBox="1"/>
          <p:nvPr/>
        </p:nvSpPr>
        <p:spPr>
          <a:xfrm>
            <a:off x="8869680" y="6409944"/>
            <a:ext cx="2423160" cy="164592"/>
          </a:xfrm>
          <a:prstGeom prst="rect">
            <a:avLst/>
          </a:prstGeom>
          <a:noFill/>
        </p:spPr>
        <p:txBody>
          <a:bodyPr wrap="square" anchor="ctr">
            <a:spAutoFit/>
          </a:bodyPr>
          <a:lstStyle/>
          <a:p>
            <a:pPr algn="r"/>
            <a:r>
              <a:rPr sz="620" b="0">
                <a:solidFill>
                  <a:srgbClr val="5E91DC"/>
                </a:solidFill>
                <a:latin typeface="Arial"/>
              </a:rPr>
              <a:t>CÔNG NGHỆ CHO CUỘC SỐNG TỐT ĐẸP HƠN</a:t>
            </a:r>
          </a:p>
        </p:txBody>
      </p:sp>
      <p:pic>
        <p:nvPicPr>
          <p:cNvPr id="17" name="Picture 16">
            <a:extLst>
              <a:ext uri="{FF2B5EF4-FFF2-40B4-BE49-F238E27FC236}">
                <a16:creationId xmlns:a16="http://schemas.microsoft.com/office/drawing/2014/main" id="{506DE6C4-DB99-1C5E-AA4E-E56F067E959D}"/>
              </a:ext>
            </a:extLst>
          </p:cNvPr>
          <p:cNvPicPr>
            <a:picLocks noChangeAspect="1"/>
          </p:cNvPicPr>
          <p:nvPr/>
        </p:nvPicPr>
        <p:blipFill>
          <a:blip r:embed="rId2"/>
          <a:stretch>
            <a:fillRect/>
          </a:stretch>
        </p:blipFill>
        <p:spPr>
          <a:xfrm>
            <a:off x="292608" y="1909314"/>
            <a:ext cx="2580132" cy="2789240"/>
          </a:xfrm>
          <a:prstGeom prst="rect">
            <a:avLst/>
          </a:prstGeom>
        </p:spPr>
      </p:pic>
      <p:pic>
        <p:nvPicPr>
          <p:cNvPr id="18" name="Picture 17">
            <a:extLst>
              <a:ext uri="{FF2B5EF4-FFF2-40B4-BE49-F238E27FC236}">
                <a16:creationId xmlns:a16="http://schemas.microsoft.com/office/drawing/2014/main" id="{E2D2728C-BEE6-457E-79B5-8C14CFA9DAF5}"/>
              </a:ext>
            </a:extLst>
          </p:cNvPr>
          <p:cNvPicPr>
            <a:picLocks noChangeAspect="1"/>
          </p:cNvPicPr>
          <p:nvPr/>
        </p:nvPicPr>
        <p:blipFill>
          <a:blip r:embed="rId2"/>
          <a:stretch>
            <a:fillRect/>
          </a:stretch>
        </p:blipFill>
        <p:spPr>
          <a:xfrm>
            <a:off x="3215118" y="1909314"/>
            <a:ext cx="2583702" cy="2789240"/>
          </a:xfrm>
          <a:prstGeom prst="rect">
            <a:avLst/>
          </a:prstGeom>
        </p:spPr>
      </p:pic>
      <p:pic>
        <p:nvPicPr>
          <p:cNvPr id="19" name="Picture 18">
            <a:extLst>
              <a:ext uri="{FF2B5EF4-FFF2-40B4-BE49-F238E27FC236}">
                <a16:creationId xmlns:a16="http://schemas.microsoft.com/office/drawing/2014/main" id="{66109640-254A-51FF-9269-43B78EEF461A}"/>
              </a:ext>
            </a:extLst>
          </p:cNvPr>
          <p:cNvPicPr>
            <a:picLocks noChangeAspect="1"/>
          </p:cNvPicPr>
          <p:nvPr/>
        </p:nvPicPr>
        <p:blipFill>
          <a:blip r:embed="rId3"/>
          <a:stretch>
            <a:fillRect/>
          </a:stretch>
        </p:blipFill>
        <p:spPr>
          <a:xfrm>
            <a:off x="6165443" y="1938528"/>
            <a:ext cx="2537256" cy="2760026"/>
          </a:xfrm>
          <a:prstGeom prst="rect">
            <a:avLst/>
          </a:prstGeom>
        </p:spPr>
      </p:pic>
      <p:pic>
        <p:nvPicPr>
          <p:cNvPr id="20" name="Picture 19">
            <a:extLst>
              <a:ext uri="{FF2B5EF4-FFF2-40B4-BE49-F238E27FC236}">
                <a16:creationId xmlns:a16="http://schemas.microsoft.com/office/drawing/2014/main" id="{5D3CD152-B940-33C9-F4A7-81847A121B21}"/>
              </a:ext>
            </a:extLst>
          </p:cNvPr>
          <p:cNvPicPr>
            <a:picLocks noChangeAspect="1"/>
          </p:cNvPicPr>
          <p:nvPr/>
        </p:nvPicPr>
        <p:blipFill>
          <a:blip r:embed="rId4"/>
          <a:stretch>
            <a:fillRect/>
          </a:stretch>
        </p:blipFill>
        <p:spPr>
          <a:xfrm>
            <a:off x="9448038" y="1864558"/>
            <a:ext cx="1824228" cy="2982579"/>
          </a:xfrm>
          <a:prstGeom prst="rect">
            <a:avLst/>
          </a:prstGeom>
        </p:spPr>
      </p:pic>
      <p:pic>
        <p:nvPicPr>
          <p:cNvPr id="7" name="Picture 6" descr="A black background with orange and blue text&#10;&#10;Description automatically generated">
            <a:extLst>
              <a:ext uri="{FF2B5EF4-FFF2-40B4-BE49-F238E27FC236}">
                <a16:creationId xmlns:a16="http://schemas.microsoft.com/office/drawing/2014/main" id="{E6B9F1F5-C209-6538-EF09-F843DCF38DF6}"/>
              </a:ext>
            </a:extLst>
          </p:cNvPr>
          <p:cNvPicPr>
            <a:picLocks noChangeAspect="1"/>
          </p:cNvPicPr>
          <p:nvPr/>
        </p:nvPicPr>
        <p:blipFill>
          <a:blip r:embed="rId5"/>
          <a:stretch>
            <a:fillRect/>
          </a:stretch>
        </p:blipFill>
        <p:spPr>
          <a:xfrm>
            <a:off x="10777306" y="-88712"/>
            <a:ext cx="1164758" cy="1164758"/>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274320" y="182880"/>
            <a:ext cx="768096" cy="768096"/>
          </a:xfrm>
          <a:prstGeom prst="ellipse">
            <a:avLst/>
          </a:prstGeom>
          <a:solidFill>
            <a:srgbClr val="E8F5FF"/>
          </a:solidFill>
          <a:ln w="8890">
            <a:solidFill>
              <a:srgbClr val="D3E3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9184" y="329184"/>
            <a:ext cx="658368" cy="457200"/>
          </a:xfrm>
          <a:prstGeom prst="rect">
            <a:avLst/>
          </a:prstGeom>
          <a:noFill/>
        </p:spPr>
        <p:txBody>
          <a:bodyPr wrap="square" anchor="ctr">
            <a:spAutoFit/>
          </a:bodyPr>
          <a:lstStyle/>
          <a:p>
            <a:pPr algn="ctr"/>
            <a:r>
              <a:rPr sz="2700" b="1">
                <a:solidFill>
                  <a:srgbClr val="1A69E1"/>
                </a:solidFill>
                <a:latin typeface="Arial"/>
              </a:rPr>
              <a:t>02</a:t>
            </a:r>
          </a:p>
        </p:txBody>
      </p:sp>
      <p:sp>
        <p:nvSpPr>
          <p:cNvPr id="4" name="TextBox 3"/>
          <p:cNvSpPr txBox="1"/>
          <p:nvPr/>
        </p:nvSpPr>
        <p:spPr>
          <a:xfrm>
            <a:off x="1389888" y="164592"/>
            <a:ext cx="2286000" cy="228600"/>
          </a:xfrm>
          <a:prstGeom prst="rect">
            <a:avLst/>
          </a:prstGeom>
          <a:noFill/>
        </p:spPr>
        <p:txBody>
          <a:bodyPr wrap="square" anchor="ctr">
            <a:spAutoFit/>
          </a:bodyPr>
          <a:lstStyle/>
          <a:p>
            <a:pPr algn="l"/>
            <a:r>
              <a:rPr sz="1000" b="0">
                <a:solidFill>
                  <a:srgbClr val="1A69E1"/>
                </a:solidFill>
                <a:latin typeface="Arial"/>
              </a:rPr>
              <a:t>MỤC TIÊU DỰ ÁN</a:t>
            </a:r>
          </a:p>
        </p:txBody>
      </p:sp>
      <p:sp>
        <p:nvSpPr>
          <p:cNvPr id="5" name="TextBox 4"/>
          <p:cNvSpPr txBox="1"/>
          <p:nvPr/>
        </p:nvSpPr>
        <p:spPr>
          <a:xfrm>
            <a:off x="1389888" y="457200"/>
            <a:ext cx="6217920" cy="457200"/>
          </a:xfrm>
          <a:prstGeom prst="rect">
            <a:avLst/>
          </a:prstGeom>
          <a:noFill/>
        </p:spPr>
        <p:txBody>
          <a:bodyPr wrap="square" anchor="ctr">
            <a:spAutoFit/>
          </a:bodyPr>
          <a:lstStyle/>
          <a:p>
            <a:pPr algn="l"/>
            <a:r>
              <a:rPr sz="2800" b="1">
                <a:solidFill>
                  <a:srgbClr val="07275C"/>
                </a:solidFill>
                <a:latin typeface="Arial"/>
              </a:rPr>
              <a:t>Mục tiêu dự án</a:t>
            </a:r>
          </a:p>
        </p:txBody>
      </p:sp>
      <p:sp>
        <p:nvSpPr>
          <p:cNvPr id="6" name="TextBox 5"/>
          <p:cNvSpPr txBox="1"/>
          <p:nvPr/>
        </p:nvSpPr>
        <p:spPr>
          <a:xfrm>
            <a:off x="1389888" y="905256"/>
            <a:ext cx="6949440" cy="256032"/>
          </a:xfrm>
          <a:prstGeom prst="rect">
            <a:avLst/>
          </a:prstGeom>
          <a:noFill/>
        </p:spPr>
        <p:txBody>
          <a:bodyPr wrap="square" anchor="ctr">
            <a:spAutoFit/>
          </a:bodyPr>
          <a:lstStyle/>
          <a:p>
            <a:pPr algn="l"/>
            <a:r>
              <a:rPr sz="1100" b="0">
                <a:solidFill>
                  <a:srgbClr val="54657D"/>
                </a:solidFill>
                <a:latin typeface="Arial"/>
              </a:rPr>
              <a:t>Định hướng xây dựng website bán laptop &amp; phụ kiện</a:t>
            </a:r>
          </a:p>
        </p:txBody>
      </p:sp>
      <p:cxnSp>
        <p:nvCxnSpPr>
          <p:cNvPr id="7" name="Connector 6"/>
          <p:cNvCxnSpPr/>
          <p:nvPr/>
        </p:nvCxnSpPr>
        <p:spPr>
          <a:xfrm>
            <a:off x="7726679" y="640080"/>
            <a:ext cx="914401" cy="0"/>
          </a:xfrm>
          <a:prstGeom prst="line">
            <a:avLst/>
          </a:prstGeom>
          <a:ln w="12700">
            <a:solidFill>
              <a:srgbClr val="69A0EB"/>
            </a:solidFill>
          </a:ln>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8609076" y="608075"/>
            <a:ext cx="64008" cy="64008"/>
          </a:xfrm>
          <a:prstGeom prst="ellipse">
            <a:avLst/>
          </a:prstGeom>
          <a:solidFill>
            <a:srgbClr val="1A69E1"/>
          </a:solidFill>
          <a:ln w="2540">
            <a:solidFill>
              <a:srgbClr val="1A69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9" name="Connector 8"/>
          <p:cNvCxnSpPr/>
          <p:nvPr/>
        </p:nvCxnSpPr>
        <p:spPr>
          <a:xfrm flipV="1">
            <a:off x="8668512" y="429768"/>
            <a:ext cx="493776" cy="210312"/>
          </a:xfrm>
          <a:prstGeom prst="line">
            <a:avLst/>
          </a:prstGeom>
          <a:ln w="12700">
            <a:solidFill>
              <a:srgbClr val="69A0EB"/>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9125712" y="393192"/>
            <a:ext cx="73152" cy="73152"/>
          </a:xfrm>
          <a:prstGeom prst="ellipse">
            <a:avLst/>
          </a:prstGeom>
          <a:solidFill>
            <a:srgbClr val="1A69E1"/>
          </a:solidFill>
          <a:ln w="2540">
            <a:solidFill>
              <a:srgbClr val="1A69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685800" y="1417320"/>
            <a:ext cx="10835640" cy="1078992"/>
          </a:xfrm>
          <a:prstGeom prst="roundRect">
            <a:avLst/>
          </a:prstGeom>
          <a:solidFill>
            <a:srgbClr val="F8FBFF"/>
          </a:solidFill>
          <a:ln w="8890">
            <a:solidFill>
              <a:srgbClr val="D3E3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685800" y="1417320"/>
            <a:ext cx="91440" cy="1078992"/>
          </a:xfrm>
          <a:prstGeom prst="roundRect">
            <a:avLst/>
          </a:prstGeom>
          <a:solidFill>
            <a:srgbClr val="1A69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941832" y="1709928"/>
            <a:ext cx="493776" cy="493776"/>
          </a:xfrm>
          <a:prstGeom prst="ellipse">
            <a:avLst/>
          </a:prstGeom>
          <a:solidFill>
            <a:srgbClr val="E8F5FF"/>
          </a:solidFill>
          <a:ln w="12700">
            <a:solidFill>
              <a:srgbClr val="1A69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33271" y="1792224"/>
            <a:ext cx="310896" cy="320040"/>
          </a:xfrm>
          <a:prstGeom prst="rect">
            <a:avLst/>
          </a:prstGeom>
          <a:noFill/>
        </p:spPr>
        <p:txBody>
          <a:bodyPr wrap="square" anchor="ctr">
            <a:spAutoFit/>
          </a:bodyPr>
          <a:lstStyle/>
          <a:p>
            <a:pPr algn="ctr"/>
            <a:r>
              <a:rPr sz="1700" b="1">
                <a:solidFill>
                  <a:srgbClr val="1A69E1"/>
                </a:solidFill>
                <a:latin typeface="Arial"/>
              </a:rPr>
              <a:t>★</a:t>
            </a:r>
          </a:p>
        </p:txBody>
      </p:sp>
      <p:sp>
        <p:nvSpPr>
          <p:cNvPr id="15" name="TextBox 14"/>
          <p:cNvSpPr txBox="1"/>
          <p:nvPr/>
        </p:nvSpPr>
        <p:spPr>
          <a:xfrm>
            <a:off x="1627632" y="1609344"/>
            <a:ext cx="1828800" cy="219456"/>
          </a:xfrm>
          <a:prstGeom prst="rect">
            <a:avLst/>
          </a:prstGeom>
          <a:noFill/>
        </p:spPr>
        <p:txBody>
          <a:bodyPr wrap="square" anchor="ctr">
            <a:spAutoFit/>
          </a:bodyPr>
          <a:lstStyle/>
          <a:p>
            <a:pPr algn="l"/>
            <a:r>
              <a:rPr sz="1000" b="1">
                <a:solidFill>
                  <a:srgbClr val="1A69E1"/>
                </a:solidFill>
                <a:latin typeface="Arial"/>
              </a:rPr>
              <a:t>MỤC TIÊU TỔNG QUÁT</a:t>
            </a:r>
          </a:p>
        </p:txBody>
      </p:sp>
      <p:sp>
        <p:nvSpPr>
          <p:cNvPr id="16" name="TextBox 15"/>
          <p:cNvSpPr txBox="1"/>
          <p:nvPr/>
        </p:nvSpPr>
        <p:spPr>
          <a:xfrm>
            <a:off x="1627632" y="1865376"/>
            <a:ext cx="9235440" cy="402336"/>
          </a:xfrm>
          <a:prstGeom prst="rect">
            <a:avLst/>
          </a:prstGeom>
          <a:noFill/>
        </p:spPr>
        <p:txBody>
          <a:bodyPr wrap="square" anchor="ctr">
            <a:spAutoFit/>
          </a:bodyPr>
          <a:lstStyle/>
          <a:p>
            <a:pPr algn="l"/>
            <a:r>
              <a:rPr sz="1400" b="1">
                <a:solidFill>
                  <a:srgbClr val="07275C"/>
                </a:solidFill>
                <a:latin typeface="Arial"/>
              </a:rPr>
              <a:t>Xây dựng một website thương mại điện tử chuyên nghiệp, giúp khách hàng dễ dàng tìm kiếm, lựa chọn và mua laptop, phụ kiện công nghệ trực tuyến.</a:t>
            </a:r>
          </a:p>
        </p:txBody>
      </p:sp>
      <p:sp>
        <p:nvSpPr>
          <p:cNvPr id="17" name="Rounded Rectangle 16"/>
          <p:cNvSpPr/>
          <p:nvPr/>
        </p:nvSpPr>
        <p:spPr>
          <a:xfrm>
            <a:off x="685800" y="2761488"/>
            <a:ext cx="5321808" cy="1143000"/>
          </a:xfrm>
          <a:prstGeom prst="roundRect">
            <a:avLst/>
          </a:prstGeom>
          <a:solidFill>
            <a:srgbClr val="FFFFFF"/>
          </a:solidFill>
          <a:ln w="8890">
            <a:solidFill>
              <a:srgbClr val="D3E3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877824" y="3081528"/>
            <a:ext cx="493776" cy="493776"/>
          </a:xfrm>
          <a:prstGeom prst="ellipse">
            <a:avLst/>
          </a:prstGeom>
          <a:solidFill>
            <a:srgbClr val="1A69E1"/>
          </a:solidFill>
          <a:ln w="2540">
            <a:solidFill>
              <a:srgbClr val="1A69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50976" y="3172968"/>
            <a:ext cx="347472" cy="310896"/>
          </a:xfrm>
          <a:prstGeom prst="rect">
            <a:avLst/>
          </a:prstGeom>
          <a:noFill/>
        </p:spPr>
        <p:txBody>
          <a:bodyPr wrap="square" anchor="ctr">
            <a:spAutoFit/>
          </a:bodyPr>
          <a:lstStyle/>
          <a:p>
            <a:pPr algn="ctr"/>
            <a:r>
              <a:rPr sz="1100" b="1">
                <a:solidFill>
                  <a:srgbClr val="FFFFFF"/>
                </a:solidFill>
                <a:latin typeface="Arial"/>
              </a:rPr>
              <a:t>01</a:t>
            </a:r>
          </a:p>
        </p:txBody>
      </p:sp>
      <p:sp>
        <p:nvSpPr>
          <p:cNvPr id="20" name="TextBox 19"/>
          <p:cNvSpPr txBox="1"/>
          <p:nvPr/>
        </p:nvSpPr>
        <p:spPr>
          <a:xfrm>
            <a:off x="1527048" y="2962656"/>
            <a:ext cx="4160520" cy="246888"/>
          </a:xfrm>
          <a:prstGeom prst="rect">
            <a:avLst/>
          </a:prstGeom>
          <a:noFill/>
        </p:spPr>
        <p:txBody>
          <a:bodyPr wrap="square" anchor="ctr">
            <a:spAutoFit/>
          </a:bodyPr>
          <a:lstStyle/>
          <a:p>
            <a:pPr algn="l"/>
            <a:r>
              <a:rPr sz="1200" b="1">
                <a:solidFill>
                  <a:srgbClr val="07275C"/>
                </a:solidFill>
                <a:latin typeface="Arial"/>
              </a:rPr>
              <a:t>Trải nghiệm người dùng</a:t>
            </a:r>
          </a:p>
        </p:txBody>
      </p:sp>
      <p:sp>
        <p:nvSpPr>
          <p:cNvPr id="21" name="TextBox 20"/>
          <p:cNvSpPr txBox="1"/>
          <p:nvPr/>
        </p:nvSpPr>
        <p:spPr>
          <a:xfrm>
            <a:off x="1527048" y="3255264"/>
            <a:ext cx="4160520" cy="448056"/>
          </a:xfrm>
          <a:prstGeom prst="rect">
            <a:avLst/>
          </a:prstGeom>
          <a:noFill/>
        </p:spPr>
        <p:txBody>
          <a:bodyPr wrap="square" anchor="ctr">
            <a:spAutoFit/>
          </a:bodyPr>
          <a:lstStyle/>
          <a:p>
            <a:pPr algn="l"/>
            <a:r>
              <a:rPr sz="919" b="0">
                <a:solidFill>
                  <a:srgbClr val="54657D"/>
                </a:solidFill>
                <a:latin typeface="Arial"/>
              </a:rPr>
              <a:t>Thiết kế giao diện hiện đại, trực quan, dễ sử dụng trên máy tính và thiết bị di động.</a:t>
            </a:r>
          </a:p>
        </p:txBody>
      </p:sp>
      <p:sp>
        <p:nvSpPr>
          <p:cNvPr id="22" name="Rounded Rectangle 21"/>
          <p:cNvSpPr/>
          <p:nvPr/>
        </p:nvSpPr>
        <p:spPr>
          <a:xfrm>
            <a:off x="6199632" y="2761488"/>
            <a:ext cx="5321808" cy="1143000"/>
          </a:xfrm>
          <a:prstGeom prst="roundRect">
            <a:avLst/>
          </a:prstGeom>
          <a:solidFill>
            <a:srgbClr val="FFFFFF"/>
          </a:solidFill>
          <a:ln w="8890">
            <a:solidFill>
              <a:srgbClr val="D3E3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6391656" y="3081528"/>
            <a:ext cx="493776" cy="493776"/>
          </a:xfrm>
          <a:prstGeom prst="ellipse">
            <a:avLst/>
          </a:prstGeom>
          <a:solidFill>
            <a:srgbClr val="1A69E1"/>
          </a:solidFill>
          <a:ln w="2540">
            <a:solidFill>
              <a:srgbClr val="1A69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64808" y="3172968"/>
            <a:ext cx="347472" cy="310896"/>
          </a:xfrm>
          <a:prstGeom prst="rect">
            <a:avLst/>
          </a:prstGeom>
          <a:noFill/>
        </p:spPr>
        <p:txBody>
          <a:bodyPr wrap="square" anchor="ctr">
            <a:spAutoFit/>
          </a:bodyPr>
          <a:lstStyle/>
          <a:p>
            <a:pPr algn="ctr"/>
            <a:r>
              <a:rPr sz="1100" b="1">
                <a:solidFill>
                  <a:srgbClr val="FFFFFF"/>
                </a:solidFill>
                <a:latin typeface="Arial"/>
              </a:rPr>
              <a:t>02</a:t>
            </a:r>
          </a:p>
        </p:txBody>
      </p:sp>
      <p:sp>
        <p:nvSpPr>
          <p:cNvPr id="25" name="TextBox 24"/>
          <p:cNvSpPr txBox="1"/>
          <p:nvPr/>
        </p:nvSpPr>
        <p:spPr>
          <a:xfrm>
            <a:off x="7040880" y="2962656"/>
            <a:ext cx="4160520" cy="246888"/>
          </a:xfrm>
          <a:prstGeom prst="rect">
            <a:avLst/>
          </a:prstGeom>
          <a:noFill/>
        </p:spPr>
        <p:txBody>
          <a:bodyPr wrap="square" anchor="ctr">
            <a:spAutoFit/>
          </a:bodyPr>
          <a:lstStyle/>
          <a:p>
            <a:pPr algn="l"/>
            <a:r>
              <a:rPr sz="1200" b="1">
                <a:solidFill>
                  <a:srgbClr val="07275C"/>
                </a:solidFill>
                <a:latin typeface="Arial"/>
              </a:rPr>
              <a:t>Quản lý sản phẩm</a:t>
            </a:r>
          </a:p>
        </p:txBody>
      </p:sp>
      <p:sp>
        <p:nvSpPr>
          <p:cNvPr id="26" name="TextBox 25"/>
          <p:cNvSpPr txBox="1"/>
          <p:nvPr/>
        </p:nvSpPr>
        <p:spPr>
          <a:xfrm>
            <a:off x="7040880" y="3255264"/>
            <a:ext cx="4160520" cy="448056"/>
          </a:xfrm>
          <a:prstGeom prst="rect">
            <a:avLst/>
          </a:prstGeom>
          <a:noFill/>
        </p:spPr>
        <p:txBody>
          <a:bodyPr wrap="square" anchor="ctr">
            <a:spAutoFit/>
          </a:bodyPr>
          <a:lstStyle/>
          <a:p>
            <a:pPr algn="l"/>
            <a:r>
              <a:rPr sz="919" b="0">
                <a:solidFill>
                  <a:srgbClr val="54657D"/>
                </a:solidFill>
                <a:latin typeface="Arial"/>
              </a:rPr>
              <a:t>Hiển thị danh mục, thông số, giá bán, khuyến mãi và tình trạng sản phẩm rõ ràng.</a:t>
            </a:r>
          </a:p>
        </p:txBody>
      </p:sp>
      <p:sp>
        <p:nvSpPr>
          <p:cNvPr id="27" name="Rounded Rectangle 26"/>
          <p:cNvSpPr/>
          <p:nvPr/>
        </p:nvSpPr>
        <p:spPr>
          <a:xfrm>
            <a:off x="685800" y="4160520"/>
            <a:ext cx="5321808" cy="1143000"/>
          </a:xfrm>
          <a:prstGeom prst="roundRect">
            <a:avLst/>
          </a:prstGeom>
          <a:solidFill>
            <a:srgbClr val="FFFFFF"/>
          </a:solidFill>
          <a:ln w="8890">
            <a:solidFill>
              <a:srgbClr val="D3E3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877824" y="4480560"/>
            <a:ext cx="493776" cy="493776"/>
          </a:xfrm>
          <a:prstGeom prst="ellipse">
            <a:avLst/>
          </a:prstGeom>
          <a:solidFill>
            <a:srgbClr val="1A69E1"/>
          </a:solidFill>
          <a:ln w="2540">
            <a:solidFill>
              <a:srgbClr val="1A69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50976" y="4572000"/>
            <a:ext cx="347472" cy="310896"/>
          </a:xfrm>
          <a:prstGeom prst="rect">
            <a:avLst/>
          </a:prstGeom>
          <a:noFill/>
        </p:spPr>
        <p:txBody>
          <a:bodyPr wrap="square" anchor="ctr">
            <a:spAutoFit/>
          </a:bodyPr>
          <a:lstStyle/>
          <a:p>
            <a:pPr algn="ctr"/>
            <a:r>
              <a:rPr sz="1100" b="1">
                <a:solidFill>
                  <a:srgbClr val="FFFFFF"/>
                </a:solidFill>
                <a:latin typeface="Arial"/>
              </a:rPr>
              <a:t>03</a:t>
            </a:r>
          </a:p>
        </p:txBody>
      </p:sp>
      <p:sp>
        <p:nvSpPr>
          <p:cNvPr id="30" name="TextBox 29"/>
          <p:cNvSpPr txBox="1"/>
          <p:nvPr/>
        </p:nvSpPr>
        <p:spPr>
          <a:xfrm>
            <a:off x="1527048" y="4361688"/>
            <a:ext cx="4160520" cy="246888"/>
          </a:xfrm>
          <a:prstGeom prst="rect">
            <a:avLst/>
          </a:prstGeom>
          <a:noFill/>
        </p:spPr>
        <p:txBody>
          <a:bodyPr wrap="square" anchor="ctr">
            <a:spAutoFit/>
          </a:bodyPr>
          <a:lstStyle/>
          <a:p>
            <a:pPr algn="l"/>
            <a:r>
              <a:rPr sz="1200" b="1">
                <a:solidFill>
                  <a:srgbClr val="07275C"/>
                </a:solidFill>
                <a:latin typeface="Arial"/>
              </a:rPr>
              <a:t>Mua hàng thuận tiện</a:t>
            </a:r>
          </a:p>
        </p:txBody>
      </p:sp>
      <p:sp>
        <p:nvSpPr>
          <p:cNvPr id="31" name="TextBox 30"/>
          <p:cNvSpPr txBox="1"/>
          <p:nvPr/>
        </p:nvSpPr>
        <p:spPr>
          <a:xfrm>
            <a:off x="1527048" y="4654296"/>
            <a:ext cx="4160520" cy="448056"/>
          </a:xfrm>
          <a:prstGeom prst="rect">
            <a:avLst/>
          </a:prstGeom>
          <a:noFill/>
        </p:spPr>
        <p:txBody>
          <a:bodyPr wrap="square" anchor="ctr">
            <a:spAutoFit/>
          </a:bodyPr>
          <a:lstStyle/>
          <a:p>
            <a:pPr algn="l"/>
            <a:r>
              <a:rPr sz="919" b="0">
                <a:solidFill>
                  <a:srgbClr val="54657D"/>
                </a:solidFill>
                <a:latin typeface="Arial"/>
              </a:rPr>
              <a:t>Xây dựng giỏ hàng và quy trình đặt hàng đơn giản, nhanh chóng, dễ theo dõi.</a:t>
            </a:r>
          </a:p>
        </p:txBody>
      </p:sp>
      <p:sp>
        <p:nvSpPr>
          <p:cNvPr id="32" name="Rounded Rectangle 31"/>
          <p:cNvSpPr/>
          <p:nvPr/>
        </p:nvSpPr>
        <p:spPr>
          <a:xfrm>
            <a:off x="6199632" y="4160520"/>
            <a:ext cx="5321808" cy="1143000"/>
          </a:xfrm>
          <a:prstGeom prst="roundRect">
            <a:avLst/>
          </a:prstGeom>
          <a:solidFill>
            <a:srgbClr val="FFFFFF"/>
          </a:solidFill>
          <a:ln w="8890">
            <a:solidFill>
              <a:srgbClr val="D3E3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6391656" y="4480560"/>
            <a:ext cx="493776" cy="493776"/>
          </a:xfrm>
          <a:prstGeom prst="ellipse">
            <a:avLst/>
          </a:prstGeom>
          <a:solidFill>
            <a:srgbClr val="1A69E1"/>
          </a:solidFill>
          <a:ln w="2540">
            <a:solidFill>
              <a:srgbClr val="1A69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464808" y="4572000"/>
            <a:ext cx="347472" cy="310896"/>
          </a:xfrm>
          <a:prstGeom prst="rect">
            <a:avLst/>
          </a:prstGeom>
          <a:noFill/>
        </p:spPr>
        <p:txBody>
          <a:bodyPr wrap="square" anchor="ctr">
            <a:spAutoFit/>
          </a:bodyPr>
          <a:lstStyle/>
          <a:p>
            <a:pPr algn="ctr"/>
            <a:r>
              <a:rPr sz="1100" b="1">
                <a:solidFill>
                  <a:srgbClr val="FFFFFF"/>
                </a:solidFill>
                <a:latin typeface="Arial"/>
              </a:rPr>
              <a:t>04</a:t>
            </a:r>
          </a:p>
        </p:txBody>
      </p:sp>
      <p:sp>
        <p:nvSpPr>
          <p:cNvPr id="35" name="TextBox 34"/>
          <p:cNvSpPr txBox="1"/>
          <p:nvPr/>
        </p:nvSpPr>
        <p:spPr>
          <a:xfrm>
            <a:off x="7040880" y="4361688"/>
            <a:ext cx="4160520" cy="246888"/>
          </a:xfrm>
          <a:prstGeom prst="rect">
            <a:avLst/>
          </a:prstGeom>
          <a:noFill/>
        </p:spPr>
        <p:txBody>
          <a:bodyPr wrap="square" anchor="ctr">
            <a:spAutoFit/>
          </a:bodyPr>
          <a:lstStyle/>
          <a:p>
            <a:pPr algn="l"/>
            <a:r>
              <a:rPr sz="1200" b="1">
                <a:solidFill>
                  <a:srgbClr val="07275C"/>
                </a:solidFill>
                <a:latin typeface="Arial"/>
              </a:rPr>
              <a:t>Quản trị hiệu quả</a:t>
            </a:r>
          </a:p>
        </p:txBody>
      </p:sp>
      <p:sp>
        <p:nvSpPr>
          <p:cNvPr id="36" name="TextBox 35"/>
          <p:cNvSpPr txBox="1"/>
          <p:nvPr/>
        </p:nvSpPr>
        <p:spPr>
          <a:xfrm>
            <a:off x="7040880" y="4654296"/>
            <a:ext cx="4160520" cy="448056"/>
          </a:xfrm>
          <a:prstGeom prst="rect">
            <a:avLst/>
          </a:prstGeom>
          <a:noFill/>
        </p:spPr>
        <p:txBody>
          <a:bodyPr wrap="square" anchor="ctr">
            <a:spAutoFit/>
          </a:bodyPr>
          <a:lstStyle/>
          <a:p>
            <a:pPr algn="l"/>
            <a:r>
              <a:rPr sz="919" b="0">
                <a:solidFill>
                  <a:srgbClr val="54657D"/>
                </a:solidFill>
                <a:latin typeface="Arial"/>
              </a:rPr>
              <a:t>Hỗ trợ quản lý sản phẩm, đơn hàng, khách hàng và nội dung website thuận tiện.</a:t>
            </a:r>
          </a:p>
        </p:txBody>
      </p:sp>
      <p:sp>
        <p:nvSpPr>
          <p:cNvPr id="37" name="Rounded Rectangle 36"/>
          <p:cNvSpPr/>
          <p:nvPr/>
        </p:nvSpPr>
        <p:spPr>
          <a:xfrm>
            <a:off x="685800" y="5577840"/>
            <a:ext cx="10835640" cy="566928"/>
          </a:xfrm>
          <a:prstGeom prst="roundRect">
            <a:avLst/>
          </a:prstGeom>
          <a:solidFill>
            <a:srgbClr val="E8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41832" y="5678424"/>
            <a:ext cx="1645920" cy="182880"/>
          </a:xfrm>
          <a:prstGeom prst="rect">
            <a:avLst/>
          </a:prstGeom>
          <a:noFill/>
        </p:spPr>
        <p:txBody>
          <a:bodyPr wrap="square" anchor="ctr">
            <a:spAutoFit/>
          </a:bodyPr>
          <a:lstStyle/>
          <a:p>
            <a:pPr algn="l"/>
            <a:r>
              <a:rPr sz="900" b="1">
                <a:solidFill>
                  <a:srgbClr val="1A69E1"/>
                </a:solidFill>
                <a:latin typeface="Arial"/>
              </a:rPr>
              <a:t>KẾT QUẢ HƯỚNG TỚI</a:t>
            </a:r>
          </a:p>
        </p:txBody>
      </p:sp>
      <p:sp>
        <p:nvSpPr>
          <p:cNvPr id="39" name="TextBox 38"/>
          <p:cNvSpPr txBox="1"/>
          <p:nvPr/>
        </p:nvSpPr>
        <p:spPr>
          <a:xfrm>
            <a:off x="2587752" y="5623560"/>
            <a:ext cx="8549640" cy="292608"/>
          </a:xfrm>
          <a:prstGeom prst="rect">
            <a:avLst/>
          </a:prstGeom>
          <a:noFill/>
        </p:spPr>
        <p:txBody>
          <a:bodyPr wrap="square" anchor="ctr">
            <a:spAutoFit/>
          </a:bodyPr>
          <a:lstStyle/>
          <a:p>
            <a:pPr algn="l"/>
            <a:r>
              <a:rPr sz="919" b="1">
                <a:solidFill>
                  <a:srgbClr val="07275C"/>
                </a:solidFill>
                <a:latin typeface="Arial"/>
              </a:rPr>
              <a:t>Website ổn định  •  Giao diện dễ dùng  •  Thông tin minh bạch  •  Quy trình mua hàng thuận tiện</a:t>
            </a:r>
          </a:p>
        </p:txBody>
      </p:sp>
      <p:cxnSp>
        <p:nvCxnSpPr>
          <p:cNvPr id="40" name="Connector 39"/>
          <p:cNvCxnSpPr/>
          <p:nvPr/>
        </p:nvCxnSpPr>
        <p:spPr>
          <a:xfrm>
            <a:off x="685800" y="6382512"/>
            <a:ext cx="10835640" cy="0"/>
          </a:xfrm>
          <a:prstGeom prst="line">
            <a:avLst/>
          </a:prstGeom>
          <a:ln w="12700">
            <a:solidFill>
              <a:srgbClr val="CDDEEF"/>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685800" y="6473952"/>
            <a:ext cx="2743200" cy="164592"/>
          </a:xfrm>
          <a:prstGeom prst="rect">
            <a:avLst/>
          </a:prstGeom>
          <a:noFill/>
        </p:spPr>
        <p:txBody>
          <a:bodyPr wrap="square" anchor="ctr">
            <a:spAutoFit/>
          </a:bodyPr>
          <a:lstStyle/>
          <a:p>
            <a:pPr algn="l"/>
            <a:r>
              <a:rPr sz="700" b="0">
                <a:solidFill>
                  <a:srgbClr val="54657D"/>
                </a:solidFill>
                <a:latin typeface="Arial"/>
              </a:rPr>
              <a:t>WEBSITE LAPTOP &amp; ACCESSORIES</a:t>
            </a:r>
          </a:p>
        </p:txBody>
      </p:sp>
      <p:pic>
        <p:nvPicPr>
          <p:cNvPr id="43" name="Picture 42" descr="A black background with orange and blue text&#10;&#10;Description automatically generated">
            <a:extLst>
              <a:ext uri="{FF2B5EF4-FFF2-40B4-BE49-F238E27FC236}">
                <a16:creationId xmlns:a16="http://schemas.microsoft.com/office/drawing/2014/main" id="{6152740A-1B9F-5B67-74BB-63E11EB8810E}"/>
              </a:ext>
            </a:extLst>
          </p:cNvPr>
          <p:cNvPicPr>
            <a:picLocks noChangeAspect="1"/>
          </p:cNvPicPr>
          <p:nvPr/>
        </p:nvPicPr>
        <p:blipFill>
          <a:blip r:embed="rId2"/>
          <a:stretch>
            <a:fillRect/>
          </a:stretch>
        </p:blipFill>
        <p:spPr>
          <a:xfrm>
            <a:off x="10777306" y="-88712"/>
            <a:ext cx="1164758" cy="1164758"/>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292607" y="182879"/>
            <a:ext cx="694944" cy="694944"/>
          </a:xfrm>
          <a:prstGeom prst="ellipse">
            <a:avLst/>
          </a:prstGeom>
          <a:solidFill>
            <a:srgbClr val="E7F4FF"/>
          </a:solidFill>
          <a:ln w="8890">
            <a:solidFill>
              <a:srgbClr val="D3E3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47472" y="320040"/>
            <a:ext cx="585216" cy="402336"/>
          </a:xfrm>
          <a:prstGeom prst="rect">
            <a:avLst/>
          </a:prstGeom>
          <a:noFill/>
        </p:spPr>
        <p:txBody>
          <a:bodyPr wrap="square" anchor="ctr">
            <a:spAutoFit/>
          </a:bodyPr>
          <a:lstStyle/>
          <a:p>
            <a:pPr algn="ctr"/>
            <a:r>
              <a:rPr sz="2400" b="1">
                <a:solidFill>
                  <a:srgbClr val="1969E1"/>
                </a:solidFill>
                <a:latin typeface="Arial"/>
              </a:rPr>
              <a:t>02</a:t>
            </a:r>
          </a:p>
        </p:txBody>
      </p:sp>
      <p:sp>
        <p:nvSpPr>
          <p:cNvPr id="4" name="TextBox 3"/>
          <p:cNvSpPr txBox="1"/>
          <p:nvPr/>
        </p:nvSpPr>
        <p:spPr>
          <a:xfrm>
            <a:off x="1325880" y="164592"/>
            <a:ext cx="2743200" cy="201168"/>
          </a:xfrm>
          <a:prstGeom prst="rect">
            <a:avLst/>
          </a:prstGeom>
          <a:noFill/>
        </p:spPr>
        <p:txBody>
          <a:bodyPr wrap="square" anchor="ctr">
            <a:spAutoFit/>
          </a:bodyPr>
          <a:lstStyle/>
          <a:p>
            <a:pPr algn="l"/>
            <a:r>
              <a:rPr sz="950" b="0">
                <a:solidFill>
                  <a:srgbClr val="1969E1"/>
                </a:solidFill>
                <a:latin typeface="Arial"/>
              </a:rPr>
              <a:t>MỤC TIÊU DỰ ÁN</a:t>
            </a:r>
          </a:p>
        </p:txBody>
      </p:sp>
      <p:sp>
        <p:nvSpPr>
          <p:cNvPr id="5" name="TextBox 4"/>
          <p:cNvSpPr txBox="1"/>
          <p:nvPr/>
        </p:nvSpPr>
        <p:spPr>
          <a:xfrm>
            <a:off x="1325880" y="429768"/>
            <a:ext cx="8961120" cy="438912"/>
          </a:xfrm>
          <a:prstGeom prst="rect">
            <a:avLst/>
          </a:prstGeom>
          <a:noFill/>
        </p:spPr>
        <p:txBody>
          <a:bodyPr wrap="square" anchor="ctr">
            <a:spAutoFit/>
          </a:bodyPr>
          <a:lstStyle/>
          <a:p>
            <a:pPr algn="l"/>
            <a:r>
              <a:rPr sz="2300" b="1">
                <a:solidFill>
                  <a:srgbClr val="07275C"/>
                </a:solidFill>
                <a:latin typeface="Arial"/>
              </a:rPr>
              <a:t>Đáp ứng nhu cầu người dùng &amp; tối ưu trải nghiệm mua sắm</a:t>
            </a:r>
          </a:p>
        </p:txBody>
      </p:sp>
      <p:sp>
        <p:nvSpPr>
          <p:cNvPr id="6" name="TextBox 5"/>
          <p:cNvSpPr txBox="1"/>
          <p:nvPr/>
        </p:nvSpPr>
        <p:spPr>
          <a:xfrm>
            <a:off x="1325880" y="859536"/>
            <a:ext cx="7680960" cy="237744"/>
          </a:xfrm>
          <a:prstGeom prst="rect">
            <a:avLst/>
          </a:prstGeom>
          <a:noFill/>
        </p:spPr>
        <p:txBody>
          <a:bodyPr wrap="square" anchor="ctr">
            <a:spAutoFit/>
          </a:bodyPr>
          <a:lstStyle/>
          <a:p>
            <a:pPr algn="l"/>
            <a:r>
              <a:rPr sz="1050" b="0">
                <a:solidFill>
                  <a:srgbClr val="54657D"/>
                </a:solidFill>
                <a:latin typeface="Arial"/>
              </a:rPr>
              <a:t>Bốn định hướng trọng tâm của website bán laptop &amp; phụ kiện</a:t>
            </a:r>
          </a:p>
        </p:txBody>
      </p:sp>
      <p:cxnSp>
        <p:nvCxnSpPr>
          <p:cNvPr id="7" name="Connector 6"/>
          <p:cNvCxnSpPr/>
          <p:nvPr/>
        </p:nvCxnSpPr>
        <p:spPr>
          <a:xfrm>
            <a:off x="9601200" y="621792"/>
            <a:ext cx="868680" cy="0"/>
          </a:xfrm>
          <a:prstGeom prst="line">
            <a:avLst/>
          </a:prstGeom>
          <a:ln w="12700">
            <a:solidFill>
              <a:srgbClr val="6EA5EB"/>
            </a:solidFill>
          </a:ln>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10437876" y="589788"/>
            <a:ext cx="64008" cy="64008"/>
          </a:xfrm>
          <a:prstGeom prst="ellipse">
            <a:avLst/>
          </a:prstGeom>
          <a:solidFill>
            <a:srgbClr val="1969E1"/>
          </a:solidFill>
          <a:ln w="2540">
            <a:solidFill>
              <a:srgbClr val="1969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9" name="Connector 8"/>
          <p:cNvCxnSpPr/>
          <p:nvPr/>
        </p:nvCxnSpPr>
        <p:spPr>
          <a:xfrm flipV="1">
            <a:off x="10497312" y="365760"/>
            <a:ext cx="521208" cy="256032"/>
          </a:xfrm>
          <a:prstGeom prst="line">
            <a:avLst/>
          </a:prstGeom>
          <a:ln w="12700">
            <a:solidFill>
              <a:srgbClr val="6EA5EB"/>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0981944" y="329184"/>
            <a:ext cx="73152" cy="73152"/>
          </a:xfrm>
          <a:prstGeom prst="ellipse">
            <a:avLst/>
          </a:prstGeom>
          <a:solidFill>
            <a:srgbClr val="1969E1"/>
          </a:solidFill>
          <a:ln w="2540">
            <a:solidFill>
              <a:srgbClr val="1969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685800" y="1417320"/>
            <a:ext cx="5303520" cy="1874519"/>
          </a:xfrm>
          <a:prstGeom prst="roundRect">
            <a:avLst/>
          </a:prstGeom>
          <a:solidFill>
            <a:srgbClr val="FFFFFF"/>
          </a:solidFill>
          <a:ln w="8890">
            <a:solidFill>
              <a:srgbClr val="D3E3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850392" y="1600200"/>
            <a:ext cx="841248" cy="1508760"/>
          </a:xfrm>
          <a:prstGeom prst="roundRect">
            <a:avLst/>
          </a:prstGeom>
          <a:solidFill>
            <a:srgbClr val="E7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05256" y="1801368"/>
            <a:ext cx="731520" cy="548640"/>
          </a:xfrm>
          <a:prstGeom prst="rect">
            <a:avLst/>
          </a:prstGeom>
          <a:noFill/>
        </p:spPr>
        <p:txBody>
          <a:bodyPr wrap="square" anchor="ctr">
            <a:spAutoFit/>
          </a:bodyPr>
          <a:lstStyle/>
          <a:p>
            <a:pPr algn="ctr"/>
            <a:r>
              <a:rPr sz="2700" b="1">
                <a:solidFill>
                  <a:srgbClr val="1969E1"/>
                </a:solidFill>
                <a:latin typeface="Arial"/>
              </a:rPr>
              <a:t>01</a:t>
            </a:r>
          </a:p>
        </p:txBody>
      </p:sp>
      <p:sp>
        <p:nvSpPr>
          <p:cNvPr id="14" name="TextBox 13"/>
          <p:cNvSpPr txBox="1"/>
          <p:nvPr/>
        </p:nvSpPr>
        <p:spPr>
          <a:xfrm>
            <a:off x="1920240" y="1673352"/>
            <a:ext cx="3520440" cy="274320"/>
          </a:xfrm>
          <a:prstGeom prst="rect">
            <a:avLst/>
          </a:prstGeom>
          <a:noFill/>
        </p:spPr>
        <p:txBody>
          <a:bodyPr wrap="square" anchor="ctr">
            <a:spAutoFit/>
          </a:bodyPr>
          <a:lstStyle/>
          <a:p>
            <a:pPr algn="l"/>
            <a:r>
              <a:rPr sz="1400" b="1">
                <a:solidFill>
                  <a:srgbClr val="07275C"/>
                </a:solidFill>
                <a:latin typeface="Arial"/>
              </a:rPr>
              <a:t>Giao diện thân thiện</a:t>
            </a:r>
          </a:p>
        </p:txBody>
      </p:sp>
      <p:sp>
        <p:nvSpPr>
          <p:cNvPr id="15" name="TextBox 14"/>
          <p:cNvSpPr txBox="1"/>
          <p:nvPr/>
        </p:nvSpPr>
        <p:spPr>
          <a:xfrm>
            <a:off x="1920240" y="2002536"/>
            <a:ext cx="3611880" cy="228600"/>
          </a:xfrm>
          <a:prstGeom prst="rect">
            <a:avLst/>
          </a:prstGeom>
          <a:noFill/>
        </p:spPr>
        <p:txBody>
          <a:bodyPr wrap="square" anchor="ctr">
            <a:spAutoFit/>
          </a:bodyPr>
          <a:lstStyle/>
          <a:p>
            <a:pPr algn="l"/>
            <a:r>
              <a:rPr sz="1050" b="1">
                <a:solidFill>
                  <a:srgbClr val="1969E1"/>
                </a:solidFill>
                <a:latin typeface="Arial"/>
              </a:rPr>
              <a:t>Dễ sử dụng &amp; đa thiết bị</a:t>
            </a:r>
          </a:p>
        </p:txBody>
      </p:sp>
      <p:sp>
        <p:nvSpPr>
          <p:cNvPr id="16" name="TextBox 15"/>
          <p:cNvSpPr txBox="1"/>
          <p:nvPr/>
        </p:nvSpPr>
        <p:spPr>
          <a:xfrm>
            <a:off x="1920240" y="2331720"/>
            <a:ext cx="3611880" cy="640080"/>
          </a:xfrm>
          <a:prstGeom prst="rect">
            <a:avLst/>
          </a:prstGeom>
          <a:noFill/>
        </p:spPr>
        <p:txBody>
          <a:bodyPr wrap="square" anchor="ctr">
            <a:spAutoFit/>
          </a:bodyPr>
          <a:lstStyle/>
          <a:p>
            <a:pPr algn="l"/>
            <a:r>
              <a:rPr sz="950" b="0">
                <a:solidFill>
                  <a:srgbClr val="54657D"/>
                </a:solidFill>
                <a:latin typeface="Arial"/>
              </a:rPr>
              <a:t>Thiết kế bố cục trực quan, thao tác đơn giản và hiển thị tốt trên máy tính, tablet, điện thoại.</a:t>
            </a:r>
          </a:p>
        </p:txBody>
      </p:sp>
      <p:sp>
        <p:nvSpPr>
          <p:cNvPr id="17" name="Oval 16"/>
          <p:cNvSpPr/>
          <p:nvPr/>
        </p:nvSpPr>
        <p:spPr>
          <a:xfrm>
            <a:off x="5413248" y="1682495"/>
            <a:ext cx="237744" cy="237744"/>
          </a:xfrm>
          <a:prstGeom prst="ellipse">
            <a:avLst/>
          </a:prstGeom>
          <a:solidFill>
            <a:srgbClr val="E7F4FF"/>
          </a:solidFill>
          <a:ln w="10160">
            <a:solidFill>
              <a:srgbClr val="1969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422392" y="1691640"/>
            <a:ext cx="219456" cy="201168"/>
          </a:xfrm>
          <a:prstGeom prst="rect">
            <a:avLst/>
          </a:prstGeom>
          <a:noFill/>
        </p:spPr>
        <p:txBody>
          <a:bodyPr wrap="square" anchor="ctr">
            <a:spAutoFit/>
          </a:bodyPr>
          <a:lstStyle/>
          <a:p>
            <a:pPr algn="ctr"/>
            <a:r>
              <a:rPr sz="900" b="1">
                <a:solidFill>
                  <a:srgbClr val="239B6E"/>
                </a:solidFill>
                <a:latin typeface="Arial"/>
              </a:rPr>
              <a:t>✓</a:t>
            </a:r>
          </a:p>
        </p:txBody>
      </p:sp>
      <p:sp>
        <p:nvSpPr>
          <p:cNvPr id="19" name="Rounded Rectangle 18"/>
          <p:cNvSpPr/>
          <p:nvPr/>
        </p:nvSpPr>
        <p:spPr>
          <a:xfrm>
            <a:off x="6172200" y="1417320"/>
            <a:ext cx="5303520" cy="1874519"/>
          </a:xfrm>
          <a:prstGeom prst="roundRect">
            <a:avLst/>
          </a:prstGeom>
          <a:solidFill>
            <a:srgbClr val="FFFFFF"/>
          </a:solidFill>
          <a:ln w="8890">
            <a:solidFill>
              <a:srgbClr val="D3E3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6336792" y="1600200"/>
            <a:ext cx="841248" cy="1508760"/>
          </a:xfrm>
          <a:prstGeom prst="roundRect">
            <a:avLst/>
          </a:prstGeom>
          <a:solidFill>
            <a:srgbClr val="E7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391656" y="1801368"/>
            <a:ext cx="731520" cy="548640"/>
          </a:xfrm>
          <a:prstGeom prst="rect">
            <a:avLst/>
          </a:prstGeom>
          <a:noFill/>
        </p:spPr>
        <p:txBody>
          <a:bodyPr wrap="square" anchor="ctr">
            <a:spAutoFit/>
          </a:bodyPr>
          <a:lstStyle/>
          <a:p>
            <a:pPr algn="ctr"/>
            <a:r>
              <a:rPr sz="2700" b="1">
                <a:solidFill>
                  <a:srgbClr val="1969E1"/>
                </a:solidFill>
                <a:latin typeface="Arial"/>
              </a:rPr>
              <a:t>02</a:t>
            </a:r>
          </a:p>
        </p:txBody>
      </p:sp>
      <p:sp>
        <p:nvSpPr>
          <p:cNvPr id="22" name="TextBox 21"/>
          <p:cNvSpPr txBox="1"/>
          <p:nvPr/>
        </p:nvSpPr>
        <p:spPr>
          <a:xfrm>
            <a:off x="7406640" y="1673352"/>
            <a:ext cx="3520440" cy="274320"/>
          </a:xfrm>
          <a:prstGeom prst="rect">
            <a:avLst/>
          </a:prstGeom>
          <a:noFill/>
        </p:spPr>
        <p:txBody>
          <a:bodyPr wrap="square" anchor="ctr">
            <a:spAutoFit/>
          </a:bodyPr>
          <a:lstStyle/>
          <a:p>
            <a:pPr algn="l"/>
            <a:r>
              <a:rPr sz="1400" b="1">
                <a:solidFill>
                  <a:srgbClr val="07275C"/>
                </a:solidFill>
                <a:latin typeface="Arial"/>
              </a:rPr>
              <a:t>Thanh toán &amp; quản trị</a:t>
            </a:r>
          </a:p>
        </p:txBody>
      </p:sp>
      <p:sp>
        <p:nvSpPr>
          <p:cNvPr id="23" name="TextBox 22"/>
          <p:cNvSpPr txBox="1"/>
          <p:nvPr/>
        </p:nvSpPr>
        <p:spPr>
          <a:xfrm>
            <a:off x="7406640" y="2002536"/>
            <a:ext cx="3611880" cy="228600"/>
          </a:xfrm>
          <a:prstGeom prst="rect">
            <a:avLst/>
          </a:prstGeom>
          <a:noFill/>
        </p:spPr>
        <p:txBody>
          <a:bodyPr wrap="square" anchor="ctr">
            <a:spAutoFit/>
          </a:bodyPr>
          <a:lstStyle/>
          <a:p>
            <a:pPr algn="l"/>
            <a:r>
              <a:rPr sz="1050" b="1">
                <a:solidFill>
                  <a:srgbClr val="1969E1"/>
                </a:solidFill>
                <a:latin typeface="Arial"/>
              </a:rPr>
              <a:t>An toàn và hiệu quả</a:t>
            </a:r>
          </a:p>
        </p:txBody>
      </p:sp>
      <p:sp>
        <p:nvSpPr>
          <p:cNvPr id="24" name="TextBox 23"/>
          <p:cNvSpPr txBox="1"/>
          <p:nvPr/>
        </p:nvSpPr>
        <p:spPr>
          <a:xfrm>
            <a:off x="7406640" y="2331720"/>
            <a:ext cx="3611880" cy="640080"/>
          </a:xfrm>
          <a:prstGeom prst="rect">
            <a:avLst/>
          </a:prstGeom>
          <a:noFill/>
        </p:spPr>
        <p:txBody>
          <a:bodyPr wrap="square" anchor="ctr">
            <a:spAutoFit/>
          </a:bodyPr>
          <a:lstStyle/>
          <a:p>
            <a:pPr algn="l"/>
            <a:r>
              <a:rPr sz="950" b="0">
                <a:solidFill>
                  <a:srgbClr val="54657D"/>
                </a:solidFill>
                <a:latin typeface="Arial"/>
              </a:rPr>
              <a:t>Tích hợp quy trình thanh toán rõ ràng, bảo mật thông tin và hệ thống quản trị dành cho admin.</a:t>
            </a:r>
          </a:p>
        </p:txBody>
      </p:sp>
      <p:sp>
        <p:nvSpPr>
          <p:cNvPr id="25" name="Oval 24"/>
          <p:cNvSpPr/>
          <p:nvPr/>
        </p:nvSpPr>
        <p:spPr>
          <a:xfrm>
            <a:off x="10899648" y="1682495"/>
            <a:ext cx="237744" cy="237744"/>
          </a:xfrm>
          <a:prstGeom prst="ellipse">
            <a:avLst/>
          </a:prstGeom>
          <a:solidFill>
            <a:srgbClr val="E7F4FF"/>
          </a:solidFill>
          <a:ln w="10160">
            <a:solidFill>
              <a:srgbClr val="1969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0908792" y="1691640"/>
            <a:ext cx="219456" cy="201168"/>
          </a:xfrm>
          <a:prstGeom prst="rect">
            <a:avLst/>
          </a:prstGeom>
          <a:noFill/>
        </p:spPr>
        <p:txBody>
          <a:bodyPr wrap="square" anchor="ctr">
            <a:spAutoFit/>
          </a:bodyPr>
          <a:lstStyle/>
          <a:p>
            <a:pPr algn="ctr"/>
            <a:r>
              <a:rPr sz="900" b="1">
                <a:solidFill>
                  <a:srgbClr val="239B6E"/>
                </a:solidFill>
                <a:latin typeface="Arial"/>
              </a:rPr>
              <a:t>✓</a:t>
            </a:r>
          </a:p>
        </p:txBody>
      </p:sp>
      <p:sp>
        <p:nvSpPr>
          <p:cNvPr id="27" name="Rounded Rectangle 26"/>
          <p:cNvSpPr/>
          <p:nvPr/>
        </p:nvSpPr>
        <p:spPr>
          <a:xfrm>
            <a:off x="685800" y="3703320"/>
            <a:ext cx="5303520" cy="1874519"/>
          </a:xfrm>
          <a:prstGeom prst="roundRect">
            <a:avLst/>
          </a:prstGeom>
          <a:solidFill>
            <a:srgbClr val="FFFFFF"/>
          </a:solidFill>
          <a:ln w="8890">
            <a:solidFill>
              <a:srgbClr val="D3E3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850392" y="3886200"/>
            <a:ext cx="841248" cy="1508760"/>
          </a:xfrm>
          <a:prstGeom prst="roundRect">
            <a:avLst/>
          </a:prstGeom>
          <a:solidFill>
            <a:srgbClr val="E7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05256" y="4087368"/>
            <a:ext cx="731520" cy="548640"/>
          </a:xfrm>
          <a:prstGeom prst="rect">
            <a:avLst/>
          </a:prstGeom>
          <a:noFill/>
        </p:spPr>
        <p:txBody>
          <a:bodyPr wrap="square" anchor="ctr">
            <a:spAutoFit/>
          </a:bodyPr>
          <a:lstStyle/>
          <a:p>
            <a:pPr algn="ctr"/>
            <a:r>
              <a:rPr sz="2700" b="1">
                <a:solidFill>
                  <a:srgbClr val="1969E1"/>
                </a:solidFill>
                <a:latin typeface="Arial"/>
              </a:rPr>
              <a:t>03</a:t>
            </a:r>
          </a:p>
        </p:txBody>
      </p:sp>
      <p:sp>
        <p:nvSpPr>
          <p:cNvPr id="30" name="TextBox 29"/>
          <p:cNvSpPr txBox="1"/>
          <p:nvPr/>
        </p:nvSpPr>
        <p:spPr>
          <a:xfrm>
            <a:off x="1920240" y="3959352"/>
            <a:ext cx="3520440" cy="274320"/>
          </a:xfrm>
          <a:prstGeom prst="rect">
            <a:avLst/>
          </a:prstGeom>
          <a:noFill/>
        </p:spPr>
        <p:txBody>
          <a:bodyPr wrap="square" anchor="ctr">
            <a:spAutoFit/>
          </a:bodyPr>
          <a:lstStyle/>
          <a:p>
            <a:pPr algn="l"/>
            <a:r>
              <a:rPr sz="1400" b="1">
                <a:solidFill>
                  <a:srgbClr val="07275C"/>
                </a:solidFill>
                <a:latin typeface="Arial"/>
              </a:rPr>
              <a:t>Chatbot AI</a:t>
            </a:r>
          </a:p>
        </p:txBody>
      </p:sp>
      <p:sp>
        <p:nvSpPr>
          <p:cNvPr id="31" name="TextBox 30"/>
          <p:cNvSpPr txBox="1"/>
          <p:nvPr/>
        </p:nvSpPr>
        <p:spPr>
          <a:xfrm>
            <a:off x="1920240" y="4288536"/>
            <a:ext cx="3611880" cy="228600"/>
          </a:xfrm>
          <a:prstGeom prst="rect">
            <a:avLst/>
          </a:prstGeom>
          <a:noFill/>
        </p:spPr>
        <p:txBody>
          <a:bodyPr wrap="square" anchor="ctr">
            <a:spAutoFit/>
          </a:bodyPr>
          <a:lstStyle/>
          <a:p>
            <a:pPr algn="l"/>
            <a:r>
              <a:rPr sz="1050" b="1">
                <a:solidFill>
                  <a:srgbClr val="1969E1"/>
                </a:solidFill>
                <a:latin typeface="Arial"/>
              </a:rPr>
              <a:t>Tư vấn khách hàng 24/7</a:t>
            </a:r>
          </a:p>
        </p:txBody>
      </p:sp>
      <p:sp>
        <p:nvSpPr>
          <p:cNvPr id="32" name="TextBox 31"/>
          <p:cNvSpPr txBox="1"/>
          <p:nvPr/>
        </p:nvSpPr>
        <p:spPr>
          <a:xfrm>
            <a:off x="1920240" y="4617720"/>
            <a:ext cx="3611880" cy="640080"/>
          </a:xfrm>
          <a:prstGeom prst="rect">
            <a:avLst/>
          </a:prstGeom>
          <a:noFill/>
        </p:spPr>
        <p:txBody>
          <a:bodyPr wrap="square" anchor="ctr">
            <a:spAutoFit/>
          </a:bodyPr>
          <a:lstStyle/>
          <a:p>
            <a:pPr algn="l"/>
            <a:r>
              <a:rPr sz="950" b="0">
                <a:solidFill>
                  <a:srgbClr val="54657D"/>
                </a:solidFill>
                <a:latin typeface="Arial"/>
              </a:rPr>
              <a:t>Tích hợp chatbot AI hỗ trợ giải đáp nhanh, tư vấn sản phẩm và nâng cao trải nghiệm khách hàng.</a:t>
            </a:r>
          </a:p>
        </p:txBody>
      </p:sp>
      <p:sp>
        <p:nvSpPr>
          <p:cNvPr id="33" name="Oval 32"/>
          <p:cNvSpPr/>
          <p:nvPr/>
        </p:nvSpPr>
        <p:spPr>
          <a:xfrm>
            <a:off x="5413248" y="3968496"/>
            <a:ext cx="237744" cy="237744"/>
          </a:xfrm>
          <a:prstGeom prst="ellipse">
            <a:avLst/>
          </a:prstGeom>
          <a:solidFill>
            <a:srgbClr val="E7F4FF"/>
          </a:solidFill>
          <a:ln w="10160">
            <a:solidFill>
              <a:srgbClr val="1969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5422392" y="3977639"/>
            <a:ext cx="219456" cy="201168"/>
          </a:xfrm>
          <a:prstGeom prst="rect">
            <a:avLst/>
          </a:prstGeom>
          <a:noFill/>
        </p:spPr>
        <p:txBody>
          <a:bodyPr wrap="square" anchor="ctr">
            <a:spAutoFit/>
          </a:bodyPr>
          <a:lstStyle/>
          <a:p>
            <a:pPr algn="ctr"/>
            <a:r>
              <a:rPr sz="900" b="1">
                <a:solidFill>
                  <a:srgbClr val="239B6E"/>
                </a:solidFill>
                <a:latin typeface="Arial"/>
              </a:rPr>
              <a:t>✓</a:t>
            </a:r>
          </a:p>
        </p:txBody>
      </p:sp>
      <p:sp>
        <p:nvSpPr>
          <p:cNvPr id="35" name="Rounded Rectangle 34"/>
          <p:cNvSpPr/>
          <p:nvPr/>
        </p:nvSpPr>
        <p:spPr>
          <a:xfrm>
            <a:off x="6172200" y="3703320"/>
            <a:ext cx="5303520" cy="1874519"/>
          </a:xfrm>
          <a:prstGeom prst="roundRect">
            <a:avLst/>
          </a:prstGeom>
          <a:solidFill>
            <a:srgbClr val="FFFFFF"/>
          </a:solidFill>
          <a:ln w="8890">
            <a:solidFill>
              <a:srgbClr val="D3E3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ounded Rectangle 35"/>
          <p:cNvSpPr/>
          <p:nvPr/>
        </p:nvSpPr>
        <p:spPr>
          <a:xfrm>
            <a:off x="6336792" y="3886200"/>
            <a:ext cx="841248" cy="1508760"/>
          </a:xfrm>
          <a:prstGeom prst="roundRect">
            <a:avLst/>
          </a:prstGeom>
          <a:solidFill>
            <a:srgbClr val="E7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391656" y="4087368"/>
            <a:ext cx="731520" cy="548640"/>
          </a:xfrm>
          <a:prstGeom prst="rect">
            <a:avLst/>
          </a:prstGeom>
          <a:noFill/>
        </p:spPr>
        <p:txBody>
          <a:bodyPr wrap="square" anchor="ctr">
            <a:spAutoFit/>
          </a:bodyPr>
          <a:lstStyle/>
          <a:p>
            <a:pPr algn="ctr"/>
            <a:r>
              <a:rPr sz="2700" b="1">
                <a:solidFill>
                  <a:srgbClr val="1969E1"/>
                </a:solidFill>
                <a:latin typeface="Arial"/>
              </a:rPr>
              <a:t>04</a:t>
            </a:r>
          </a:p>
        </p:txBody>
      </p:sp>
      <p:sp>
        <p:nvSpPr>
          <p:cNvPr id="38" name="TextBox 37"/>
          <p:cNvSpPr txBox="1"/>
          <p:nvPr/>
        </p:nvSpPr>
        <p:spPr>
          <a:xfrm>
            <a:off x="7406640" y="3959352"/>
            <a:ext cx="3520440" cy="274320"/>
          </a:xfrm>
          <a:prstGeom prst="rect">
            <a:avLst/>
          </a:prstGeom>
          <a:noFill/>
        </p:spPr>
        <p:txBody>
          <a:bodyPr wrap="square" anchor="ctr">
            <a:spAutoFit/>
          </a:bodyPr>
          <a:lstStyle/>
          <a:p>
            <a:pPr algn="l"/>
            <a:r>
              <a:rPr sz="1400" b="1">
                <a:solidFill>
                  <a:srgbClr val="07275C"/>
                </a:solidFill>
                <a:latin typeface="Arial"/>
              </a:rPr>
              <a:t>Tối ưu mua sắm</a:t>
            </a:r>
          </a:p>
        </p:txBody>
      </p:sp>
      <p:sp>
        <p:nvSpPr>
          <p:cNvPr id="39" name="TextBox 38"/>
          <p:cNvSpPr txBox="1"/>
          <p:nvPr/>
        </p:nvSpPr>
        <p:spPr>
          <a:xfrm>
            <a:off x="7406640" y="4288536"/>
            <a:ext cx="3611880" cy="228600"/>
          </a:xfrm>
          <a:prstGeom prst="rect">
            <a:avLst/>
          </a:prstGeom>
          <a:noFill/>
        </p:spPr>
        <p:txBody>
          <a:bodyPr wrap="square" anchor="ctr">
            <a:spAutoFit/>
          </a:bodyPr>
          <a:lstStyle/>
          <a:p>
            <a:pPr algn="l"/>
            <a:r>
              <a:rPr sz="1050" b="1">
                <a:solidFill>
                  <a:srgbClr val="1969E1"/>
                </a:solidFill>
                <a:latin typeface="Arial"/>
              </a:rPr>
              <a:t>Nhanh chóng &amp; tiện lợi</a:t>
            </a:r>
          </a:p>
        </p:txBody>
      </p:sp>
      <p:sp>
        <p:nvSpPr>
          <p:cNvPr id="40" name="TextBox 39"/>
          <p:cNvSpPr txBox="1"/>
          <p:nvPr/>
        </p:nvSpPr>
        <p:spPr>
          <a:xfrm>
            <a:off x="7406640" y="4617720"/>
            <a:ext cx="3611880" cy="640080"/>
          </a:xfrm>
          <a:prstGeom prst="rect">
            <a:avLst/>
          </a:prstGeom>
          <a:noFill/>
        </p:spPr>
        <p:txBody>
          <a:bodyPr wrap="square" anchor="ctr">
            <a:spAutoFit/>
          </a:bodyPr>
          <a:lstStyle/>
          <a:p>
            <a:pPr algn="l"/>
            <a:r>
              <a:rPr sz="950" b="0">
                <a:solidFill>
                  <a:srgbClr val="54657D"/>
                </a:solidFill>
                <a:latin typeface="Arial"/>
              </a:rPr>
              <a:t>Tối ưu tìm kiếm, lọc sản phẩm, giỏ hàng và quy trình đặt hàng để giảm thao tác không cần thiết.</a:t>
            </a:r>
          </a:p>
        </p:txBody>
      </p:sp>
      <p:sp>
        <p:nvSpPr>
          <p:cNvPr id="41" name="Oval 40"/>
          <p:cNvSpPr/>
          <p:nvPr/>
        </p:nvSpPr>
        <p:spPr>
          <a:xfrm>
            <a:off x="10899648" y="3968496"/>
            <a:ext cx="237744" cy="237744"/>
          </a:xfrm>
          <a:prstGeom prst="ellipse">
            <a:avLst/>
          </a:prstGeom>
          <a:solidFill>
            <a:srgbClr val="E7F4FF"/>
          </a:solidFill>
          <a:ln w="10160">
            <a:solidFill>
              <a:srgbClr val="1969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10908792" y="3977639"/>
            <a:ext cx="219456" cy="201168"/>
          </a:xfrm>
          <a:prstGeom prst="rect">
            <a:avLst/>
          </a:prstGeom>
          <a:noFill/>
        </p:spPr>
        <p:txBody>
          <a:bodyPr wrap="square" anchor="ctr">
            <a:spAutoFit/>
          </a:bodyPr>
          <a:lstStyle/>
          <a:p>
            <a:pPr algn="ctr"/>
            <a:r>
              <a:rPr sz="900" b="1">
                <a:solidFill>
                  <a:srgbClr val="239B6E"/>
                </a:solidFill>
                <a:latin typeface="Arial"/>
              </a:rPr>
              <a:t>✓</a:t>
            </a:r>
          </a:p>
        </p:txBody>
      </p:sp>
      <p:sp>
        <p:nvSpPr>
          <p:cNvPr id="43" name="Rounded Rectangle 42"/>
          <p:cNvSpPr/>
          <p:nvPr/>
        </p:nvSpPr>
        <p:spPr>
          <a:xfrm>
            <a:off x="685800" y="5806440"/>
            <a:ext cx="10789920" cy="411480"/>
          </a:xfrm>
          <a:prstGeom prst="roundRect">
            <a:avLst/>
          </a:prstGeom>
          <a:solidFill>
            <a:srgbClr val="F8F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914400" y="5879592"/>
            <a:ext cx="1965960" cy="182880"/>
          </a:xfrm>
          <a:prstGeom prst="rect">
            <a:avLst/>
          </a:prstGeom>
          <a:noFill/>
        </p:spPr>
        <p:txBody>
          <a:bodyPr wrap="square" anchor="ctr">
            <a:spAutoFit/>
          </a:bodyPr>
          <a:lstStyle/>
          <a:p>
            <a:pPr algn="l"/>
            <a:r>
              <a:rPr sz="850" b="1">
                <a:solidFill>
                  <a:srgbClr val="1969E1"/>
                </a:solidFill>
                <a:latin typeface="Arial"/>
              </a:rPr>
              <a:t>KẾT QUẢ HƯỚNG TỚI</a:t>
            </a:r>
          </a:p>
        </p:txBody>
      </p:sp>
      <p:sp>
        <p:nvSpPr>
          <p:cNvPr id="45" name="TextBox 44"/>
          <p:cNvSpPr txBox="1"/>
          <p:nvPr/>
        </p:nvSpPr>
        <p:spPr>
          <a:xfrm>
            <a:off x="2788920" y="5852160"/>
            <a:ext cx="8275320" cy="219456"/>
          </a:xfrm>
          <a:prstGeom prst="rect">
            <a:avLst/>
          </a:prstGeom>
          <a:noFill/>
        </p:spPr>
        <p:txBody>
          <a:bodyPr wrap="square" anchor="ctr">
            <a:spAutoFit/>
          </a:bodyPr>
          <a:lstStyle/>
          <a:p>
            <a:pPr algn="l"/>
            <a:r>
              <a:rPr sz="900" b="1">
                <a:solidFill>
                  <a:srgbClr val="07275C"/>
                </a:solidFill>
                <a:latin typeface="Arial"/>
              </a:rPr>
              <a:t>Thân thiện  •  An toàn  •  Thông minh  •  Nhanh chóng  •  Dễ quản trị</a:t>
            </a:r>
          </a:p>
        </p:txBody>
      </p:sp>
      <p:cxnSp>
        <p:nvCxnSpPr>
          <p:cNvPr id="46" name="Connector 45"/>
          <p:cNvCxnSpPr/>
          <p:nvPr/>
        </p:nvCxnSpPr>
        <p:spPr>
          <a:xfrm>
            <a:off x="685800" y="6428232"/>
            <a:ext cx="10789920" cy="0"/>
          </a:xfrm>
          <a:prstGeom prst="line">
            <a:avLst/>
          </a:prstGeom>
          <a:ln w="12700">
            <a:solidFill>
              <a:srgbClr val="CDDEEF"/>
            </a:solidFill>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685800" y="6510528"/>
            <a:ext cx="2743200" cy="146304"/>
          </a:xfrm>
          <a:prstGeom prst="rect">
            <a:avLst/>
          </a:prstGeom>
          <a:noFill/>
        </p:spPr>
        <p:txBody>
          <a:bodyPr wrap="square" anchor="ctr">
            <a:spAutoFit/>
          </a:bodyPr>
          <a:lstStyle/>
          <a:p>
            <a:pPr algn="l"/>
            <a:r>
              <a:rPr sz="650" b="0">
                <a:solidFill>
                  <a:srgbClr val="54657D"/>
                </a:solidFill>
                <a:latin typeface="Arial"/>
              </a:rPr>
              <a:t>WEBSITE LAPTOP &amp; ACCESSORIES</a:t>
            </a:r>
          </a:p>
        </p:txBody>
      </p:sp>
      <p:pic>
        <p:nvPicPr>
          <p:cNvPr id="49" name="Picture 48" descr="A black background with orange and blue text&#10;&#10;Description automatically generated">
            <a:extLst>
              <a:ext uri="{FF2B5EF4-FFF2-40B4-BE49-F238E27FC236}">
                <a16:creationId xmlns:a16="http://schemas.microsoft.com/office/drawing/2014/main" id="{89425BE6-7560-3A9C-7F3E-7255C9DE4625}"/>
              </a:ext>
            </a:extLst>
          </p:cNvPr>
          <p:cNvPicPr>
            <a:picLocks noChangeAspect="1"/>
          </p:cNvPicPr>
          <p:nvPr/>
        </p:nvPicPr>
        <p:blipFill>
          <a:blip r:embed="rId2"/>
          <a:stretch>
            <a:fillRect/>
          </a:stretch>
        </p:blipFill>
        <p:spPr>
          <a:xfrm>
            <a:off x="10777306" y="-88712"/>
            <a:ext cx="1164758" cy="1164758"/>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292607" y="182879"/>
            <a:ext cx="731520" cy="731520"/>
          </a:xfrm>
          <a:prstGeom prst="ellipse">
            <a:avLst/>
          </a:prstGeom>
          <a:solidFill>
            <a:srgbClr val="E8F5FF"/>
          </a:solidFill>
          <a:ln w="8890">
            <a:solidFill>
              <a:srgbClr val="D3E3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38328" y="329184"/>
            <a:ext cx="640080" cy="420624"/>
          </a:xfrm>
          <a:prstGeom prst="rect">
            <a:avLst/>
          </a:prstGeom>
          <a:noFill/>
        </p:spPr>
        <p:txBody>
          <a:bodyPr wrap="square" anchor="ctr">
            <a:spAutoFit/>
          </a:bodyPr>
          <a:lstStyle/>
          <a:p>
            <a:pPr algn="ctr"/>
            <a:r>
              <a:rPr sz="2500" b="1">
                <a:solidFill>
                  <a:srgbClr val="1A69E1"/>
                </a:solidFill>
                <a:latin typeface="Arial"/>
              </a:rPr>
              <a:t>03</a:t>
            </a:r>
          </a:p>
        </p:txBody>
      </p:sp>
      <p:sp>
        <p:nvSpPr>
          <p:cNvPr id="4" name="TextBox 3"/>
          <p:cNvSpPr txBox="1"/>
          <p:nvPr/>
        </p:nvSpPr>
        <p:spPr>
          <a:xfrm>
            <a:off x="1371600" y="164592"/>
            <a:ext cx="2286000" cy="201168"/>
          </a:xfrm>
          <a:prstGeom prst="rect">
            <a:avLst/>
          </a:prstGeom>
          <a:noFill/>
        </p:spPr>
        <p:txBody>
          <a:bodyPr wrap="square" anchor="ctr">
            <a:spAutoFit/>
          </a:bodyPr>
          <a:lstStyle/>
          <a:p>
            <a:pPr algn="l"/>
            <a:r>
              <a:rPr sz="950" b="0">
                <a:solidFill>
                  <a:srgbClr val="1A69E1"/>
                </a:solidFill>
                <a:latin typeface="Arial"/>
              </a:rPr>
              <a:t>TECH STACK</a:t>
            </a:r>
          </a:p>
        </p:txBody>
      </p:sp>
      <p:sp>
        <p:nvSpPr>
          <p:cNvPr id="5" name="TextBox 4"/>
          <p:cNvSpPr txBox="1"/>
          <p:nvPr/>
        </p:nvSpPr>
        <p:spPr>
          <a:xfrm>
            <a:off x="1371600" y="429768"/>
            <a:ext cx="5303520" cy="438912"/>
          </a:xfrm>
          <a:prstGeom prst="rect">
            <a:avLst/>
          </a:prstGeom>
          <a:noFill/>
        </p:spPr>
        <p:txBody>
          <a:bodyPr wrap="square" anchor="ctr">
            <a:spAutoFit/>
          </a:bodyPr>
          <a:lstStyle/>
          <a:p>
            <a:pPr algn="l"/>
            <a:r>
              <a:rPr sz="2700" b="1">
                <a:solidFill>
                  <a:srgbClr val="08275B"/>
                </a:solidFill>
                <a:latin typeface="Arial"/>
              </a:rPr>
              <a:t>Công nghệ sử dụng</a:t>
            </a:r>
          </a:p>
        </p:txBody>
      </p:sp>
      <p:sp>
        <p:nvSpPr>
          <p:cNvPr id="6" name="TextBox 5"/>
          <p:cNvSpPr txBox="1"/>
          <p:nvPr/>
        </p:nvSpPr>
        <p:spPr>
          <a:xfrm>
            <a:off x="1371600" y="859536"/>
            <a:ext cx="6766560" cy="246888"/>
          </a:xfrm>
          <a:prstGeom prst="rect">
            <a:avLst/>
          </a:prstGeom>
          <a:noFill/>
        </p:spPr>
        <p:txBody>
          <a:bodyPr wrap="square" anchor="ctr">
            <a:spAutoFit/>
          </a:bodyPr>
          <a:lstStyle/>
          <a:p>
            <a:pPr algn="l"/>
            <a:r>
              <a:rPr sz="1050" b="0" err="1">
                <a:solidFill>
                  <a:srgbClr val="54657D"/>
                </a:solidFill>
                <a:latin typeface="Arial"/>
              </a:rPr>
              <a:t>Các</a:t>
            </a:r>
            <a:r>
              <a:rPr sz="1050" b="0">
                <a:solidFill>
                  <a:srgbClr val="54657D"/>
                </a:solidFill>
                <a:latin typeface="Arial"/>
              </a:rPr>
              <a:t> </a:t>
            </a:r>
            <a:r>
              <a:rPr sz="1050" b="0" err="1">
                <a:solidFill>
                  <a:srgbClr val="54657D"/>
                </a:solidFill>
                <a:latin typeface="Arial"/>
              </a:rPr>
              <a:t>công</a:t>
            </a:r>
            <a:r>
              <a:rPr sz="1050" b="0">
                <a:solidFill>
                  <a:srgbClr val="54657D"/>
                </a:solidFill>
                <a:latin typeface="Arial"/>
              </a:rPr>
              <a:t> </a:t>
            </a:r>
            <a:r>
              <a:rPr sz="1050" b="0" err="1">
                <a:solidFill>
                  <a:srgbClr val="54657D"/>
                </a:solidFill>
                <a:latin typeface="Arial"/>
              </a:rPr>
              <a:t>nghệ</a:t>
            </a:r>
            <a:r>
              <a:rPr sz="1050" b="0">
                <a:solidFill>
                  <a:srgbClr val="54657D"/>
                </a:solidFill>
                <a:latin typeface="Arial"/>
              </a:rPr>
              <a:t> </a:t>
            </a:r>
            <a:r>
              <a:rPr sz="1050" b="0" err="1">
                <a:solidFill>
                  <a:srgbClr val="54657D"/>
                </a:solidFill>
                <a:latin typeface="Arial"/>
              </a:rPr>
              <a:t>chính</a:t>
            </a:r>
            <a:r>
              <a:rPr sz="1050" b="0">
                <a:solidFill>
                  <a:srgbClr val="54657D"/>
                </a:solidFill>
                <a:latin typeface="Arial"/>
              </a:rPr>
              <a:t> </a:t>
            </a:r>
            <a:r>
              <a:rPr sz="1050" b="0" err="1">
                <a:solidFill>
                  <a:srgbClr val="54657D"/>
                </a:solidFill>
                <a:latin typeface="Arial"/>
              </a:rPr>
              <a:t>được</a:t>
            </a:r>
            <a:r>
              <a:rPr sz="1050" b="0">
                <a:solidFill>
                  <a:srgbClr val="54657D"/>
                </a:solidFill>
                <a:latin typeface="Arial"/>
              </a:rPr>
              <a:t> </a:t>
            </a:r>
            <a:r>
              <a:rPr sz="1050" b="0" err="1">
                <a:solidFill>
                  <a:srgbClr val="54657D"/>
                </a:solidFill>
                <a:latin typeface="Arial"/>
              </a:rPr>
              <a:t>sử</a:t>
            </a:r>
            <a:r>
              <a:rPr sz="1050" b="0">
                <a:solidFill>
                  <a:srgbClr val="54657D"/>
                </a:solidFill>
                <a:latin typeface="Arial"/>
              </a:rPr>
              <a:t> </a:t>
            </a:r>
            <a:r>
              <a:rPr sz="1050" b="0" err="1">
                <a:solidFill>
                  <a:srgbClr val="54657D"/>
                </a:solidFill>
                <a:latin typeface="Arial"/>
              </a:rPr>
              <a:t>dụng</a:t>
            </a:r>
            <a:r>
              <a:rPr sz="1050" b="0">
                <a:solidFill>
                  <a:srgbClr val="54657D"/>
                </a:solidFill>
                <a:latin typeface="Arial"/>
              </a:rPr>
              <a:t> </a:t>
            </a:r>
            <a:r>
              <a:rPr sz="1050" b="0" err="1">
                <a:solidFill>
                  <a:srgbClr val="54657D"/>
                </a:solidFill>
                <a:latin typeface="Arial"/>
              </a:rPr>
              <a:t>để</a:t>
            </a:r>
            <a:r>
              <a:rPr sz="1050" b="0">
                <a:solidFill>
                  <a:srgbClr val="54657D"/>
                </a:solidFill>
                <a:latin typeface="Arial"/>
              </a:rPr>
              <a:t> </a:t>
            </a:r>
            <a:r>
              <a:rPr sz="1050" b="0" err="1">
                <a:solidFill>
                  <a:srgbClr val="54657D"/>
                </a:solidFill>
                <a:latin typeface="Arial"/>
              </a:rPr>
              <a:t>phát</a:t>
            </a:r>
            <a:r>
              <a:rPr sz="1050" b="0">
                <a:solidFill>
                  <a:srgbClr val="54657D"/>
                </a:solidFill>
                <a:latin typeface="Arial"/>
              </a:rPr>
              <a:t> </a:t>
            </a:r>
            <a:r>
              <a:rPr sz="1050" b="0" err="1">
                <a:solidFill>
                  <a:srgbClr val="54657D"/>
                </a:solidFill>
                <a:latin typeface="Arial"/>
              </a:rPr>
              <a:t>triển</a:t>
            </a:r>
            <a:r>
              <a:rPr sz="1050" b="0">
                <a:solidFill>
                  <a:srgbClr val="54657D"/>
                </a:solidFill>
                <a:latin typeface="Arial"/>
              </a:rPr>
              <a:t> </a:t>
            </a:r>
            <a:r>
              <a:rPr sz="1050" b="0" err="1">
                <a:solidFill>
                  <a:srgbClr val="54657D"/>
                </a:solidFill>
                <a:latin typeface="Arial"/>
              </a:rPr>
              <a:t>và</a:t>
            </a:r>
            <a:r>
              <a:rPr sz="1050" b="0">
                <a:solidFill>
                  <a:srgbClr val="54657D"/>
                </a:solidFill>
                <a:latin typeface="Arial"/>
              </a:rPr>
              <a:t> </a:t>
            </a:r>
            <a:r>
              <a:rPr sz="1050" b="0" err="1">
                <a:solidFill>
                  <a:srgbClr val="54657D"/>
                </a:solidFill>
                <a:latin typeface="Arial"/>
              </a:rPr>
              <a:t>quản</a:t>
            </a:r>
            <a:r>
              <a:rPr sz="1050" b="0">
                <a:solidFill>
                  <a:srgbClr val="54657D"/>
                </a:solidFill>
                <a:latin typeface="Arial"/>
              </a:rPr>
              <a:t> </a:t>
            </a:r>
            <a:r>
              <a:rPr sz="1050" b="0" err="1">
                <a:solidFill>
                  <a:srgbClr val="54657D"/>
                </a:solidFill>
                <a:latin typeface="Arial"/>
              </a:rPr>
              <a:t>lý</a:t>
            </a:r>
            <a:r>
              <a:rPr sz="1050" b="0">
                <a:solidFill>
                  <a:srgbClr val="54657D"/>
                </a:solidFill>
                <a:latin typeface="Arial"/>
              </a:rPr>
              <a:t> </a:t>
            </a:r>
            <a:r>
              <a:rPr sz="1050" b="0" err="1">
                <a:solidFill>
                  <a:srgbClr val="54657D"/>
                </a:solidFill>
                <a:latin typeface="Arial"/>
              </a:rPr>
              <a:t>dự</a:t>
            </a:r>
            <a:r>
              <a:rPr sz="1050" b="0">
                <a:solidFill>
                  <a:srgbClr val="54657D"/>
                </a:solidFill>
                <a:latin typeface="Arial"/>
              </a:rPr>
              <a:t> </a:t>
            </a:r>
            <a:r>
              <a:rPr sz="1050" b="0" err="1">
                <a:solidFill>
                  <a:srgbClr val="54657D"/>
                </a:solidFill>
                <a:latin typeface="Arial"/>
              </a:rPr>
              <a:t>án</a:t>
            </a:r>
            <a:endParaRPr sz="1050" b="0">
              <a:solidFill>
                <a:srgbClr val="54657D"/>
              </a:solidFill>
              <a:latin typeface="Arial"/>
            </a:endParaRPr>
          </a:p>
        </p:txBody>
      </p:sp>
      <p:sp>
        <p:nvSpPr>
          <p:cNvPr id="11" name="Rounded Rectangle 10"/>
          <p:cNvSpPr/>
          <p:nvPr/>
        </p:nvSpPr>
        <p:spPr>
          <a:xfrm>
            <a:off x="658368" y="1417320"/>
            <a:ext cx="3063240" cy="1901952"/>
          </a:xfrm>
          <a:prstGeom prst="roundRect">
            <a:avLst/>
          </a:prstGeom>
          <a:solidFill>
            <a:srgbClr val="FFFFFF"/>
          </a:solidFill>
          <a:ln w="8890">
            <a:solidFill>
              <a:srgbClr val="D3E3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658368" y="1417320"/>
            <a:ext cx="73152" cy="1901952"/>
          </a:xfrm>
          <a:prstGeom prst="roundRect">
            <a:avLst/>
          </a:prstGeom>
          <a:solidFill>
            <a:srgbClr val="1A69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4114800" y="1417320"/>
            <a:ext cx="3063240" cy="1901952"/>
          </a:xfrm>
          <a:prstGeom prst="roundRect">
            <a:avLst/>
          </a:prstGeom>
          <a:solidFill>
            <a:srgbClr val="FFFFFF"/>
          </a:solidFill>
          <a:ln w="8890">
            <a:solidFill>
              <a:srgbClr val="D3E3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4114800" y="1417320"/>
            <a:ext cx="73152" cy="1901952"/>
          </a:xfrm>
          <a:prstGeom prst="roundRect">
            <a:avLst/>
          </a:prstGeom>
          <a:solidFill>
            <a:srgbClr val="6765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30"/>
          <p:cNvSpPr/>
          <p:nvPr/>
        </p:nvSpPr>
        <p:spPr>
          <a:xfrm>
            <a:off x="7571231" y="1417320"/>
            <a:ext cx="3063240" cy="1901952"/>
          </a:xfrm>
          <a:prstGeom prst="roundRect">
            <a:avLst/>
          </a:prstGeom>
          <a:solidFill>
            <a:srgbClr val="FFFFFF"/>
          </a:solidFill>
          <a:ln w="8890">
            <a:solidFill>
              <a:srgbClr val="D3E3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ounded Rectangle 31"/>
          <p:cNvSpPr/>
          <p:nvPr/>
        </p:nvSpPr>
        <p:spPr>
          <a:xfrm>
            <a:off x="7571231" y="1417320"/>
            <a:ext cx="73152" cy="1901952"/>
          </a:xfrm>
          <a:prstGeom prst="roundRect">
            <a:avLst/>
          </a:prstGeom>
          <a:solidFill>
            <a:srgbClr val="2023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ounded Rectangle 40"/>
          <p:cNvSpPr/>
          <p:nvPr/>
        </p:nvSpPr>
        <p:spPr>
          <a:xfrm>
            <a:off x="658368" y="3675887"/>
            <a:ext cx="3063240" cy="1901952"/>
          </a:xfrm>
          <a:prstGeom prst="roundRect">
            <a:avLst/>
          </a:prstGeom>
          <a:solidFill>
            <a:srgbClr val="FFFFFF"/>
          </a:solidFill>
          <a:ln w="8890">
            <a:solidFill>
              <a:srgbClr val="D3E3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ounded Rectangle 41"/>
          <p:cNvSpPr/>
          <p:nvPr/>
        </p:nvSpPr>
        <p:spPr>
          <a:xfrm>
            <a:off x="658368" y="3675887"/>
            <a:ext cx="73152" cy="1901952"/>
          </a:xfrm>
          <a:prstGeom prst="roundRect">
            <a:avLst/>
          </a:prstGeom>
          <a:solidFill>
            <a:srgbClr val="39A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ounded Rectangle 50"/>
          <p:cNvSpPr/>
          <p:nvPr/>
        </p:nvSpPr>
        <p:spPr>
          <a:xfrm>
            <a:off x="4114800" y="3675887"/>
            <a:ext cx="3063240" cy="1901952"/>
          </a:xfrm>
          <a:prstGeom prst="roundRect">
            <a:avLst/>
          </a:prstGeom>
          <a:solidFill>
            <a:srgbClr val="FFFFFF"/>
          </a:solidFill>
          <a:ln w="8890">
            <a:solidFill>
              <a:srgbClr val="D3E3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ounded Rectangle 51"/>
          <p:cNvSpPr/>
          <p:nvPr/>
        </p:nvSpPr>
        <p:spPr>
          <a:xfrm>
            <a:off x="4114800" y="3675887"/>
            <a:ext cx="73152" cy="1901952"/>
          </a:xfrm>
          <a:prstGeom prst="roundRect">
            <a:avLst/>
          </a:prstGeom>
          <a:solidFill>
            <a:srgbClr val="39A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Rounded Rectangle 60"/>
          <p:cNvSpPr/>
          <p:nvPr/>
        </p:nvSpPr>
        <p:spPr>
          <a:xfrm>
            <a:off x="7571231" y="3675887"/>
            <a:ext cx="3063240" cy="1901952"/>
          </a:xfrm>
          <a:prstGeom prst="roundRect">
            <a:avLst/>
          </a:prstGeom>
          <a:solidFill>
            <a:srgbClr val="FFFFFF"/>
          </a:solidFill>
          <a:ln w="8890">
            <a:solidFill>
              <a:srgbClr val="D3E3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Rounded Rectangle 61"/>
          <p:cNvSpPr/>
          <p:nvPr/>
        </p:nvSpPr>
        <p:spPr>
          <a:xfrm>
            <a:off x="7571231" y="3675887"/>
            <a:ext cx="73152" cy="1901952"/>
          </a:xfrm>
          <a:prstGeom prst="roundRect">
            <a:avLst/>
          </a:prstGeom>
          <a:solidFill>
            <a:srgbClr val="F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Rounded Rectangle 70"/>
          <p:cNvSpPr/>
          <p:nvPr/>
        </p:nvSpPr>
        <p:spPr>
          <a:xfrm>
            <a:off x="658368" y="5806440"/>
            <a:ext cx="9976104" cy="429768"/>
          </a:xfrm>
          <a:prstGeom prst="roundRect">
            <a:avLst/>
          </a:prstGeom>
          <a:solidFill>
            <a:srgbClr val="F8F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868680" y="5888736"/>
            <a:ext cx="1280160" cy="164592"/>
          </a:xfrm>
          <a:prstGeom prst="rect">
            <a:avLst/>
          </a:prstGeom>
          <a:noFill/>
        </p:spPr>
        <p:txBody>
          <a:bodyPr wrap="square" anchor="ctr">
            <a:spAutoFit/>
          </a:bodyPr>
          <a:lstStyle/>
          <a:p>
            <a:pPr algn="l"/>
            <a:r>
              <a:rPr sz="819" b="1">
                <a:solidFill>
                  <a:srgbClr val="1A69E1"/>
                </a:solidFill>
                <a:latin typeface="Arial"/>
              </a:rPr>
              <a:t>KIẾN TRÚC:</a:t>
            </a:r>
          </a:p>
        </p:txBody>
      </p:sp>
      <p:sp>
        <p:nvSpPr>
          <p:cNvPr id="73" name="TextBox 72"/>
          <p:cNvSpPr txBox="1"/>
          <p:nvPr/>
        </p:nvSpPr>
        <p:spPr>
          <a:xfrm>
            <a:off x="1993392" y="5852160"/>
            <a:ext cx="8138160" cy="219456"/>
          </a:xfrm>
          <a:prstGeom prst="rect">
            <a:avLst/>
          </a:prstGeom>
          <a:noFill/>
        </p:spPr>
        <p:txBody>
          <a:bodyPr wrap="square" anchor="ctr">
            <a:spAutoFit/>
          </a:bodyPr>
          <a:lstStyle/>
          <a:p>
            <a:pPr algn="l"/>
            <a:r>
              <a:rPr sz="880" b="1">
                <a:solidFill>
                  <a:srgbClr val="08275B"/>
                </a:solidFill>
                <a:latin typeface="Arial"/>
              </a:rPr>
              <a:t>Vue.js  →  Laravel / PHP  →  Database     |     VS Code + Node.js + GitHub hỗ trợ phát triển</a:t>
            </a:r>
          </a:p>
        </p:txBody>
      </p:sp>
      <p:cxnSp>
        <p:nvCxnSpPr>
          <p:cNvPr id="74" name="Connector 73"/>
          <p:cNvCxnSpPr/>
          <p:nvPr/>
        </p:nvCxnSpPr>
        <p:spPr>
          <a:xfrm>
            <a:off x="658368" y="6419088"/>
            <a:ext cx="10817352" cy="0"/>
          </a:xfrm>
          <a:prstGeom prst="line">
            <a:avLst/>
          </a:prstGeom>
          <a:ln w="12700">
            <a:solidFill>
              <a:srgbClr val="CDDEEF"/>
            </a:solidFill>
          </a:ln>
        </p:spPr>
        <p:style>
          <a:lnRef idx="2">
            <a:schemeClr val="accent1"/>
          </a:lnRef>
          <a:fillRef idx="0">
            <a:schemeClr val="accent1"/>
          </a:fillRef>
          <a:effectRef idx="1">
            <a:schemeClr val="accent1"/>
          </a:effectRef>
          <a:fontRef idx="minor">
            <a:schemeClr val="tx1"/>
          </a:fontRef>
        </p:style>
      </p:cxnSp>
      <p:sp>
        <p:nvSpPr>
          <p:cNvPr id="75" name="TextBox 74"/>
          <p:cNvSpPr txBox="1"/>
          <p:nvPr/>
        </p:nvSpPr>
        <p:spPr>
          <a:xfrm>
            <a:off x="658368" y="6501384"/>
            <a:ext cx="2743200" cy="146304"/>
          </a:xfrm>
          <a:prstGeom prst="rect">
            <a:avLst/>
          </a:prstGeom>
          <a:noFill/>
        </p:spPr>
        <p:txBody>
          <a:bodyPr wrap="square" anchor="ctr">
            <a:spAutoFit/>
          </a:bodyPr>
          <a:lstStyle/>
          <a:p>
            <a:pPr algn="l"/>
            <a:r>
              <a:rPr sz="650" b="0">
                <a:solidFill>
                  <a:srgbClr val="54657D"/>
                </a:solidFill>
                <a:latin typeface="Arial"/>
              </a:rPr>
              <a:t>WEBSITE LAPTOP &amp; ACCESSORIES</a:t>
            </a:r>
          </a:p>
        </p:txBody>
      </p:sp>
      <p:pic>
        <p:nvPicPr>
          <p:cNvPr id="13" name="Picture 12">
            <a:extLst>
              <a:ext uri="{FF2B5EF4-FFF2-40B4-BE49-F238E27FC236}">
                <a16:creationId xmlns:a16="http://schemas.microsoft.com/office/drawing/2014/main" id="{BA49087D-E18F-86A2-B56F-912847AE83C9}"/>
              </a:ext>
            </a:extLst>
          </p:cNvPr>
          <p:cNvPicPr>
            <a:picLocks noChangeAspect="1"/>
          </p:cNvPicPr>
          <p:nvPr/>
        </p:nvPicPr>
        <p:blipFill>
          <a:blip r:embed="rId2"/>
          <a:stretch>
            <a:fillRect/>
          </a:stretch>
        </p:blipFill>
        <p:spPr>
          <a:xfrm>
            <a:off x="859535" y="1664208"/>
            <a:ext cx="2691385" cy="1518217"/>
          </a:xfrm>
          <a:prstGeom prst="rect">
            <a:avLst/>
          </a:prstGeom>
        </p:spPr>
      </p:pic>
      <p:pic>
        <p:nvPicPr>
          <p:cNvPr id="14" name="Picture 13">
            <a:extLst>
              <a:ext uri="{FF2B5EF4-FFF2-40B4-BE49-F238E27FC236}">
                <a16:creationId xmlns:a16="http://schemas.microsoft.com/office/drawing/2014/main" id="{6F2C3FD5-9E75-A076-53D5-FD141819245B}"/>
              </a:ext>
            </a:extLst>
          </p:cNvPr>
          <p:cNvPicPr>
            <a:picLocks noChangeAspect="1"/>
          </p:cNvPicPr>
          <p:nvPr/>
        </p:nvPicPr>
        <p:blipFill>
          <a:blip r:embed="rId3"/>
          <a:stretch>
            <a:fillRect/>
          </a:stretch>
        </p:blipFill>
        <p:spPr>
          <a:xfrm>
            <a:off x="4358965" y="1664208"/>
            <a:ext cx="2643816" cy="1518217"/>
          </a:xfrm>
          <a:prstGeom prst="rect">
            <a:avLst/>
          </a:prstGeom>
        </p:spPr>
      </p:pic>
      <p:pic>
        <p:nvPicPr>
          <p:cNvPr id="15" name="Picture 14">
            <a:extLst>
              <a:ext uri="{FF2B5EF4-FFF2-40B4-BE49-F238E27FC236}">
                <a16:creationId xmlns:a16="http://schemas.microsoft.com/office/drawing/2014/main" id="{14F2D97C-7533-E2C5-18F4-DDC91A21F9BF}"/>
              </a:ext>
            </a:extLst>
          </p:cNvPr>
          <p:cNvPicPr>
            <a:picLocks noChangeAspect="1"/>
          </p:cNvPicPr>
          <p:nvPr/>
        </p:nvPicPr>
        <p:blipFill>
          <a:blip r:embed="rId4"/>
          <a:stretch>
            <a:fillRect/>
          </a:stretch>
        </p:blipFill>
        <p:spPr>
          <a:xfrm>
            <a:off x="7778171" y="1664208"/>
            <a:ext cx="2711930" cy="1518217"/>
          </a:xfrm>
          <a:prstGeom prst="rect">
            <a:avLst/>
          </a:prstGeom>
        </p:spPr>
      </p:pic>
      <p:pic>
        <p:nvPicPr>
          <p:cNvPr id="16" name="Picture 15">
            <a:extLst>
              <a:ext uri="{FF2B5EF4-FFF2-40B4-BE49-F238E27FC236}">
                <a16:creationId xmlns:a16="http://schemas.microsoft.com/office/drawing/2014/main" id="{A4D5E24D-EBD1-11EA-DC04-EEE52B75C6B6}"/>
              </a:ext>
            </a:extLst>
          </p:cNvPr>
          <p:cNvPicPr>
            <a:picLocks noChangeAspect="1"/>
          </p:cNvPicPr>
          <p:nvPr/>
        </p:nvPicPr>
        <p:blipFill>
          <a:blip r:embed="rId5"/>
          <a:stretch>
            <a:fillRect/>
          </a:stretch>
        </p:blipFill>
        <p:spPr>
          <a:xfrm>
            <a:off x="868680" y="3867912"/>
            <a:ext cx="2643592" cy="1484827"/>
          </a:xfrm>
          <a:prstGeom prst="rect">
            <a:avLst/>
          </a:prstGeom>
        </p:spPr>
      </p:pic>
      <p:pic>
        <p:nvPicPr>
          <p:cNvPr id="17" name="Picture 16">
            <a:extLst>
              <a:ext uri="{FF2B5EF4-FFF2-40B4-BE49-F238E27FC236}">
                <a16:creationId xmlns:a16="http://schemas.microsoft.com/office/drawing/2014/main" id="{24067C55-1AFA-095E-8666-F993FB6CA035}"/>
              </a:ext>
            </a:extLst>
          </p:cNvPr>
          <p:cNvPicPr>
            <a:picLocks noChangeAspect="1"/>
          </p:cNvPicPr>
          <p:nvPr/>
        </p:nvPicPr>
        <p:blipFill>
          <a:blip r:embed="rId6"/>
          <a:stretch>
            <a:fillRect/>
          </a:stretch>
        </p:blipFill>
        <p:spPr>
          <a:xfrm>
            <a:off x="4432116" y="3867912"/>
            <a:ext cx="2491415" cy="1528476"/>
          </a:xfrm>
          <a:prstGeom prst="rect">
            <a:avLst/>
          </a:prstGeom>
        </p:spPr>
      </p:pic>
      <p:pic>
        <p:nvPicPr>
          <p:cNvPr id="18" name="Picture 17">
            <a:extLst>
              <a:ext uri="{FF2B5EF4-FFF2-40B4-BE49-F238E27FC236}">
                <a16:creationId xmlns:a16="http://schemas.microsoft.com/office/drawing/2014/main" id="{57F97DE2-410E-2050-A07B-425F9958AB2F}"/>
              </a:ext>
            </a:extLst>
          </p:cNvPr>
          <p:cNvPicPr>
            <a:picLocks noChangeAspect="1"/>
          </p:cNvPicPr>
          <p:nvPr/>
        </p:nvPicPr>
        <p:blipFill>
          <a:blip r:embed="rId7"/>
          <a:stretch>
            <a:fillRect/>
          </a:stretch>
        </p:blipFill>
        <p:spPr>
          <a:xfrm>
            <a:off x="7741451" y="3956943"/>
            <a:ext cx="2786303" cy="1395796"/>
          </a:xfrm>
          <a:prstGeom prst="rect">
            <a:avLst/>
          </a:prstGeom>
        </p:spPr>
      </p:pic>
      <p:pic>
        <p:nvPicPr>
          <p:cNvPr id="7" name="Picture 6" descr="A black background with orange and blue text&#10;&#10;Description automatically generated">
            <a:extLst>
              <a:ext uri="{FF2B5EF4-FFF2-40B4-BE49-F238E27FC236}">
                <a16:creationId xmlns:a16="http://schemas.microsoft.com/office/drawing/2014/main" id="{092C6C11-6F81-73C1-803E-5E567B87E48C}"/>
              </a:ext>
            </a:extLst>
          </p:cNvPr>
          <p:cNvPicPr>
            <a:picLocks noChangeAspect="1"/>
          </p:cNvPicPr>
          <p:nvPr/>
        </p:nvPicPr>
        <p:blipFill>
          <a:blip r:embed="rId8"/>
          <a:stretch>
            <a:fillRect/>
          </a:stretch>
        </p:blipFill>
        <p:spPr>
          <a:xfrm>
            <a:off x="10777306" y="-88712"/>
            <a:ext cx="1164758" cy="1164758"/>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250">
        <p15:prstTrans prst="origami"/>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384048" y="256032"/>
            <a:ext cx="658368" cy="658368"/>
          </a:xfrm>
          <a:prstGeom prst="ellipse">
            <a:avLst/>
          </a:prstGeom>
          <a:solidFill>
            <a:srgbClr val="E8F5FF"/>
          </a:solidFill>
          <a:ln w="10160">
            <a:solidFill>
              <a:srgbClr val="CDE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384048"/>
            <a:ext cx="658368" cy="274320"/>
          </a:xfrm>
          <a:prstGeom prst="rect">
            <a:avLst/>
          </a:prstGeom>
          <a:noFill/>
        </p:spPr>
        <p:txBody>
          <a:bodyPr wrap="square" anchor="ctr">
            <a:spAutoFit/>
          </a:bodyPr>
          <a:lstStyle/>
          <a:p>
            <a:pPr algn="ctr"/>
            <a:r>
              <a:rPr sz="2300" b="1">
                <a:solidFill>
                  <a:srgbClr val="1C70DC"/>
                </a:solidFill>
                <a:latin typeface="Arial"/>
              </a:rPr>
              <a:t>04</a:t>
            </a:r>
          </a:p>
        </p:txBody>
      </p:sp>
      <p:sp>
        <p:nvSpPr>
          <p:cNvPr id="4" name="TextBox 3"/>
          <p:cNvSpPr txBox="1"/>
          <p:nvPr/>
        </p:nvSpPr>
        <p:spPr>
          <a:xfrm>
            <a:off x="1298448" y="219456"/>
            <a:ext cx="2194560" cy="182880"/>
          </a:xfrm>
          <a:prstGeom prst="rect">
            <a:avLst/>
          </a:prstGeom>
          <a:noFill/>
        </p:spPr>
        <p:txBody>
          <a:bodyPr wrap="square" anchor="ctr">
            <a:spAutoFit/>
          </a:bodyPr>
          <a:lstStyle/>
          <a:p>
            <a:pPr algn="l"/>
            <a:r>
              <a:rPr sz="900" b="0">
                <a:solidFill>
                  <a:srgbClr val="1C70DC"/>
                </a:solidFill>
                <a:latin typeface="Arial"/>
              </a:rPr>
              <a:t>DATABASE DESIGN</a:t>
            </a:r>
          </a:p>
        </p:txBody>
      </p:sp>
      <p:sp>
        <p:nvSpPr>
          <p:cNvPr id="5" name="TextBox 4"/>
          <p:cNvSpPr txBox="1"/>
          <p:nvPr/>
        </p:nvSpPr>
        <p:spPr>
          <a:xfrm>
            <a:off x="1298448" y="457200"/>
            <a:ext cx="3657600" cy="384048"/>
          </a:xfrm>
          <a:prstGeom prst="rect">
            <a:avLst/>
          </a:prstGeom>
          <a:noFill/>
        </p:spPr>
        <p:txBody>
          <a:bodyPr wrap="square" anchor="ctr">
            <a:spAutoFit/>
          </a:bodyPr>
          <a:lstStyle/>
          <a:p>
            <a:pPr algn="l"/>
            <a:r>
              <a:rPr sz="2700" b="1">
                <a:solidFill>
                  <a:srgbClr val="08275B"/>
                </a:solidFill>
                <a:latin typeface="Arial"/>
              </a:rPr>
              <a:t>Sơ đồ ERD</a:t>
            </a:r>
          </a:p>
        </p:txBody>
      </p:sp>
      <p:sp>
        <p:nvSpPr>
          <p:cNvPr id="6" name="TextBox 5"/>
          <p:cNvSpPr txBox="1"/>
          <p:nvPr/>
        </p:nvSpPr>
        <p:spPr>
          <a:xfrm>
            <a:off x="1298448" y="841248"/>
            <a:ext cx="6400800" cy="219456"/>
          </a:xfrm>
          <a:prstGeom prst="rect">
            <a:avLst/>
          </a:prstGeom>
          <a:noFill/>
        </p:spPr>
        <p:txBody>
          <a:bodyPr wrap="square" anchor="ctr">
            <a:spAutoFit/>
          </a:bodyPr>
          <a:lstStyle/>
          <a:p>
            <a:pPr algn="l"/>
            <a:r>
              <a:rPr sz="1000" b="0">
                <a:solidFill>
                  <a:srgbClr val="5A6778"/>
                </a:solidFill>
                <a:latin typeface="Arial"/>
              </a:rPr>
              <a:t>Mô hình quan hệ dữ liệu chính của website bán laptop &amp; phụ kiện</a:t>
            </a:r>
          </a:p>
        </p:txBody>
      </p:sp>
      <p:cxnSp>
        <p:nvCxnSpPr>
          <p:cNvPr id="7" name="Connector 6"/>
          <p:cNvCxnSpPr/>
          <p:nvPr/>
        </p:nvCxnSpPr>
        <p:spPr>
          <a:xfrm>
            <a:off x="8229600" y="612648"/>
            <a:ext cx="914400" cy="0"/>
          </a:xfrm>
          <a:prstGeom prst="line">
            <a:avLst/>
          </a:prstGeom>
          <a:ln w="12700">
            <a:solidFill>
              <a:srgbClr val="6EA5EB"/>
            </a:solidFill>
          </a:ln>
        </p:spPr>
        <p:style>
          <a:lnRef idx="2">
            <a:schemeClr val="accent1"/>
          </a:lnRef>
          <a:fillRef idx="0">
            <a:schemeClr val="accent1"/>
          </a:fillRef>
          <a:effectRef idx="1">
            <a:schemeClr val="accent1"/>
          </a:effectRef>
          <a:fontRef idx="minor">
            <a:schemeClr val="tx1"/>
          </a:fontRef>
        </p:style>
      </p:cxnSp>
      <p:sp>
        <p:nvSpPr>
          <p:cNvPr id="163" name="TextBox 162"/>
          <p:cNvSpPr txBox="1"/>
          <p:nvPr/>
        </p:nvSpPr>
        <p:spPr>
          <a:xfrm>
            <a:off x="9562996" y="1738820"/>
            <a:ext cx="1554480" cy="201168"/>
          </a:xfrm>
          <a:prstGeom prst="rect">
            <a:avLst/>
          </a:prstGeom>
          <a:noFill/>
        </p:spPr>
        <p:txBody>
          <a:bodyPr wrap="square" anchor="ctr">
            <a:spAutoFit/>
          </a:bodyPr>
          <a:lstStyle/>
          <a:p>
            <a:pPr algn="l"/>
            <a:r>
              <a:rPr sz="850" b="1">
                <a:solidFill>
                  <a:srgbClr val="1C70DC"/>
                </a:solidFill>
                <a:latin typeface="Arial"/>
              </a:rPr>
              <a:t>CHÚ THÍCH</a:t>
            </a:r>
          </a:p>
        </p:txBody>
      </p:sp>
      <p:sp>
        <p:nvSpPr>
          <p:cNvPr id="164" name="Rounded Rectangle 163"/>
          <p:cNvSpPr/>
          <p:nvPr/>
        </p:nvSpPr>
        <p:spPr>
          <a:xfrm>
            <a:off x="9281160" y="2194560"/>
            <a:ext cx="566928" cy="237744"/>
          </a:xfrm>
          <a:prstGeom prst="roundRect">
            <a:avLst/>
          </a:prstGeom>
          <a:solidFill>
            <a:srgbClr val="FFEFD2"/>
          </a:solidFill>
          <a:ln w="8890">
            <a:solidFill>
              <a:srgbClr val="F0A1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5" name="TextBox 164"/>
          <p:cNvSpPr txBox="1"/>
          <p:nvPr/>
        </p:nvSpPr>
        <p:spPr>
          <a:xfrm>
            <a:off x="9948672" y="2194560"/>
            <a:ext cx="1097280" cy="228600"/>
          </a:xfrm>
          <a:prstGeom prst="rect">
            <a:avLst/>
          </a:prstGeom>
          <a:noFill/>
        </p:spPr>
        <p:txBody>
          <a:bodyPr wrap="square" anchor="ctr">
            <a:spAutoFit/>
          </a:bodyPr>
          <a:lstStyle/>
          <a:p>
            <a:pPr algn="l"/>
            <a:r>
              <a:rPr sz="700" b="0" err="1">
                <a:solidFill>
                  <a:srgbClr val="5A6778"/>
                </a:solidFill>
                <a:latin typeface="Arial"/>
              </a:rPr>
              <a:t>Thực</a:t>
            </a:r>
            <a:r>
              <a:rPr sz="700" b="0">
                <a:solidFill>
                  <a:srgbClr val="5A6778"/>
                </a:solidFill>
                <a:latin typeface="Arial"/>
              </a:rPr>
              <a:t> </a:t>
            </a:r>
            <a:r>
              <a:rPr sz="700" b="0" err="1">
                <a:solidFill>
                  <a:srgbClr val="5A6778"/>
                </a:solidFill>
                <a:latin typeface="Arial"/>
              </a:rPr>
              <a:t>thể</a:t>
            </a:r>
          </a:p>
        </p:txBody>
      </p:sp>
      <p:sp>
        <p:nvSpPr>
          <p:cNvPr id="166" name="Oval 165"/>
          <p:cNvSpPr/>
          <p:nvPr/>
        </p:nvSpPr>
        <p:spPr>
          <a:xfrm>
            <a:off x="9281160" y="2560320"/>
            <a:ext cx="566928" cy="237744"/>
          </a:xfrm>
          <a:prstGeom prst="ellipse">
            <a:avLst/>
          </a:prstGeom>
          <a:solidFill>
            <a:srgbClr val="E8F5FF"/>
          </a:solidFill>
          <a:ln w="8890">
            <a:solidFill>
              <a:srgbClr val="4BAB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7" name="TextBox 166"/>
          <p:cNvSpPr txBox="1"/>
          <p:nvPr/>
        </p:nvSpPr>
        <p:spPr>
          <a:xfrm>
            <a:off x="9948672" y="2560320"/>
            <a:ext cx="1097280" cy="228600"/>
          </a:xfrm>
          <a:prstGeom prst="rect">
            <a:avLst/>
          </a:prstGeom>
          <a:noFill/>
        </p:spPr>
        <p:txBody>
          <a:bodyPr wrap="square" anchor="ctr">
            <a:spAutoFit/>
          </a:bodyPr>
          <a:lstStyle/>
          <a:p>
            <a:pPr algn="l"/>
            <a:r>
              <a:rPr sz="700" b="0" err="1">
                <a:solidFill>
                  <a:srgbClr val="5A6778"/>
                </a:solidFill>
                <a:latin typeface="Arial"/>
              </a:rPr>
              <a:t>Thuộc</a:t>
            </a:r>
            <a:r>
              <a:rPr sz="700" b="0">
                <a:solidFill>
                  <a:srgbClr val="5A6778"/>
                </a:solidFill>
                <a:latin typeface="Arial"/>
              </a:rPr>
              <a:t> </a:t>
            </a:r>
            <a:r>
              <a:rPr sz="700" b="0" err="1">
                <a:solidFill>
                  <a:srgbClr val="5A6778"/>
                </a:solidFill>
                <a:latin typeface="Arial"/>
              </a:rPr>
              <a:t>tính</a:t>
            </a:r>
          </a:p>
        </p:txBody>
      </p:sp>
      <p:sp>
        <p:nvSpPr>
          <p:cNvPr id="168" name="Diamond 167"/>
          <p:cNvSpPr/>
          <p:nvPr/>
        </p:nvSpPr>
        <p:spPr>
          <a:xfrm>
            <a:off x="9281160" y="2926080"/>
            <a:ext cx="566928" cy="274320"/>
          </a:xfrm>
          <a:prstGeom prst="diamond">
            <a:avLst/>
          </a:prstGeom>
          <a:solidFill>
            <a:srgbClr val="ECFAEF"/>
          </a:solidFill>
          <a:ln w="8890">
            <a:solidFill>
              <a:srgbClr val="62B8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9" name="TextBox 168"/>
          <p:cNvSpPr txBox="1"/>
          <p:nvPr/>
        </p:nvSpPr>
        <p:spPr>
          <a:xfrm>
            <a:off x="9948672" y="2926080"/>
            <a:ext cx="1097280" cy="228600"/>
          </a:xfrm>
          <a:prstGeom prst="rect">
            <a:avLst/>
          </a:prstGeom>
          <a:noFill/>
        </p:spPr>
        <p:txBody>
          <a:bodyPr wrap="square" anchor="ctr">
            <a:spAutoFit/>
          </a:bodyPr>
          <a:lstStyle/>
          <a:p>
            <a:pPr algn="l"/>
            <a:r>
              <a:rPr sz="700" b="0">
                <a:solidFill>
                  <a:srgbClr val="5A6778"/>
                </a:solidFill>
                <a:latin typeface="Arial"/>
              </a:rPr>
              <a:t>Quan </a:t>
            </a:r>
            <a:r>
              <a:rPr sz="700" b="0" err="1">
                <a:solidFill>
                  <a:srgbClr val="5A6778"/>
                </a:solidFill>
                <a:latin typeface="Arial"/>
              </a:rPr>
              <a:t>hệ</a:t>
            </a:r>
          </a:p>
        </p:txBody>
      </p:sp>
      <p:sp>
        <p:nvSpPr>
          <p:cNvPr id="170" name="TextBox 169"/>
          <p:cNvSpPr txBox="1"/>
          <p:nvPr/>
        </p:nvSpPr>
        <p:spPr>
          <a:xfrm>
            <a:off x="685800" y="6473952"/>
            <a:ext cx="2743200" cy="146304"/>
          </a:xfrm>
          <a:prstGeom prst="rect">
            <a:avLst/>
          </a:prstGeom>
          <a:noFill/>
        </p:spPr>
        <p:txBody>
          <a:bodyPr wrap="square" anchor="ctr">
            <a:spAutoFit/>
          </a:bodyPr>
          <a:lstStyle/>
          <a:p>
            <a:pPr algn="l"/>
            <a:r>
              <a:rPr sz="650" b="0">
                <a:solidFill>
                  <a:srgbClr val="5A6778"/>
                </a:solidFill>
                <a:latin typeface="Arial"/>
              </a:rPr>
              <a:t>WEBSITE LAPTOP &amp; ACCESSORIES</a:t>
            </a:r>
          </a:p>
        </p:txBody>
      </p:sp>
      <p:pic>
        <p:nvPicPr>
          <p:cNvPr id="172" name="Picture 171">
            <a:extLst>
              <a:ext uri="{FF2B5EF4-FFF2-40B4-BE49-F238E27FC236}">
                <a16:creationId xmlns:a16="http://schemas.microsoft.com/office/drawing/2014/main" id="{356FA86E-DA9F-2D15-A7FE-CB0DC75EE2D8}"/>
              </a:ext>
            </a:extLst>
          </p:cNvPr>
          <p:cNvPicPr>
            <a:picLocks noChangeAspect="1"/>
          </p:cNvPicPr>
          <p:nvPr/>
        </p:nvPicPr>
        <p:blipFill>
          <a:blip r:embed="rId2"/>
          <a:stretch>
            <a:fillRect/>
          </a:stretch>
        </p:blipFill>
        <p:spPr>
          <a:xfrm>
            <a:off x="1046120" y="1276415"/>
            <a:ext cx="7930732" cy="4968935"/>
          </a:xfrm>
          <a:prstGeom prst="rect">
            <a:avLst/>
          </a:prstGeom>
        </p:spPr>
      </p:pic>
      <p:pic>
        <p:nvPicPr>
          <p:cNvPr id="8" name="Picture 7" descr="A black background with orange and blue text&#10;&#10;Description automatically generated">
            <a:extLst>
              <a:ext uri="{FF2B5EF4-FFF2-40B4-BE49-F238E27FC236}">
                <a16:creationId xmlns:a16="http://schemas.microsoft.com/office/drawing/2014/main" id="{03F46ECF-D55F-FA66-1B6A-2985F3FC3E02}"/>
              </a:ext>
            </a:extLst>
          </p:cNvPr>
          <p:cNvPicPr>
            <a:picLocks noChangeAspect="1"/>
          </p:cNvPicPr>
          <p:nvPr/>
        </p:nvPicPr>
        <p:blipFill>
          <a:blip r:embed="rId3"/>
          <a:stretch>
            <a:fillRect/>
          </a:stretch>
        </p:blipFill>
        <p:spPr>
          <a:xfrm>
            <a:off x="10777306" y="-88712"/>
            <a:ext cx="1164758" cy="1164758"/>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Connector 1"/>
          <p:cNvCxnSpPr/>
          <p:nvPr/>
        </p:nvCxnSpPr>
        <p:spPr>
          <a:xfrm>
            <a:off x="320040" y="0"/>
            <a:ext cx="0" cy="1874519"/>
          </a:xfrm>
          <a:prstGeom prst="line">
            <a:avLst/>
          </a:prstGeom>
          <a:ln w="10160">
            <a:solidFill>
              <a:srgbClr val="0E63E6"/>
            </a:solidFill>
          </a:ln>
        </p:spPr>
        <p:style>
          <a:lnRef idx="2">
            <a:schemeClr val="accent1"/>
          </a:lnRef>
          <a:fillRef idx="0">
            <a:schemeClr val="accent1"/>
          </a:fillRef>
          <a:effectRef idx="1">
            <a:schemeClr val="accent1"/>
          </a:effectRef>
          <a:fontRef idx="minor">
            <a:schemeClr val="tx1"/>
          </a:fontRef>
        </p:style>
      </p:cxnSp>
      <p:sp>
        <p:nvSpPr>
          <p:cNvPr id="3" name="Oval 2"/>
          <p:cNvSpPr/>
          <p:nvPr/>
        </p:nvSpPr>
        <p:spPr>
          <a:xfrm>
            <a:off x="27431" y="466344"/>
            <a:ext cx="585216" cy="585216"/>
          </a:xfrm>
          <a:prstGeom prst="ellipse">
            <a:avLst/>
          </a:prstGeom>
          <a:solidFill>
            <a:srgbClr val="E1F3FF"/>
          </a:solidFill>
          <a:ln w="15240">
            <a:solidFill>
              <a:srgbClr val="0E6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137159" y="576071"/>
            <a:ext cx="365760" cy="365760"/>
          </a:xfrm>
          <a:prstGeom prst="ellipse">
            <a:avLst/>
          </a:prstGeom>
          <a:solidFill>
            <a:srgbClr val="FFFFFF"/>
          </a:solidFill>
          <a:ln w="12700">
            <a:solidFill>
              <a:srgbClr val="0E6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228599" y="667512"/>
            <a:ext cx="182880" cy="182880"/>
          </a:xfrm>
          <a:prstGeom prst="ellipse">
            <a:avLst/>
          </a:prstGeom>
          <a:solidFill>
            <a:srgbClr val="6EC1F5"/>
          </a:solidFill>
          <a:ln w="8890">
            <a:solidFill>
              <a:srgbClr val="0E6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246887" y="1499616"/>
            <a:ext cx="146304" cy="146304"/>
          </a:xfrm>
          <a:prstGeom prst="ellipse">
            <a:avLst/>
          </a:prstGeom>
          <a:solidFill>
            <a:srgbClr val="6EC1F5"/>
          </a:solidFill>
          <a:ln w="8890">
            <a:solidFill>
              <a:srgbClr val="0E6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 name="Connector 6"/>
          <p:cNvCxnSpPr/>
          <p:nvPr/>
        </p:nvCxnSpPr>
        <p:spPr>
          <a:xfrm>
            <a:off x="10104120" y="384048"/>
            <a:ext cx="868680" cy="329184"/>
          </a:xfrm>
          <a:prstGeom prst="line">
            <a:avLst/>
          </a:prstGeom>
          <a:ln w="10160">
            <a:solidFill>
              <a:srgbClr val="0E63E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10972800" y="228600"/>
            <a:ext cx="594360" cy="484632"/>
          </a:xfrm>
          <a:prstGeom prst="line">
            <a:avLst/>
          </a:prstGeom>
          <a:ln w="10160">
            <a:solidFill>
              <a:srgbClr val="0E63E6"/>
            </a:solidFill>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9994392" y="274320"/>
            <a:ext cx="219456" cy="219456"/>
          </a:xfrm>
          <a:prstGeom prst="ellipse">
            <a:avLst/>
          </a:prstGeom>
          <a:solidFill>
            <a:srgbClr val="E1F3FF"/>
          </a:solidFill>
          <a:ln w="10160">
            <a:solidFill>
              <a:srgbClr val="0E6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0716768" y="457200"/>
            <a:ext cx="512064" cy="512064"/>
          </a:xfrm>
          <a:prstGeom prst="ellipse">
            <a:avLst/>
          </a:prstGeom>
          <a:solidFill>
            <a:srgbClr val="E1F3FF"/>
          </a:solidFill>
          <a:ln w="12700">
            <a:solidFill>
              <a:srgbClr val="0E6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11475720" y="137160"/>
            <a:ext cx="182880" cy="182880"/>
          </a:xfrm>
          <a:prstGeom prst="ellipse">
            <a:avLst/>
          </a:prstGeom>
          <a:solidFill>
            <a:srgbClr val="E1F3FF"/>
          </a:solidFill>
          <a:ln w="10160">
            <a:solidFill>
              <a:srgbClr val="0E6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442448" y="36576"/>
            <a:ext cx="640080" cy="164592"/>
          </a:xfrm>
          <a:prstGeom prst="rect">
            <a:avLst/>
          </a:prstGeom>
          <a:noFill/>
        </p:spPr>
        <p:txBody>
          <a:bodyPr wrap="square" anchor="ctr">
            <a:spAutoFit/>
          </a:bodyPr>
          <a:lstStyle/>
          <a:p>
            <a:pPr algn="ctr"/>
            <a:r>
              <a:rPr sz="1300" b="1">
                <a:solidFill>
                  <a:srgbClr val="052B69"/>
                </a:solidFill>
                <a:latin typeface="Arial"/>
              </a:rPr>
              <a:t>•••</a:t>
            </a:r>
          </a:p>
        </p:txBody>
      </p:sp>
      <p:sp>
        <p:nvSpPr>
          <p:cNvPr id="13" name="TextBox 12"/>
          <p:cNvSpPr txBox="1"/>
          <p:nvPr/>
        </p:nvSpPr>
        <p:spPr>
          <a:xfrm>
            <a:off x="3794760" y="393192"/>
            <a:ext cx="4572000" cy="566928"/>
          </a:xfrm>
          <a:prstGeom prst="rect">
            <a:avLst/>
          </a:prstGeom>
          <a:noFill/>
        </p:spPr>
        <p:txBody>
          <a:bodyPr wrap="square" anchor="ctr">
            <a:spAutoFit/>
          </a:bodyPr>
          <a:lstStyle/>
          <a:p>
            <a:pPr algn="ctr"/>
            <a:r>
              <a:rPr sz="3000" b="1">
                <a:solidFill>
                  <a:srgbClr val="052B69"/>
                </a:solidFill>
                <a:latin typeface="Arial"/>
              </a:rPr>
              <a:t>Sơ đồ usecase</a:t>
            </a:r>
          </a:p>
        </p:txBody>
      </p:sp>
      <p:cxnSp>
        <p:nvCxnSpPr>
          <p:cNvPr id="14" name="Connector 13"/>
          <p:cNvCxnSpPr/>
          <p:nvPr/>
        </p:nvCxnSpPr>
        <p:spPr>
          <a:xfrm>
            <a:off x="5623560" y="1051560"/>
            <a:ext cx="548640" cy="0"/>
          </a:xfrm>
          <a:prstGeom prst="line">
            <a:avLst/>
          </a:prstGeom>
          <a:ln w="25400">
            <a:solidFill>
              <a:srgbClr val="0E63E6"/>
            </a:solidFill>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6286500" y="1028700"/>
            <a:ext cx="45720" cy="45720"/>
          </a:xfrm>
          <a:prstGeom prst="ellipse">
            <a:avLst/>
          </a:prstGeom>
          <a:solidFill>
            <a:srgbClr val="0E63E6"/>
          </a:solidFill>
          <a:ln w="2540">
            <a:solidFill>
              <a:srgbClr val="0E6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6396227" y="1028700"/>
            <a:ext cx="45720" cy="45720"/>
          </a:xfrm>
          <a:prstGeom prst="ellipse">
            <a:avLst/>
          </a:prstGeom>
          <a:solidFill>
            <a:srgbClr val="0E63E6"/>
          </a:solidFill>
          <a:ln w="2540">
            <a:solidFill>
              <a:srgbClr val="0E6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1325880" y="1600200"/>
            <a:ext cx="4617720" cy="4434840"/>
          </a:xfrm>
          <a:prstGeom prst="roundRect">
            <a:avLst/>
          </a:prstGeom>
          <a:solidFill>
            <a:srgbClr val="FFFFFF"/>
          </a:solidFill>
          <a:ln w="12700">
            <a:solidFill>
              <a:srgbClr val="BBD8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6236208" y="1600200"/>
            <a:ext cx="4617720" cy="4434840"/>
          </a:xfrm>
          <a:prstGeom prst="roundRect">
            <a:avLst/>
          </a:prstGeom>
          <a:solidFill>
            <a:srgbClr val="FFFFFF"/>
          </a:solidFill>
          <a:ln w="12700">
            <a:solidFill>
              <a:srgbClr val="BBD8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2697480" y="1444752"/>
            <a:ext cx="1371600" cy="365760"/>
          </a:xfrm>
          <a:prstGeom prst="roundRect">
            <a:avLst/>
          </a:prstGeom>
          <a:solidFill>
            <a:srgbClr val="0E63E6"/>
          </a:solidFill>
          <a:ln>
            <a:solidFill>
              <a:srgbClr val="0E6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697480" y="1481328"/>
            <a:ext cx="1371600" cy="274320"/>
          </a:xfrm>
          <a:prstGeom prst="rect">
            <a:avLst/>
          </a:prstGeom>
          <a:noFill/>
        </p:spPr>
        <p:txBody>
          <a:bodyPr wrap="square" anchor="ctr">
            <a:spAutoFit/>
          </a:bodyPr>
          <a:lstStyle/>
          <a:p>
            <a:pPr algn="ctr"/>
            <a:r>
              <a:rPr sz="1100" b="1">
                <a:solidFill>
                  <a:srgbClr val="FFFFFF"/>
                </a:solidFill>
                <a:latin typeface="Arial"/>
              </a:rPr>
              <a:t>ADMIN</a:t>
            </a:r>
          </a:p>
        </p:txBody>
      </p:sp>
      <p:sp>
        <p:nvSpPr>
          <p:cNvPr id="21" name="Rounded Rectangle 20"/>
          <p:cNvSpPr/>
          <p:nvPr/>
        </p:nvSpPr>
        <p:spPr>
          <a:xfrm>
            <a:off x="7754112" y="1444752"/>
            <a:ext cx="1572768" cy="365760"/>
          </a:xfrm>
          <a:prstGeom prst="roundRect">
            <a:avLst/>
          </a:prstGeom>
          <a:solidFill>
            <a:srgbClr val="0E63E6"/>
          </a:solidFill>
          <a:ln>
            <a:solidFill>
              <a:srgbClr val="0E6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754112" y="1481328"/>
            <a:ext cx="1572768" cy="274320"/>
          </a:xfrm>
          <a:prstGeom prst="rect">
            <a:avLst/>
          </a:prstGeom>
          <a:noFill/>
        </p:spPr>
        <p:txBody>
          <a:bodyPr wrap="square" anchor="ctr">
            <a:spAutoFit/>
          </a:bodyPr>
          <a:lstStyle/>
          <a:p>
            <a:pPr algn="ctr"/>
            <a:r>
              <a:rPr sz="1100" b="1">
                <a:solidFill>
                  <a:srgbClr val="FFFFFF"/>
                </a:solidFill>
                <a:latin typeface="Arial"/>
              </a:rPr>
              <a:t>NGƯỜI DÙNG</a:t>
            </a:r>
          </a:p>
        </p:txBody>
      </p:sp>
      <p:sp>
        <p:nvSpPr>
          <p:cNvPr id="23" name="Oval 22"/>
          <p:cNvSpPr/>
          <p:nvPr/>
        </p:nvSpPr>
        <p:spPr>
          <a:xfrm>
            <a:off x="1856231" y="3209544"/>
            <a:ext cx="219456" cy="219456"/>
          </a:xfrm>
          <a:prstGeom prst="ellipse">
            <a:avLst/>
          </a:prstGeom>
          <a:solidFill>
            <a:srgbClr val="FFFFFF"/>
          </a:solidFill>
          <a:ln w="13970">
            <a:solidFill>
              <a:srgbClr val="052B6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4" name="Connector 23"/>
          <p:cNvCxnSpPr/>
          <p:nvPr/>
        </p:nvCxnSpPr>
        <p:spPr>
          <a:xfrm>
            <a:off x="1965960" y="3429000"/>
            <a:ext cx="0" cy="347472"/>
          </a:xfrm>
          <a:prstGeom prst="line">
            <a:avLst/>
          </a:prstGeom>
          <a:ln w="13970">
            <a:solidFill>
              <a:srgbClr val="052B69"/>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1764792" y="3593592"/>
            <a:ext cx="402336" cy="0"/>
          </a:xfrm>
          <a:prstGeom prst="line">
            <a:avLst/>
          </a:prstGeom>
          <a:ln w="13970">
            <a:solidFill>
              <a:srgbClr val="052B69"/>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1783080" y="3776472"/>
            <a:ext cx="182880" cy="274320"/>
          </a:xfrm>
          <a:prstGeom prst="line">
            <a:avLst/>
          </a:prstGeom>
          <a:ln w="13970">
            <a:solidFill>
              <a:srgbClr val="052B69"/>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1965960" y="3776472"/>
            <a:ext cx="182880" cy="274320"/>
          </a:xfrm>
          <a:prstGeom prst="line">
            <a:avLst/>
          </a:prstGeom>
          <a:ln w="13970">
            <a:solidFill>
              <a:srgbClr val="052B69"/>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1527048" y="4078224"/>
            <a:ext cx="877824" cy="201168"/>
          </a:xfrm>
          <a:prstGeom prst="rect">
            <a:avLst/>
          </a:prstGeom>
          <a:noFill/>
        </p:spPr>
        <p:txBody>
          <a:bodyPr wrap="square" anchor="ctr">
            <a:spAutoFit/>
          </a:bodyPr>
          <a:lstStyle/>
          <a:p>
            <a:pPr algn="ctr"/>
            <a:r>
              <a:rPr sz="819" b="1">
                <a:solidFill>
                  <a:srgbClr val="052B69"/>
                </a:solidFill>
                <a:latin typeface="Arial"/>
              </a:rPr>
              <a:t>ADMIN</a:t>
            </a:r>
          </a:p>
        </p:txBody>
      </p:sp>
      <p:sp>
        <p:nvSpPr>
          <p:cNvPr id="29" name="Oval 28"/>
          <p:cNvSpPr/>
          <p:nvPr/>
        </p:nvSpPr>
        <p:spPr>
          <a:xfrm>
            <a:off x="6885432" y="3319272"/>
            <a:ext cx="219456" cy="219456"/>
          </a:xfrm>
          <a:prstGeom prst="ellipse">
            <a:avLst/>
          </a:prstGeom>
          <a:solidFill>
            <a:srgbClr val="FFFFFF"/>
          </a:solidFill>
          <a:ln w="13970">
            <a:solidFill>
              <a:srgbClr val="052B6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0" name="Connector 29"/>
          <p:cNvCxnSpPr/>
          <p:nvPr/>
        </p:nvCxnSpPr>
        <p:spPr>
          <a:xfrm>
            <a:off x="6995160" y="3538728"/>
            <a:ext cx="0" cy="347472"/>
          </a:xfrm>
          <a:prstGeom prst="line">
            <a:avLst/>
          </a:prstGeom>
          <a:ln w="13970">
            <a:solidFill>
              <a:srgbClr val="052B69"/>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6793992" y="3703320"/>
            <a:ext cx="402336" cy="0"/>
          </a:xfrm>
          <a:prstGeom prst="line">
            <a:avLst/>
          </a:prstGeom>
          <a:ln w="13970">
            <a:solidFill>
              <a:srgbClr val="052B69"/>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a:off x="6812280" y="3886200"/>
            <a:ext cx="182880" cy="274320"/>
          </a:xfrm>
          <a:prstGeom prst="line">
            <a:avLst/>
          </a:prstGeom>
          <a:ln w="13970">
            <a:solidFill>
              <a:srgbClr val="052B69"/>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6995160" y="3886200"/>
            <a:ext cx="182880" cy="274320"/>
          </a:xfrm>
          <a:prstGeom prst="line">
            <a:avLst/>
          </a:prstGeom>
          <a:ln w="13970">
            <a:solidFill>
              <a:srgbClr val="052B69"/>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6556248" y="4187952"/>
            <a:ext cx="877824" cy="201168"/>
          </a:xfrm>
          <a:prstGeom prst="rect">
            <a:avLst/>
          </a:prstGeom>
          <a:noFill/>
        </p:spPr>
        <p:txBody>
          <a:bodyPr wrap="square" anchor="ctr">
            <a:spAutoFit/>
          </a:bodyPr>
          <a:lstStyle/>
          <a:p>
            <a:pPr algn="ctr"/>
            <a:r>
              <a:rPr sz="819" b="1">
                <a:solidFill>
                  <a:srgbClr val="052B69"/>
                </a:solidFill>
                <a:latin typeface="Arial"/>
              </a:rPr>
              <a:t>NGƯỜI DÙNG</a:t>
            </a:r>
          </a:p>
        </p:txBody>
      </p:sp>
      <p:sp>
        <p:nvSpPr>
          <p:cNvPr id="35" name="Oval 34"/>
          <p:cNvSpPr/>
          <p:nvPr/>
        </p:nvSpPr>
        <p:spPr>
          <a:xfrm>
            <a:off x="3675887" y="1993392"/>
            <a:ext cx="1755648" cy="310896"/>
          </a:xfrm>
          <a:prstGeom prst="ellipse">
            <a:avLst/>
          </a:prstGeom>
          <a:solidFill>
            <a:srgbClr val="FFFAE8"/>
          </a:solidFill>
          <a:ln w="10160">
            <a:solidFill>
              <a:srgbClr val="F1B53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50" b="1">
                <a:solidFill>
                  <a:srgbClr val="052B69"/>
                </a:solidFill>
                <a:latin typeface="Arial"/>
              </a:rPr>
              <a:t>Quản lý tài khoản</a:t>
            </a:r>
          </a:p>
        </p:txBody>
      </p:sp>
      <p:cxnSp>
        <p:nvCxnSpPr>
          <p:cNvPr id="36" name="Connector 35"/>
          <p:cNvCxnSpPr/>
          <p:nvPr/>
        </p:nvCxnSpPr>
        <p:spPr>
          <a:xfrm flipV="1">
            <a:off x="2176272" y="2148840"/>
            <a:ext cx="1499615" cy="1536192"/>
          </a:xfrm>
          <a:prstGeom prst="line">
            <a:avLst/>
          </a:prstGeom>
          <a:ln w="8255">
            <a:solidFill>
              <a:srgbClr val="052B69"/>
            </a:solidFill>
          </a:ln>
        </p:spPr>
        <p:style>
          <a:lnRef idx="2">
            <a:schemeClr val="accent1"/>
          </a:lnRef>
          <a:fillRef idx="0">
            <a:schemeClr val="accent1"/>
          </a:fillRef>
          <a:effectRef idx="1">
            <a:schemeClr val="accent1"/>
          </a:effectRef>
          <a:fontRef idx="minor">
            <a:schemeClr val="tx1"/>
          </a:fontRef>
        </p:style>
      </p:cxnSp>
      <p:sp>
        <p:nvSpPr>
          <p:cNvPr id="37" name="Oval 36"/>
          <p:cNvSpPr/>
          <p:nvPr/>
        </p:nvSpPr>
        <p:spPr>
          <a:xfrm>
            <a:off x="3675887" y="2395728"/>
            <a:ext cx="1755648" cy="310896"/>
          </a:xfrm>
          <a:prstGeom prst="ellipse">
            <a:avLst/>
          </a:prstGeom>
          <a:solidFill>
            <a:srgbClr val="FFFAE8"/>
          </a:solidFill>
          <a:ln w="10160">
            <a:solidFill>
              <a:srgbClr val="F1B53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50" b="1">
                <a:solidFill>
                  <a:srgbClr val="052B69"/>
                </a:solidFill>
                <a:latin typeface="Arial"/>
              </a:rPr>
              <a:t>Quản lý danh mục</a:t>
            </a:r>
          </a:p>
        </p:txBody>
      </p:sp>
      <p:cxnSp>
        <p:nvCxnSpPr>
          <p:cNvPr id="38" name="Connector 37"/>
          <p:cNvCxnSpPr/>
          <p:nvPr/>
        </p:nvCxnSpPr>
        <p:spPr>
          <a:xfrm flipV="1">
            <a:off x="2176272" y="2551176"/>
            <a:ext cx="1499615" cy="1133856"/>
          </a:xfrm>
          <a:prstGeom prst="line">
            <a:avLst/>
          </a:prstGeom>
          <a:ln w="8255">
            <a:solidFill>
              <a:srgbClr val="052B69"/>
            </a:solidFill>
          </a:ln>
        </p:spPr>
        <p:style>
          <a:lnRef idx="2">
            <a:schemeClr val="accent1"/>
          </a:lnRef>
          <a:fillRef idx="0">
            <a:schemeClr val="accent1"/>
          </a:fillRef>
          <a:effectRef idx="1">
            <a:schemeClr val="accent1"/>
          </a:effectRef>
          <a:fontRef idx="minor">
            <a:schemeClr val="tx1"/>
          </a:fontRef>
        </p:style>
      </p:cxnSp>
      <p:sp>
        <p:nvSpPr>
          <p:cNvPr id="39" name="Oval 38"/>
          <p:cNvSpPr/>
          <p:nvPr/>
        </p:nvSpPr>
        <p:spPr>
          <a:xfrm>
            <a:off x="3675887" y="2798064"/>
            <a:ext cx="1755648" cy="310896"/>
          </a:xfrm>
          <a:prstGeom prst="ellipse">
            <a:avLst/>
          </a:prstGeom>
          <a:solidFill>
            <a:srgbClr val="FFFAE8"/>
          </a:solidFill>
          <a:ln w="10160">
            <a:solidFill>
              <a:srgbClr val="F1B53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50" b="1">
                <a:solidFill>
                  <a:srgbClr val="052B69"/>
                </a:solidFill>
                <a:latin typeface="Arial"/>
              </a:rPr>
              <a:t>Quản lý sản phẩm</a:t>
            </a:r>
          </a:p>
        </p:txBody>
      </p:sp>
      <p:cxnSp>
        <p:nvCxnSpPr>
          <p:cNvPr id="40" name="Connector 39"/>
          <p:cNvCxnSpPr/>
          <p:nvPr/>
        </p:nvCxnSpPr>
        <p:spPr>
          <a:xfrm flipV="1">
            <a:off x="2176272" y="2953512"/>
            <a:ext cx="1499615" cy="731520"/>
          </a:xfrm>
          <a:prstGeom prst="line">
            <a:avLst/>
          </a:prstGeom>
          <a:ln w="8255">
            <a:solidFill>
              <a:srgbClr val="052B69"/>
            </a:solidFill>
          </a:ln>
        </p:spPr>
        <p:style>
          <a:lnRef idx="2">
            <a:schemeClr val="accent1"/>
          </a:lnRef>
          <a:fillRef idx="0">
            <a:schemeClr val="accent1"/>
          </a:fillRef>
          <a:effectRef idx="1">
            <a:schemeClr val="accent1"/>
          </a:effectRef>
          <a:fontRef idx="minor">
            <a:schemeClr val="tx1"/>
          </a:fontRef>
        </p:style>
      </p:cxnSp>
      <p:sp>
        <p:nvSpPr>
          <p:cNvPr id="41" name="Oval 40"/>
          <p:cNvSpPr/>
          <p:nvPr/>
        </p:nvSpPr>
        <p:spPr>
          <a:xfrm>
            <a:off x="3675887" y="3200400"/>
            <a:ext cx="1755648" cy="310896"/>
          </a:xfrm>
          <a:prstGeom prst="ellipse">
            <a:avLst/>
          </a:prstGeom>
          <a:solidFill>
            <a:srgbClr val="FFFAE8"/>
          </a:solidFill>
          <a:ln w="10160">
            <a:solidFill>
              <a:srgbClr val="F1B53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50" b="1">
                <a:solidFill>
                  <a:srgbClr val="052B69"/>
                </a:solidFill>
                <a:latin typeface="Arial"/>
              </a:rPr>
              <a:t>Quản lý đơn hàng</a:t>
            </a:r>
          </a:p>
        </p:txBody>
      </p:sp>
      <p:cxnSp>
        <p:nvCxnSpPr>
          <p:cNvPr id="42" name="Connector 41"/>
          <p:cNvCxnSpPr/>
          <p:nvPr/>
        </p:nvCxnSpPr>
        <p:spPr>
          <a:xfrm flipV="1">
            <a:off x="2176272" y="3355848"/>
            <a:ext cx="1499615" cy="329184"/>
          </a:xfrm>
          <a:prstGeom prst="line">
            <a:avLst/>
          </a:prstGeom>
          <a:ln w="8255">
            <a:solidFill>
              <a:srgbClr val="052B69"/>
            </a:solidFill>
          </a:ln>
        </p:spPr>
        <p:style>
          <a:lnRef idx="2">
            <a:schemeClr val="accent1"/>
          </a:lnRef>
          <a:fillRef idx="0">
            <a:schemeClr val="accent1"/>
          </a:fillRef>
          <a:effectRef idx="1">
            <a:schemeClr val="accent1"/>
          </a:effectRef>
          <a:fontRef idx="minor">
            <a:schemeClr val="tx1"/>
          </a:fontRef>
        </p:style>
      </p:cxnSp>
      <p:sp>
        <p:nvSpPr>
          <p:cNvPr id="43" name="Oval 42"/>
          <p:cNvSpPr/>
          <p:nvPr/>
        </p:nvSpPr>
        <p:spPr>
          <a:xfrm>
            <a:off x="3675887" y="3602736"/>
            <a:ext cx="1755648" cy="310896"/>
          </a:xfrm>
          <a:prstGeom prst="ellipse">
            <a:avLst/>
          </a:prstGeom>
          <a:solidFill>
            <a:srgbClr val="FFFAE8"/>
          </a:solidFill>
          <a:ln w="10160">
            <a:solidFill>
              <a:srgbClr val="F1B53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50" b="1">
                <a:solidFill>
                  <a:srgbClr val="052B69"/>
                </a:solidFill>
                <a:latin typeface="Arial"/>
              </a:rPr>
              <a:t>Quản lý khuyến mãi</a:t>
            </a:r>
          </a:p>
        </p:txBody>
      </p:sp>
      <p:cxnSp>
        <p:nvCxnSpPr>
          <p:cNvPr id="44" name="Connector 43"/>
          <p:cNvCxnSpPr/>
          <p:nvPr/>
        </p:nvCxnSpPr>
        <p:spPr>
          <a:xfrm>
            <a:off x="2176272" y="3685032"/>
            <a:ext cx="1499615" cy="73152"/>
          </a:xfrm>
          <a:prstGeom prst="line">
            <a:avLst/>
          </a:prstGeom>
          <a:ln w="8255">
            <a:solidFill>
              <a:srgbClr val="052B69"/>
            </a:solidFill>
          </a:ln>
        </p:spPr>
        <p:style>
          <a:lnRef idx="2">
            <a:schemeClr val="accent1"/>
          </a:lnRef>
          <a:fillRef idx="0">
            <a:schemeClr val="accent1"/>
          </a:fillRef>
          <a:effectRef idx="1">
            <a:schemeClr val="accent1"/>
          </a:effectRef>
          <a:fontRef idx="minor">
            <a:schemeClr val="tx1"/>
          </a:fontRef>
        </p:style>
      </p:cxnSp>
      <p:sp>
        <p:nvSpPr>
          <p:cNvPr id="45" name="Oval 44"/>
          <p:cNvSpPr/>
          <p:nvPr/>
        </p:nvSpPr>
        <p:spPr>
          <a:xfrm>
            <a:off x="3675887" y="4005072"/>
            <a:ext cx="1755648" cy="310896"/>
          </a:xfrm>
          <a:prstGeom prst="ellipse">
            <a:avLst/>
          </a:prstGeom>
          <a:solidFill>
            <a:srgbClr val="FFFAE8"/>
          </a:solidFill>
          <a:ln w="10160">
            <a:solidFill>
              <a:srgbClr val="F1B53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50" b="1">
                <a:solidFill>
                  <a:srgbClr val="052B69"/>
                </a:solidFill>
                <a:latin typeface="Arial"/>
              </a:rPr>
              <a:t>Quản lý thương hiệu</a:t>
            </a:r>
          </a:p>
        </p:txBody>
      </p:sp>
      <p:cxnSp>
        <p:nvCxnSpPr>
          <p:cNvPr id="46" name="Connector 45"/>
          <p:cNvCxnSpPr/>
          <p:nvPr/>
        </p:nvCxnSpPr>
        <p:spPr>
          <a:xfrm>
            <a:off x="2176272" y="3685032"/>
            <a:ext cx="1499615" cy="475488"/>
          </a:xfrm>
          <a:prstGeom prst="line">
            <a:avLst/>
          </a:prstGeom>
          <a:ln w="8255">
            <a:solidFill>
              <a:srgbClr val="052B69"/>
            </a:solidFill>
          </a:ln>
        </p:spPr>
        <p:style>
          <a:lnRef idx="2">
            <a:schemeClr val="accent1"/>
          </a:lnRef>
          <a:fillRef idx="0">
            <a:schemeClr val="accent1"/>
          </a:fillRef>
          <a:effectRef idx="1">
            <a:schemeClr val="accent1"/>
          </a:effectRef>
          <a:fontRef idx="minor">
            <a:schemeClr val="tx1"/>
          </a:fontRef>
        </p:style>
      </p:cxnSp>
      <p:sp>
        <p:nvSpPr>
          <p:cNvPr id="47" name="Oval 46"/>
          <p:cNvSpPr/>
          <p:nvPr/>
        </p:nvSpPr>
        <p:spPr>
          <a:xfrm>
            <a:off x="3675887" y="4407408"/>
            <a:ext cx="1755648" cy="310896"/>
          </a:xfrm>
          <a:prstGeom prst="ellipse">
            <a:avLst/>
          </a:prstGeom>
          <a:solidFill>
            <a:srgbClr val="FFFAE8"/>
          </a:solidFill>
          <a:ln w="10160">
            <a:solidFill>
              <a:srgbClr val="F1B53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50" b="1">
                <a:solidFill>
                  <a:srgbClr val="052B69"/>
                </a:solidFill>
                <a:latin typeface="Arial"/>
              </a:rPr>
              <a:t>Quản lý thống kê</a:t>
            </a:r>
          </a:p>
        </p:txBody>
      </p:sp>
      <p:cxnSp>
        <p:nvCxnSpPr>
          <p:cNvPr id="48" name="Connector 47"/>
          <p:cNvCxnSpPr/>
          <p:nvPr/>
        </p:nvCxnSpPr>
        <p:spPr>
          <a:xfrm>
            <a:off x="2176272" y="3685032"/>
            <a:ext cx="1499615" cy="877824"/>
          </a:xfrm>
          <a:prstGeom prst="line">
            <a:avLst/>
          </a:prstGeom>
          <a:ln w="8255">
            <a:solidFill>
              <a:srgbClr val="052B69"/>
            </a:solidFill>
          </a:ln>
        </p:spPr>
        <p:style>
          <a:lnRef idx="2">
            <a:schemeClr val="accent1"/>
          </a:lnRef>
          <a:fillRef idx="0">
            <a:schemeClr val="accent1"/>
          </a:fillRef>
          <a:effectRef idx="1">
            <a:schemeClr val="accent1"/>
          </a:effectRef>
          <a:fontRef idx="minor">
            <a:schemeClr val="tx1"/>
          </a:fontRef>
        </p:style>
      </p:cxnSp>
      <p:sp>
        <p:nvSpPr>
          <p:cNvPr id="49" name="Oval 48"/>
          <p:cNvSpPr/>
          <p:nvPr/>
        </p:nvSpPr>
        <p:spPr>
          <a:xfrm>
            <a:off x="3675887" y="4809744"/>
            <a:ext cx="1755648" cy="310896"/>
          </a:xfrm>
          <a:prstGeom prst="ellipse">
            <a:avLst/>
          </a:prstGeom>
          <a:solidFill>
            <a:srgbClr val="FFFAE8"/>
          </a:solidFill>
          <a:ln w="10160">
            <a:solidFill>
              <a:srgbClr val="F1B53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50" b="1">
                <a:solidFill>
                  <a:srgbClr val="052B69"/>
                </a:solidFill>
                <a:latin typeface="Arial"/>
              </a:rPr>
              <a:t>Quản lý tin tức</a:t>
            </a:r>
          </a:p>
        </p:txBody>
      </p:sp>
      <p:cxnSp>
        <p:nvCxnSpPr>
          <p:cNvPr id="50" name="Connector 49"/>
          <p:cNvCxnSpPr/>
          <p:nvPr/>
        </p:nvCxnSpPr>
        <p:spPr>
          <a:xfrm>
            <a:off x="2176272" y="3685032"/>
            <a:ext cx="1499615" cy="1280160"/>
          </a:xfrm>
          <a:prstGeom prst="line">
            <a:avLst/>
          </a:prstGeom>
          <a:ln w="8255">
            <a:solidFill>
              <a:srgbClr val="052B69"/>
            </a:solidFill>
          </a:ln>
        </p:spPr>
        <p:style>
          <a:lnRef idx="2">
            <a:schemeClr val="accent1"/>
          </a:lnRef>
          <a:fillRef idx="0">
            <a:schemeClr val="accent1"/>
          </a:fillRef>
          <a:effectRef idx="1">
            <a:schemeClr val="accent1"/>
          </a:effectRef>
          <a:fontRef idx="minor">
            <a:schemeClr val="tx1"/>
          </a:fontRef>
        </p:style>
      </p:cxnSp>
      <p:sp>
        <p:nvSpPr>
          <p:cNvPr id="51" name="Oval 50"/>
          <p:cNvSpPr/>
          <p:nvPr/>
        </p:nvSpPr>
        <p:spPr>
          <a:xfrm>
            <a:off x="3675887" y="5212080"/>
            <a:ext cx="1755648" cy="310896"/>
          </a:xfrm>
          <a:prstGeom prst="ellipse">
            <a:avLst/>
          </a:prstGeom>
          <a:solidFill>
            <a:srgbClr val="FFFAE8"/>
          </a:solidFill>
          <a:ln w="10160">
            <a:solidFill>
              <a:srgbClr val="F1B53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50" b="1">
                <a:solidFill>
                  <a:srgbClr val="052B69"/>
                </a:solidFill>
                <a:latin typeface="Arial"/>
              </a:rPr>
              <a:t>Quản lý biến thể sản phẩm</a:t>
            </a:r>
          </a:p>
        </p:txBody>
      </p:sp>
      <p:cxnSp>
        <p:nvCxnSpPr>
          <p:cNvPr id="52" name="Connector 51"/>
          <p:cNvCxnSpPr/>
          <p:nvPr/>
        </p:nvCxnSpPr>
        <p:spPr>
          <a:xfrm>
            <a:off x="2176272" y="3685032"/>
            <a:ext cx="1499615" cy="1682496"/>
          </a:xfrm>
          <a:prstGeom prst="line">
            <a:avLst/>
          </a:prstGeom>
          <a:ln w="8255">
            <a:solidFill>
              <a:srgbClr val="052B69"/>
            </a:solidFill>
          </a:ln>
        </p:spPr>
        <p:style>
          <a:lnRef idx="2">
            <a:schemeClr val="accent1"/>
          </a:lnRef>
          <a:fillRef idx="0">
            <a:schemeClr val="accent1"/>
          </a:fillRef>
          <a:effectRef idx="1">
            <a:schemeClr val="accent1"/>
          </a:effectRef>
          <a:fontRef idx="minor">
            <a:schemeClr val="tx1"/>
          </a:fontRef>
        </p:style>
      </p:cxnSp>
      <p:sp>
        <p:nvSpPr>
          <p:cNvPr id="53" name="Oval 52"/>
          <p:cNvSpPr/>
          <p:nvPr/>
        </p:nvSpPr>
        <p:spPr>
          <a:xfrm>
            <a:off x="1536192" y="5001768"/>
            <a:ext cx="960120" cy="329184"/>
          </a:xfrm>
          <a:prstGeom prst="ellipse">
            <a:avLst/>
          </a:prstGeom>
          <a:solidFill>
            <a:srgbClr val="E1F3FF"/>
          </a:solidFill>
          <a:ln w="10160">
            <a:solidFill>
              <a:srgbClr val="0E6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30" b="1">
                <a:solidFill>
                  <a:srgbClr val="052B69"/>
                </a:solidFill>
                <a:latin typeface="Arial"/>
              </a:rPr>
              <a:t>Đăng nhập</a:t>
            </a:r>
          </a:p>
        </p:txBody>
      </p:sp>
      <p:cxnSp>
        <p:nvCxnSpPr>
          <p:cNvPr id="54" name="Connector 53"/>
          <p:cNvCxnSpPr>
            <a:cxnSpLocks/>
            <a:stCxn id="28" idx="2"/>
          </p:cNvCxnSpPr>
          <p:nvPr/>
        </p:nvCxnSpPr>
        <p:spPr>
          <a:xfrm>
            <a:off x="1965960" y="4279392"/>
            <a:ext cx="0" cy="722376"/>
          </a:xfrm>
          <a:prstGeom prst="line">
            <a:avLst/>
          </a:prstGeom>
          <a:ln w="9525">
            <a:solidFill>
              <a:srgbClr val="052B69"/>
            </a:solidFill>
          </a:ln>
        </p:spPr>
        <p:style>
          <a:lnRef idx="2">
            <a:schemeClr val="accent1"/>
          </a:lnRef>
          <a:fillRef idx="0">
            <a:schemeClr val="accent1"/>
          </a:fillRef>
          <a:effectRef idx="1">
            <a:schemeClr val="accent1"/>
          </a:effectRef>
          <a:fontRef idx="minor">
            <a:schemeClr val="tx1"/>
          </a:fontRef>
        </p:style>
      </p:cxnSp>
      <p:sp>
        <p:nvSpPr>
          <p:cNvPr id="55" name="Oval 54"/>
          <p:cNvSpPr/>
          <p:nvPr/>
        </p:nvSpPr>
        <p:spPr>
          <a:xfrm>
            <a:off x="8887968" y="2139696"/>
            <a:ext cx="1719072" cy="310896"/>
          </a:xfrm>
          <a:prstGeom prst="ellipse">
            <a:avLst/>
          </a:prstGeom>
          <a:solidFill>
            <a:srgbClr val="FFFAE8"/>
          </a:solidFill>
          <a:ln w="10160">
            <a:solidFill>
              <a:srgbClr val="F1B53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50" b="1">
                <a:solidFill>
                  <a:srgbClr val="052B69"/>
                </a:solidFill>
                <a:latin typeface="Arial"/>
              </a:rPr>
              <a:t>Quản lý thông tin cá nhân</a:t>
            </a:r>
          </a:p>
        </p:txBody>
      </p:sp>
      <p:cxnSp>
        <p:nvCxnSpPr>
          <p:cNvPr id="56" name="Connector 55"/>
          <p:cNvCxnSpPr/>
          <p:nvPr/>
        </p:nvCxnSpPr>
        <p:spPr>
          <a:xfrm flipV="1">
            <a:off x="7223760" y="2295144"/>
            <a:ext cx="1664208" cy="1499616"/>
          </a:xfrm>
          <a:prstGeom prst="line">
            <a:avLst/>
          </a:prstGeom>
          <a:ln w="8255">
            <a:solidFill>
              <a:srgbClr val="052B69"/>
            </a:solidFill>
          </a:ln>
        </p:spPr>
        <p:style>
          <a:lnRef idx="2">
            <a:schemeClr val="accent1"/>
          </a:lnRef>
          <a:fillRef idx="0">
            <a:schemeClr val="accent1"/>
          </a:fillRef>
          <a:effectRef idx="1">
            <a:schemeClr val="accent1"/>
          </a:effectRef>
          <a:fontRef idx="minor">
            <a:schemeClr val="tx1"/>
          </a:fontRef>
        </p:style>
      </p:cxnSp>
      <p:sp>
        <p:nvSpPr>
          <p:cNvPr id="57" name="Oval 56"/>
          <p:cNvSpPr/>
          <p:nvPr/>
        </p:nvSpPr>
        <p:spPr>
          <a:xfrm>
            <a:off x="8887968" y="2578608"/>
            <a:ext cx="1719072" cy="310896"/>
          </a:xfrm>
          <a:prstGeom prst="ellipse">
            <a:avLst/>
          </a:prstGeom>
          <a:solidFill>
            <a:srgbClr val="FFFAE8"/>
          </a:solidFill>
          <a:ln w="10160">
            <a:solidFill>
              <a:srgbClr val="F1B53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50" b="1">
                <a:solidFill>
                  <a:srgbClr val="052B69"/>
                </a:solidFill>
                <a:latin typeface="Arial"/>
              </a:rPr>
              <a:t>Quản lý giỏ hàng</a:t>
            </a:r>
          </a:p>
        </p:txBody>
      </p:sp>
      <p:cxnSp>
        <p:nvCxnSpPr>
          <p:cNvPr id="58" name="Connector 57"/>
          <p:cNvCxnSpPr/>
          <p:nvPr/>
        </p:nvCxnSpPr>
        <p:spPr>
          <a:xfrm flipV="1">
            <a:off x="7223760" y="2734056"/>
            <a:ext cx="1664208" cy="1060704"/>
          </a:xfrm>
          <a:prstGeom prst="line">
            <a:avLst/>
          </a:prstGeom>
          <a:ln w="8255">
            <a:solidFill>
              <a:srgbClr val="052B69"/>
            </a:solidFill>
          </a:ln>
        </p:spPr>
        <p:style>
          <a:lnRef idx="2">
            <a:schemeClr val="accent1"/>
          </a:lnRef>
          <a:fillRef idx="0">
            <a:schemeClr val="accent1"/>
          </a:fillRef>
          <a:effectRef idx="1">
            <a:schemeClr val="accent1"/>
          </a:effectRef>
          <a:fontRef idx="minor">
            <a:schemeClr val="tx1"/>
          </a:fontRef>
        </p:style>
      </p:cxnSp>
      <p:sp>
        <p:nvSpPr>
          <p:cNvPr id="59" name="Oval 58"/>
          <p:cNvSpPr/>
          <p:nvPr/>
        </p:nvSpPr>
        <p:spPr>
          <a:xfrm>
            <a:off x="8887968" y="3017520"/>
            <a:ext cx="1719072" cy="310896"/>
          </a:xfrm>
          <a:prstGeom prst="ellipse">
            <a:avLst/>
          </a:prstGeom>
          <a:solidFill>
            <a:srgbClr val="FFFAE8"/>
          </a:solidFill>
          <a:ln w="10160">
            <a:solidFill>
              <a:srgbClr val="F1B53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50" b="1">
                <a:solidFill>
                  <a:srgbClr val="052B69"/>
                </a:solidFill>
                <a:latin typeface="Arial"/>
              </a:rPr>
              <a:t>Quản lý đơn hàng</a:t>
            </a:r>
          </a:p>
        </p:txBody>
      </p:sp>
      <p:cxnSp>
        <p:nvCxnSpPr>
          <p:cNvPr id="60" name="Connector 59"/>
          <p:cNvCxnSpPr/>
          <p:nvPr/>
        </p:nvCxnSpPr>
        <p:spPr>
          <a:xfrm flipV="1">
            <a:off x="7223760" y="3172968"/>
            <a:ext cx="1664208" cy="621792"/>
          </a:xfrm>
          <a:prstGeom prst="line">
            <a:avLst/>
          </a:prstGeom>
          <a:ln w="8255">
            <a:solidFill>
              <a:srgbClr val="052B69"/>
            </a:solidFill>
          </a:ln>
        </p:spPr>
        <p:style>
          <a:lnRef idx="2">
            <a:schemeClr val="accent1"/>
          </a:lnRef>
          <a:fillRef idx="0">
            <a:schemeClr val="accent1"/>
          </a:fillRef>
          <a:effectRef idx="1">
            <a:schemeClr val="accent1"/>
          </a:effectRef>
          <a:fontRef idx="minor">
            <a:schemeClr val="tx1"/>
          </a:fontRef>
        </p:style>
      </p:cxnSp>
      <p:sp>
        <p:nvSpPr>
          <p:cNvPr id="61" name="Oval 60"/>
          <p:cNvSpPr/>
          <p:nvPr/>
        </p:nvSpPr>
        <p:spPr>
          <a:xfrm>
            <a:off x="8887968" y="3456432"/>
            <a:ext cx="1719072" cy="310896"/>
          </a:xfrm>
          <a:prstGeom prst="ellipse">
            <a:avLst/>
          </a:prstGeom>
          <a:solidFill>
            <a:srgbClr val="FFFAE8"/>
          </a:solidFill>
          <a:ln w="10160">
            <a:solidFill>
              <a:srgbClr val="F1B53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50" b="1">
                <a:solidFill>
                  <a:srgbClr val="052B69"/>
                </a:solidFill>
                <a:latin typeface="Arial"/>
              </a:rPr>
              <a:t>Quản lý sản phẩm yêu thích</a:t>
            </a:r>
          </a:p>
        </p:txBody>
      </p:sp>
      <p:cxnSp>
        <p:nvCxnSpPr>
          <p:cNvPr id="62" name="Connector 61"/>
          <p:cNvCxnSpPr/>
          <p:nvPr/>
        </p:nvCxnSpPr>
        <p:spPr>
          <a:xfrm flipV="1">
            <a:off x="7223760" y="3611879"/>
            <a:ext cx="1664208" cy="182881"/>
          </a:xfrm>
          <a:prstGeom prst="line">
            <a:avLst/>
          </a:prstGeom>
          <a:ln w="8255">
            <a:solidFill>
              <a:srgbClr val="052B69"/>
            </a:solidFill>
          </a:ln>
        </p:spPr>
        <p:style>
          <a:lnRef idx="2">
            <a:schemeClr val="accent1"/>
          </a:lnRef>
          <a:fillRef idx="0">
            <a:schemeClr val="accent1"/>
          </a:fillRef>
          <a:effectRef idx="1">
            <a:schemeClr val="accent1"/>
          </a:effectRef>
          <a:fontRef idx="minor">
            <a:schemeClr val="tx1"/>
          </a:fontRef>
        </p:style>
      </p:cxnSp>
      <p:sp>
        <p:nvSpPr>
          <p:cNvPr id="63" name="Oval 62"/>
          <p:cNvSpPr/>
          <p:nvPr/>
        </p:nvSpPr>
        <p:spPr>
          <a:xfrm>
            <a:off x="8887968" y="3895344"/>
            <a:ext cx="1719072" cy="310896"/>
          </a:xfrm>
          <a:prstGeom prst="ellipse">
            <a:avLst/>
          </a:prstGeom>
          <a:solidFill>
            <a:srgbClr val="FFFAE8"/>
          </a:solidFill>
          <a:ln w="10160">
            <a:solidFill>
              <a:srgbClr val="F1B53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50" b="1">
                <a:solidFill>
                  <a:srgbClr val="052B69"/>
                </a:solidFill>
                <a:latin typeface="Arial"/>
              </a:rPr>
              <a:t>Đánh giá sản phẩm</a:t>
            </a:r>
          </a:p>
        </p:txBody>
      </p:sp>
      <p:cxnSp>
        <p:nvCxnSpPr>
          <p:cNvPr id="64" name="Connector 63"/>
          <p:cNvCxnSpPr/>
          <p:nvPr/>
        </p:nvCxnSpPr>
        <p:spPr>
          <a:xfrm>
            <a:off x="7223760" y="3794760"/>
            <a:ext cx="1664208" cy="256031"/>
          </a:xfrm>
          <a:prstGeom prst="line">
            <a:avLst/>
          </a:prstGeom>
          <a:ln w="8255">
            <a:solidFill>
              <a:srgbClr val="052B69"/>
            </a:solidFill>
          </a:ln>
        </p:spPr>
        <p:style>
          <a:lnRef idx="2">
            <a:schemeClr val="accent1"/>
          </a:lnRef>
          <a:fillRef idx="0">
            <a:schemeClr val="accent1"/>
          </a:fillRef>
          <a:effectRef idx="1">
            <a:schemeClr val="accent1"/>
          </a:effectRef>
          <a:fontRef idx="minor">
            <a:schemeClr val="tx1"/>
          </a:fontRef>
        </p:style>
      </p:cxnSp>
      <p:sp>
        <p:nvSpPr>
          <p:cNvPr id="65" name="Oval 64"/>
          <p:cNvSpPr/>
          <p:nvPr/>
        </p:nvSpPr>
        <p:spPr>
          <a:xfrm>
            <a:off x="8887968" y="4334256"/>
            <a:ext cx="1719072" cy="310896"/>
          </a:xfrm>
          <a:prstGeom prst="ellipse">
            <a:avLst/>
          </a:prstGeom>
          <a:solidFill>
            <a:srgbClr val="FFFAE8"/>
          </a:solidFill>
          <a:ln w="10160">
            <a:solidFill>
              <a:srgbClr val="F1B53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50" b="1">
                <a:solidFill>
                  <a:srgbClr val="052B69"/>
                </a:solidFill>
                <a:latin typeface="Arial"/>
              </a:rPr>
              <a:t>Đặt hàng</a:t>
            </a:r>
          </a:p>
        </p:txBody>
      </p:sp>
      <p:cxnSp>
        <p:nvCxnSpPr>
          <p:cNvPr id="66" name="Connector 65"/>
          <p:cNvCxnSpPr/>
          <p:nvPr/>
        </p:nvCxnSpPr>
        <p:spPr>
          <a:xfrm>
            <a:off x="7223760" y="3794760"/>
            <a:ext cx="1664208" cy="694944"/>
          </a:xfrm>
          <a:prstGeom prst="line">
            <a:avLst/>
          </a:prstGeom>
          <a:ln w="8255">
            <a:solidFill>
              <a:srgbClr val="052B69"/>
            </a:solidFill>
          </a:ln>
        </p:spPr>
        <p:style>
          <a:lnRef idx="2">
            <a:schemeClr val="accent1"/>
          </a:lnRef>
          <a:fillRef idx="0">
            <a:schemeClr val="accent1"/>
          </a:fillRef>
          <a:effectRef idx="1">
            <a:schemeClr val="accent1"/>
          </a:effectRef>
          <a:fontRef idx="minor">
            <a:schemeClr val="tx1"/>
          </a:fontRef>
        </p:style>
      </p:cxnSp>
      <p:sp>
        <p:nvSpPr>
          <p:cNvPr id="67" name="Oval 66"/>
          <p:cNvSpPr/>
          <p:nvPr/>
        </p:nvSpPr>
        <p:spPr>
          <a:xfrm>
            <a:off x="8887968" y="4773168"/>
            <a:ext cx="1719072" cy="310896"/>
          </a:xfrm>
          <a:prstGeom prst="ellipse">
            <a:avLst/>
          </a:prstGeom>
          <a:solidFill>
            <a:srgbClr val="FFFAE8"/>
          </a:solidFill>
          <a:ln w="10160">
            <a:solidFill>
              <a:srgbClr val="F1B53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50" b="1">
                <a:solidFill>
                  <a:srgbClr val="052B69"/>
                </a:solidFill>
                <a:latin typeface="Arial"/>
              </a:rPr>
              <a:t>Thanh toán</a:t>
            </a:r>
          </a:p>
        </p:txBody>
      </p:sp>
      <p:cxnSp>
        <p:nvCxnSpPr>
          <p:cNvPr id="68" name="Connector 67"/>
          <p:cNvCxnSpPr/>
          <p:nvPr/>
        </p:nvCxnSpPr>
        <p:spPr>
          <a:xfrm>
            <a:off x="7223760" y="3794760"/>
            <a:ext cx="1664208" cy="1133856"/>
          </a:xfrm>
          <a:prstGeom prst="line">
            <a:avLst/>
          </a:prstGeom>
          <a:ln w="8255">
            <a:solidFill>
              <a:srgbClr val="052B69"/>
            </a:solidFill>
          </a:ln>
        </p:spPr>
        <p:style>
          <a:lnRef idx="2">
            <a:schemeClr val="accent1"/>
          </a:lnRef>
          <a:fillRef idx="0">
            <a:schemeClr val="accent1"/>
          </a:fillRef>
          <a:effectRef idx="1">
            <a:schemeClr val="accent1"/>
          </a:effectRef>
          <a:fontRef idx="minor">
            <a:schemeClr val="tx1"/>
          </a:fontRef>
        </p:style>
      </p:cxnSp>
      <p:sp>
        <p:nvSpPr>
          <p:cNvPr id="69" name="Oval 68"/>
          <p:cNvSpPr/>
          <p:nvPr/>
        </p:nvSpPr>
        <p:spPr>
          <a:xfrm>
            <a:off x="8887968" y="5212080"/>
            <a:ext cx="1719072" cy="310896"/>
          </a:xfrm>
          <a:prstGeom prst="ellipse">
            <a:avLst/>
          </a:prstGeom>
          <a:solidFill>
            <a:srgbClr val="FFFAE8"/>
          </a:solidFill>
          <a:ln w="10160">
            <a:solidFill>
              <a:srgbClr val="F1B53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50" b="1">
                <a:solidFill>
                  <a:srgbClr val="052B69"/>
                </a:solidFill>
                <a:latin typeface="Arial"/>
              </a:rPr>
              <a:t>Xem chi tiết sản phẩm</a:t>
            </a:r>
          </a:p>
        </p:txBody>
      </p:sp>
      <p:cxnSp>
        <p:nvCxnSpPr>
          <p:cNvPr id="70" name="Connector 69"/>
          <p:cNvCxnSpPr/>
          <p:nvPr/>
        </p:nvCxnSpPr>
        <p:spPr>
          <a:xfrm>
            <a:off x="7223760" y="3794760"/>
            <a:ext cx="1664208" cy="1572768"/>
          </a:xfrm>
          <a:prstGeom prst="line">
            <a:avLst/>
          </a:prstGeom>
          <a:ln w="8255">
            <a:solidFill>
              <a:srgbClr val="052B69"/>
            </a:solidFill>
          </a:ln>
        </p:spPr>
        <p:style>
          <a:lnRef idx="2">
            <a:schemeClr val="accent1"/>
          </a:lnRef>
          <a:fillRef idx="0">
            <a:schemeClr val="accent1"/>
          </a:fillRef>
          <a:effectRef idx="1">
            <a:schemeClr val="accent1"/>
          </a:effectRef>
          <a:fontRef idx="minor">
            <a:schemeClr val="tx1"/>
          </a:fontRef>
        </p:style>
      </p:cxnSp>
      <p:sp>
        <p:nvSpPr>
          <p:cNvPr id="71" name="Oval 70"/>
          <p:cNvSpPr/>
          <p:nvPr/>
        </p:nvSpPr>
        <p:spPr>
          <a:xfrm>
            <a:off x="6327648" y="4983480"/>
            <a:ext cx="868680" cy="329184"/>
          </a:xfrm>
          <a:prstGeom prst="ellipse">
            <a:avLst/>
          </a:prstGeom>
          <a:solidFill>
            <a:srgbClr val="E1F3FF"/>
          </a:solidFill>
          <a:ln w="10160">
            <a:solidFill>
              <a:srgbClr val="0E6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10" b="1">
                <a:solidFill>
                  <a:srgbClr val="052B69"/>
                </a:solidFill>
                <a:latin typeface="Arial"/>
              </a:rPr>
              <a:t>Đăng nhập</a:t>
            </a:r>
          </a:p>
        </p:txBody>
      </p:sp>
      <p:sp>
        <p:nvSpPr>
          <p:cNvPr id="72" name="Oval 71"/>
          <p:cNvSpPr/>
          <p:nvPr/>
        </p:nvSpPr>
        <p:spPr>
          <a:xfrm>
            <a:off x="7242048" y="4983480"/>
            <a:ext cx="822960" cy="329184"/>
          </a:xfrm>
          <a:prstGeom prst="ellipse">
            <a:avLst/>
          </a:prstGeom>
          <a:solidFill>
            <a:srgbClr val="E1F3FF"/>
          </a:solidFill>
          <a:ln w="10160">
            <a:solidFill>
              <a:srgbClr val="0E6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10" b="1">
                <a:solidFill>
                  <a:srgbClr val="052B69"/>
                </a:solidFill>
                <a:latin typeface="Arial"/>
              </a:rPr>
              <a:t>Đăng ký</a:t>
            </a:r>
          </a:p>
        </p:txBody>
      </p:sp>
      <p:cxnSp>
        <p:nvCxnSpPr>
          <p:cNvPr id="73" name="Connector 72"/>
          <p:cNvCxnSpPr>
            <a:cxnSpLocks/>
            <a:stCxn id="34" idx="2"/>
          </p:cNvCxnSpPr>
          <p:nvPr/>
        </p:nvCxnSpPr>
        <p:spPr>
          <a:xfrm flipH="1">
            <a:off x="6748272" y="4389120"/>
            <a:ext cx="246888" cy="594360"/>
          </a:xfrm>
          <a:prstGeom prst="line">
            <a:avLst/>
          </a:prstGeom>
          <a:ln w="9525">
            <a:solidFill>
              <a:srgbClr val="052B69"/>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a:cxnSpLocks/>
          </p:cNvCxnSpPr>
          <p:nvPr/>
        </p:nvCxnSpPr>
        <p:spPr>
          <a:xfrm>
            <a:off x="6995160" y="4389120"/>
            <a:ext cx="640080" cy="594360"/>
          </a:xfrm>
          <a:prstGeom prst="line">
            <a:avLst/>
          </a:prstGeom>
          <a:ln w="9525">
            <a:solidFill>
              <a:srgbClr val="052B69"/>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256032" y="6446520"/>
            <a:ext cx="402336" cy="411480"/>
          </a:xfrm>
          <a:prstGeom prst="line">
            <a:avLst/>
          </a:prstGeom>
          <a:ln w="10160">
            <a:solidFill>
              <a:srgbClr val="0E63E6"/>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a:off x="658368" y="6446520"/>
            <a:ext cx="576072" cy="301752"/>
          </a:xfrm>
          <a:prstGeom prst="line">
            <a:avLst/>
          </a:prstGeom>
          <a:ln w="10160">
            <a:solidFill>
              <a:srgbClr val="0E63E6"/>
            </a:solidFill>
          </a:ln>
        </p:spPr>
        <p:style>
          <a:lnRef idx="2">
            <a:schemeClr val="accent1"/>
          </a:lnRef>
          <a:fillRef idx="0">
            <a:schemeClr val="accent1"/>
          </a:fillRef>
          <a:effectRef idx="1">
            <a:schemeClr val="accent1"/>
          </a:effectRef>
          <a:fontRef idx="minor">
            <a:schemeClr val="tx1"/>
          </a:fontRef>
        </p:style>
      </p:cxnSp>
      <p:sp>
        <p:nvSpPr>
          <p:cNvPr id="77" name="Oval 76"/>
          <p:cNvSpPr/>
          <p:nvPr/>
        </p:nvSpPr>
        <p:spPr>
          <a:xfrm>
            <a:off x="548640" y="6336792"/>
            <a:ext cx="219456" cy="219456"/>
          </a:xfrm>
          <a:prstGeom prst="ellipse">
            <a:avLst/>
          </a:prstGeom>
          <a:solidFill>
            <a:srgbClr val="E1F3FF"/>
          </a:solidFill>
          <a:ln w="10160">
            <a:solidFill>
              <a:srgbClr val="0E6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Oval 77"/>
          <p:cNvSpPr/>
          <p:nvPr/>
        </p:nvSpPr>
        <p:spPr>
          <a:xfrm>
            <a:off x="1106424" y="6620256"/>
            <a:ext cx="256032" cy="256032"/>
          </a:xfrm>
          <a:prstGeom prst="ellipse">
            <a:avLst/>
          </a:prstGeom>
          <a:solidFill>
            <a:srgbClr val="E1F3FF"/>
          </a:solidFill>
          <a:ln w="10160">
            <a:solidFill>
              <a:srgbClr val="0E6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78"/>
          <p:cNvSpPr txBox="1"/>
          <p:nvPr/>
        </p:nvSpPr>
        <p:spPr>
          <a:xfrm>
            <a:off x="10972800" y="6144768"/>
            <a:ext cx="685800" cy="411480"/>
          </a:xfrm>
          <a:prstGeom prst="rect">
            <a:avLst/>
          </a:prstGeom>
          <a:noFill/>
        </p:spPr>
        <p:txBody>
          <a:bodyPr wrap="square" anchor="ctr">
            <a:spAutoFit/>
          </a:bodyPr>
          <a:lstStyle/>
          <a:p>
            <a:pPr algn="ctr"/>
            <a:r>
              <a:rPr sz="1000" b="1">
                <a:solidFill>
                  <a:srgbClr val="0E63E6"/>
                </a:solidFill>
                <a:latin typeface="Arial"/>
              </a:rPr>
              <a:t>• • • •
• • • •
• • • •</a:t>
            </a:r>
          </a:p>
        </p:txBody>
      </p:sp>
      <p:pic>
        <p:nvPicPr>
          <p:cNvPr id="80" name="Picture 79" descr="A black background with orange and blue text&#10;&#10;Description automatically generated">
            <a:extLst>
              <a:ext uri="{FF2B5EF4-FFF2-40B4-BE49-F238E27FC236}">
                <a16:creationId xmlns:a16="http://schemas.microsoft.com/office/drawing/2014/main" id="{0CF9AA43-D3AE-F2BC-94B8-5FECEFD55530}"/>
              </a:ext>
            </a:extLst>
          </p:cNvPr>
          <p:cNvPicPr>
            <a:picLocks noChangeAspect="1"/>
          </p:cNvPicPr>
          <p:nvPr/>
        </p:nvPicPr>
        <p:blipFill>
          <a:blip r:embed="rId2"/>
          <a:stretch>
            <a:fillRect/>
          </a:stretch>
        </p:blipFill>
        <p:spPr>
          <a:xfrm>
            <a:off x="10777306" y="-88712"/>
            <a:ext cx="1164758" cy="1164758"/>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211975" y="309890"/>
            <a:ext cx="5806440" cy="523220"/>
          </a:xfrm>
          <a:prstGeom prst="rect">
            <a:avLst/>
          </a:prstGeom>
          <a:noFill/>
        </p:spPr>
        <p:txBody>
          <a:bodyPr wrap="square" lIns="91440" tIns="45720" rIns="91440" bIns="45720" anchor="ctr">
            <a:spAutoFit/>
          </a:bodyPr>
          <a:lstStyle/>
          <a:p>
            <a:pPr algn="ctr"/>
            <a:r>
              <a:rPr lang="en-US" sz="2800" b="1">
                <a:solidFill>
                  <a:srgbClr val="042667"/>
                </a:solidFill>
                <a:latin typeface="Arial"/>
              </a:rPr>
              <a:t>KẾT QUẢ </a:t>
            </a:r>
            <a:r>
              <a:rPr sz="2800" b="1">
                <a:solidFill>
                  <a:srgbClr val="042667"/>
                </a:solidFill>
                <a:latin typeface="Arial"/>
              </a:rPr>
              <a:t>DỰ ÁN</a:t>
            </a:r>
          </a:p>
        </p:txBody>
      </p:sp>
      <p:cxnSp>
        <p:nvCxnSpPr>
          <p:cNvPr id="3" name="Connector 2"/>
          <p:cNvCxnSpPr/>
          <p:nvPr/>
        </p:nvCxnSpPr>
        <p:spPr>
          <a:xfrm>
            <a:off x="5486400" y="960120"/>
            <a:ext cx="566928" cy="0"/>
          </a:xfrm>
          <a:prstGeom prst="line">
            <a:avLst/>
          </a:prstGeom>
          <a:ln w="27940">
            <a:solidFill>
              <a:srgbClr val="1869E6"/>
            </a:solidFill>
          </a:ln>
        </p:spPr>
        <p:style>
          <a:lnRef idx="2">
            <a:schemeClr val="accent1"/>
          </a:lnRef>
          <a:fillRef idx="0">
            <a:schemeClr val="accent1"/>
          </a:fillRef>
          <a:effectRef idx="1">
            <a:schemeClr val="accent1"/>
          </a:effectRef>
          <a:fontRef idx="minor">
            <a:schemeClr val="tx1"/>
          </a:fontRef>
        </p:style>
      </p:cxnSp>
      <p:sp>
        <p:nvSpPr>
          <p:cNvPr id="4" name="Oval 3"/>
          <p:cNvSpPr/>
          <p:nvPr/>
        </p:nvSpPr>
        <p:spPr>
          <a:xfrm>
            <a:off x="6167627" y="937260"/>
            <a:ext cx="45720" cy="45720"/>
          </a:xfrm>
          <a:prstGeom prst="ellipse">
            <a:avLst/>
          </a:prstGeom>
          <a:solidFill>
            <a:srgbClr val="1869E6"/>
          </a:solidFill>
          <a:ln w="2540">
            <a:solidFill>
              <a:srgbClr val="1869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6286500" y="937260"/>
            <a:ext cx="45720" cy="45720"/>
          </a:xfrm>
          <a:prstGeom prst="ellipse">
            <a:avLst/>
          </a:prstGeom>
          <a:solidFill>
            <a:srgbClr val="1869E6"/>
          </a:solidFill>
          <a:ln w="2540">
            <a:solidFill>
              <a:srgbClr val="1869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6405372" y="937260"/>
            <a:ext cx="45720" cy="45720"/>
          </a:xfrm>
          <a:prstGeom prst="ellipse">
            <a:avLst/>
          </a:prstGeom>
          <a:solidFill>
            <a:srgbClr val="1869E6"/>
          </a:solidFill>
          <a:ln w="2540">
            <a:solidFill>
              <a:srgbClr val="1869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 name="Connector 6"/>
          <p:cNvCxnSpPr/>
          <p:nvPr/>
        </p:nvCxnSpPr>
        <p:spPr>
          <a:xfrm>
            <a:off x="502920" y="1572768"/>
            <a:ext cx="0" cy="3227832"/>
          </a:xfrm>
          <a:prstGeom prst="line">
            <a:avLst/>
          </a:prstGeom>
          <a:ln w="10160">
            <a:solidFill>
              <a:srgbClr val="5F9BE6"/>
            </a:solidFill>
          </a:ln>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393192" y="1883664"/>
            <a:ext cx="219456" cy="219456"/>
          </a:xfrm>
          <a:prstGeom prst="ellipse">
            <a:avLst/>
          </a:prstGeom>
          <a:solidFill>
            <a:srgbClr val="E8F5FF"/>
          </a:solidFill>
          <a:ln w="10160">
            <a:solidFill>
              <a:srgbClr val="1869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365760" y="4023359"/>
            <a:ext cx="274320" cy="274320"/>
          </a:xfrm>
          <a:prstGeom prst="ellipse">
            <a:avLst/>
          </a:prstGeom>
          <a:solidFill>
            <a:srgbClr val="E8F5FF"/>
          </a:solidFill>
          <a:ln w="10160">
            <a:solidFill>
              <a:srgbClr val="1869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0" name="Connector 9"/>
          <p:cNvCxnSpPr/>
          <p:nvPr/>
        </p:nvCxnSpPr>
        <p:spPr>
          <a:xfrm flipH="1">
            <a:off x="10287000" y="731520"/>
            <a:ext cx="521208" cy="1261872"/>
          </a:xfrm>
          <a:prstGeom prst="line">
            <a:avLst/>
          </a:prstGeom>
          <a:ln w="10160">
            <a:solidFill>
              <a:srgbClr val="5F9BE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0287000" y="1993392"/>
            <a:ext cx="411480" cy="1828799"/>
          </a:xfrm>
          <a:prstGeom prst="line">
            <a:avLst/>
          </a:prstGeom>
          <a:ln w="10160">
            <a:solidFill>
              <a:srgbClr val="5F9BE6"/>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10707624" y="630936"/>
            <a:ext cx="201168" cy="201168"/>
          </a:xfrm>
          <a:prstGeom prst="ellipse">
            <a:avLst/>
          </a:prstGeom>
          <a:solidFill>
            <a:srgbClr val="E8F5FF"/>
          </a:solidFill>
          <a:ln w="10160">
            <a:solidFill>
              <a:srgbClr val="1869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10012680" y="1719072"/>
            <a:ext cx="548640" cy="548640"/>
          </a:xfrm>
          <a:prstGeom prst="ellipse">
            <a:avLst/>
          </a:prstGeom>
          <a:solidFill>
            <a:srgbClr val="E8F5FF"/>
          </a:solidFill>
          <a:ln w="13970">
            <a:solidFill>
              <a:srgbClr val="1869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10588752" y="3712463"/>
            <a:ext cx="219456" cy="219456"/>
          </a:xfrm>
          <a:prstGeom prst="ellipse">
            <a:avLst/>
          </a:prstGeom>
          <a:solidFill>
            <a:srgbClr val="E8F5FF"/>
          </a:solidFill>
          <a:ln w="10160">
            <a:solidFill>
              <a:srgbClr val="1869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2834640" y="1353312"/>
            <a:ext cx="6355080" cy="1335024"/>
          </a:xfrm>
          <a:prstGeom prst="roundRect">
            <a:avLst/>
          </a:prstGeom>
          <a:solidFill>
            <a:srgbClr val="FFFFFF"/>
          </a:solidFill>
          <a:ln w="19050">
            <a:solidFill>
              <a:srgbClr val="1869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2907792" y="1417320"/>
            <a:ext cx="6208776" cy="1207008"/>
          </a:xfrm>
          <a:prstGeom prst="roundRect">
            <a:avLst/>
          </a:prstGeom>
          <a:solidFill>
            <a:srgbClr val="FFFFFF"/>
          </a:solidFill>
          <a:ln w="8890">
            <a:solidFill>
              <a:srgbClr val="BBD8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3108960" y="1600200"/>
            <a:ext cx="841248" cy="841248"/>
          </a:xfrm>
          <a:prstGeom prst="ellipse">
            <a:avLst/>
          </a:prstGeom>
          <a:solidFill>
            <a:srgbClr val="E8F5FF"/>
          </a:solidFill>
          <a:ln w="20320">
            <a:solidFill>
              <a:srgbClr val="1869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3291840" y="1792224"/>
            <a:ext cx="475488" cy="320040"/>
          </a:xfrm>
          <a:prstGeom prst="rect">
            <a:avLst/>
          </a:prstGeom>
          <a:noFill/>
          <a:ln w="16510">
            <a:solidFill>
              <a:srgbClr val="1869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3447288" y="1865376"/>
            <a:ext cx="164592" cy="164592"/>
          </a:xfrm>
          <a:prstGeom prst="ellipse">
            <a:avLst/>
          </a:prstGeom>
          <a:solidFill>
            <a:srgbClr val="FFFFFF"/>
          </a:solidFill>
          <a:ln w="11430">
            <a:solidFill>
              <a:srgbClr val="1869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0" name="Connector 19"/>
          <p:cNvCxnSpPr/>
          <p:nvPr/>
        </p:nvCxnSpPr>
        <p:spPr>
          <a:xfrm>
            <a:off x="3401568" y="2194560"/>
            <a:ext cx="256032" cy="0"/>
          </a:xfrm>
          <a:prstGeom prst="line">
            <a:avLst/>
          </a:prstGeom>
          <a:ln w="16510">
            <a:solidFill>
              <a:srgbClr val="1869E6"/>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160520" y="1600200"/>
            <a:ext cx="0" cy="832104"/>
          </a:xfrm>
          <a:prstGeom prst="line">
            <a:avLst/>
          </a:prstGeom>
          <a:ln w="10160">
            <a:solidFill>
              <a:srgbClr val="82AFEB"/>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4407408" y="1563624"/>
            <a:ext cx="3474720" cy="438912"/>
          </a:xfrm>
          <a:prstGeom prst="rect">
            <a:avLst/>
          </a:prstGeom>
          <a:noFill/>
        </p:spPr>
        <p:txBody>
          <a:bodyPr wrap="square" anchor="ctr">
            <a:spAutoFit/>
          </a:bodyPr>
          <a:lstStyle/>
          <a:p>
            <a:pPr algn="l"/>
            <a:r>
              <a:rPr sz="1400" b="1">
                <a:solidFill>
                  <a:srgbClr val="042667"/>
                </a:solidFill>
                <a:latin typeface="Arial"/>
              </a:rPr>
              <a:t>Website hoạt động ổn định
&amp; đáp ứng mục tiêu</a:t>
            </a:r>
          </a:p>
        </p:txBody>
      </p:sp>
      <p:sp>
        <p:nvSpPr>
          <p:cNvPr id="23" name="TextBox 22"/>
          <p:cNvSpPr txBox="1"/>
          <p:nvPr/>
        </p:nvSpPr>
        <p:spPr>
          <a:xfrm>
            <a:off x="4407408" y="2048256"/>
            <a:ext cx="3794760" cy="411480"/>
          </a:xfrm>
          <a:prstGeom prst="rect">
            <a:avLst/>
          </a:prstGeom>
          <a:noFill/>
        </p:spPr>
        <p:txBody>
          <a:bodyPr wrap="square" anchor="ctr">
            <a:spAutoFit/>
          </a:bodyPr>
          <a:lstStyle/>
          <a:p>
            <a:pPr algn="l"/>
            <a:r>
              <a:rPr sz="869" b="0">
                <a:solidFill>
                  <a:srgbClr val="4B5C78"/>
                </a:solidFill>
                <a:latin typeface="Arial"/>
              </a:rPr>
              <a:t>Xây dựng hệ thống website vận hành ổn định, hiệu suất cao,
đáp ứng đầy đủ các mục tiêu kinh doanh đã đề ra.</a:t>
            </a:r>
          </a:p>
        </p:txBody>
      </p:sp>
      <p:sp>
        <p:nvSpPr>
          <p:cNvPr id="24" name="TextBox 23"/>
          <p:cNvSpPr txBox="1"/>
          <p:nvPr/>
        </p:nvSpPr>
        <p:spPr>
          <a:xfrm>
            <a:off x="8183879" y="1563624"/>
            <a:ext cx="658368" cy="502920"/>
          </a:xfrm>
          <a:prstGeom prst="rect">
            <a:avLst/>
          </a:prstGeom>
          <a:noFill/>
        </p:spPr>
        <p:txBody>
          <a:bodyPr wrap="square" anchor="ctr">
            <a:spAutoFit/>
          </a:bodyPr>
          <a:lstStyle/>
          <a:p>
            <a:pPr algn="ctr"/>
            <a:r>
              <a:rPr sz="2600" b="1">
                <a:solidFill>
                  <a:srgbClr val="D2E7FC"/>
                </a:solidFill>
                <a:latin typeface="Arial"/>
              </a:rPr>
              <a:t>01</a:t>
            </a:r>
          </a:p>
        </p:txBody>
      </p:sp>
      <p:sp>
        <p:nvSpPr>
          <p:cNvPr id="25" name="Oval 24"/>
          <p:cNvSpPr/>
          <p:nvPr/>
        </p:nvSpPr>
        <p:spPr>
          <a:xfrm>
            <a:off x="8639251" y="2092147"/>
            <a:ext cx="21945" cy="21945"/>
          </a:xfrm>
          <a:prstGeom prst="ellipse">
            <a:avLst/>
          </a:prstGeom>
          <a:solidFill>
            <a:srgbClr val="DAEBFB"/>
          </a:solidFill>
          <a:ln w="1270">
            <a:solidFill>
              <a:srgbClr val="DAEBF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8730691" y="2092147"/>
            <a:ext cx="21945" cy="21945"/>
          </a:xfrm>
          <a:prstGeom prst="ellipse">
            <a:avLst/>
          </a:prstGeom>
          <a:solidFill>
            <a:srgbClr val="DAEBFB"/>
          </a:solidFill>
          <a:ln w="1270">
            <a:solidFill>
              <a:srgbClr val="DAEBF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8822131" y="2092147"/>
            <a:ext cx="21945" cy="21945"/>
          </a:xfrm>
          <a:prstGeom prst="ellipse">
            <a:avLst/>
          </a:prstGeom>
          <a:solidFill>
            <a:srgbClr val="DAEBFB"/>
          </a:solidFill>
          <a:ln w="1270">
            <a:solidFill>
              <a:srgbClr val="DAEBF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8913571" y="2092147"/>
            <a:ext cx="21945" cy="21945"/>
          </a:xfrm>
          <a:prstGeom prst="ellipse">
            <a:avLst/>
          </a:prstGeom>
          <a:solidFill>
            <a:srgbClr val="DAEBFB"/>
          </a:solidFill>
          <a:ln w="1270">
            <a:solidFill>
              <a:srgbClr val="DAEBF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8639251" y="2183587"/>
            <a:ext cx="21945" cy="21945"/>
          </a:xfrm>
          <a:prstGeom prst="ellipse">
            <a:avLst/>
          </a:prstGeom>
          <a:solidFill>
            <a:srgbClr val="DAEBFB"/>
          </a:solidFill>
          <a:ln w="1270">
            <a:solidFill>
              <a:srgbClr val="DAEBF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8730691" y="2183587"/>
            <a:ext cx="21945" cy="21945"/>
          </a:xfrm>
          <a:prstGeom prst="ellipse">
            <a:avLst/>
          </a:prstGeom>
          <a:solidFill>
            <a:srgbClr val="DAEBFB"/>
          </a:solidFill>
          <a:ln w="1270">
            <a:solidFill>
              <a:srgbClr val="DAEBF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8822131" y="2183587"/>
            <a:ext cx="21945" cy="21945"/>
          </a:xfrm>
          <a:prstGeom prst="ellipse">
            <a:avLst/>
          </a:prstGeom>
          <a:solidFill>
            <a:srgbClr val="DAEBFB"/>
          </a:solidFill>
          <a:ln w="1270">
            <a:solidFill>
              <a:srgbClr val="DAEBF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8913571" y="2183587"/>
            <a:ext cx="21945" cy="21945"/>
          </a:xfrm>
          <a:prstGeom prst="ellipse">
            <a:avLst/>
          </a:prstGeom>
          <a:solidFill>
            <a:srgbClr val="DAEBFB"/>
          </a:solidFill>
          <a:ln w="1270">
            <a:solidFill>
              <a:srgbClr val="DAEBF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8639251" y="2275027"/>
            <a:ext cx="21945" cy="21945"/>
          </a:xfrm>
          <a:prstGeom prst="ellipse">
            <a:avLst/>
          </a:prstGeom>
          <a:solidFill>
            <a:srgbClr val="DAEBFB"/>
          </a:solidFill>
          <a:ln w="1270">
            <a:solidFill>
              <a:srgbClr val="DAEBF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8730691" y="2275027"/>
            <a:ext cx="21945" cy="21945"/>
          </a:xfrm>
          <a:prstGeom prst="ellipse">
            <a:avLst/>
          </a:prstGeom>
          <a:solidFill>
            <a:srgbClr val="DAEBFB"/>
          </a:solidFill>
          <a:ln w="1270">
            <a:solidFill>
              <a:srgbClr val="DAEBF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8822131" y="2275027"/>
            <a:ext cx="21945" cy="21945"/>
          </a:xfrm>
          <a:prstGeom prst="ellipse">
            <a:avLst/>
          </a:prstGeom>
          <a:solidFill>
            <a:srgbClr val="DAEBFB"/>
          </a:solidFill>
          <a:ln w="1270">
            <a:solidFill>
              <a:srgbClr val="DAEBF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8913571" y="2275027"/>
            <a:ext cx="21945" cy="21945"/>
          </a:xfrm>
          <a:prstGeom prst="ellipse">
            <a:avLst/>
          </a:prstGeom>
          <a:solidFill>
            <a:srgbClr val="DAEBFB"/>
          </a:solidFill>
          <a:ln w="1270">
            <a:solidFill>
              <a:srgbClr val="DAEBF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8639251" y="2366467"/>
            <a:ext cx="21945" cy="21945"/>
          </a:xfrm>
          <a:prstGeom prst="ellipse">
            <a:avLst/>
          </a:prstGeom>
          <a:solidFill>
            <a:srgbClr val="DAEBFB"/>
          </a:solidFill>
          <a:ln w="1270">
            <a:solidFill>
              <a:srgbClr val="DAEBF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8730691" y="2366467"/>
            <a:ext cx="21945" cy="21945"/>
          </a:xfrm>
          <a:prstGeom prst="ellipse">
            <a:avLst/>
          </a:prstGeom>
          <a:solidFill>
            <a:srgbClr val="DAEBFB"/>
          </a:solidFill>
          <a:ln w="1270">
            <a:solidFill>
              <a:srgbClr val="DAEBF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8822131" y="2366467"/>
            <a:ext cx="21945" cy="21945"/>
          </a:xfrm>
          <a:prstGeom prst="ellipse">
            <a:avLst/>
          </a:prstGeom>
          <a:solidFill>
            <a:srgbClr val="DAEBFB"/>
          </a:solidFill>
          <a:ln w="1270">
            <a:solidFill>
              <a:srgbClr val="DAEBF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8913571" y="2366467"/>
            <a:ext cx="21945" cy="21945"/>
          </a:xfrm>
          <a:prstGeom prst="ellipse">
            <a:avLst/>
          </a:prstGeom>
          <a:solidFill>
            <a:srgbClr val="DAEBFB"/>
          </a:solidFill>
          <a:ln w="1270">
            <a:solidFill>
              <a:srgbClr val="DAEBF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ounded Rectangle 40"/>
          <p:cNvSpPr/>
          <p:nvPr/>
        </p:nvSpPr>
        <p:spPr>
          <a:xfrm>
            <a:off x="2834640" y="2999232"/>
            <a:ext cx="6355080" cy="1335024"/>
          </a:xfrm>
          <a:prstGeom prst="roundRect">
            <a:avLst/>
          </a:prstGeom>
          <a:solidFill>
            <a:srgbClr val="FFFFFF"/>
          </a:solidFill>
          <a:ln w="19050">
            <a:solidFill>
              <a:srgbClr val="1869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ounded Rectangle 41"/>
          <p:cNvSpPr/>
          <p:nvPr/>
        </p:nvSpPr>
        <p:spPr>
          <a:xfrm>
            <a:off x="2907792" y="3063239"/>
            <a:ext cx="6208776" cy="1207008"/>
          </a:xfrm>
          <a:prstGeom prst="roundRect">
            <a:avLst/>
          </a:prstGeom>
          <a:solidFill>
            <a:srgbClr val="FFFFFF"/>
          </a:solidFill>
          <a:ln w="8890">
            <a:solidFill>
              <a:srgbClr val="BBD8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p:cNvSpPr/>
          <p:nvPr/>
        </p:nvSpPr>
        <p:spPr>
          <a:xfrm>
            <a:off x="3108960" y="3246120"/>
            <a:ext cx="841248" cy="841248"/>
          </a:xfrm>
          <a:prstGeom prst="ellipse">
            <a:avLst/>
          </a:prstGeom>
          <a:solidFill>
            <a:srgbClr val="E8F5FF"/>
          </a:solidFill>
          <a:ln w="20320">
            <a:solidFill>
              <a:srgbClr val="1869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3246120" y="3383279"/>
            <a:ext cx="566928" cy="566928"/>
          </a:xfrm>
          <a:prstGeom prst="rect">
            <a:avLst/>
          </a:prstGeom>
          <a:noFill/>
        </p:spPr>
        <p:txBody>
          <a:bodyPr wrap="square" anchor="ctr">
            <a:spAutoFit/>
          </a:bodyPr>
          <a:lstStyle/>
          <a:p>
            <a:pPr algn="ctr"/>
            <a:r>
              <a:rPr sz="2400" b="1">
                <a:solidFill>
                  <a:srgbClr val="1869E6"/>
                </a:solidFill>
                <a:latin typeface="Arial"/>
              </a:rPr>
              <a:t>✚</a:t>
            </a:r>
          </a:p>
        </p:txBody>
      </p:sp>
      <p:cxnSp>
        <p:nvCxnSpPr>
          <p:cNvPr id="45" name="Connector 44"/>
          <p:cNvCxnSpPr/>
          <p:nvPr/>
        </p:nvCxnSpPr>
        <p:spPr>
          <a:xfrm>
            <a:off x="4160520" y="3246120"/>
            <a:ext cx="0" cy="832104"/>
          </a:xfrm>
          <a:prstGeom prst="line">
            <a:avLst/>
          </a:prstGeom>
          <a:ln w="10160">
            <a:solidFill>
              <a:srgbClr val="82AFEB"/>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4407408" y="3209544"/>
            <a:ext cx="3474720" cy="438912"/>
          </a:xfrm>
          <a:prstGeom prst="rect">
            <a:avLst/>
          </a:prstGeom>
          <a:noFill/>
        </p:spPr>
        <p:txBody>
          <a:bodyPr wrap="square" anchor="ctr">
            <a:spAutoFit/>
          </a:bodyPr>
          <a:lstStyle/>
          <a:p>
            <a:pPr algn="l"/>
            <a:r>
              <a:rPr sz="1400" b="1">
                <a:solidFill>
                  <a:srgbClr val="042667"/>
                </a:solidFill>
                <a:latin typeface="Arial"/>
              </a:rPr>
              <a:t>Tích hợp đầy đủ chức năng
theo yêu cầu</a:t>
            </a:r>
          </a:p>
        </p:txBody>
      </p:sp>
      <p:sp>
        <p:nvSpPr>
          <p:cNvPr id="47" name="TextBox 46"/>
          <p:cNvSpPr txBox="1"/>
          <p:nvPr/>
        </p:nvSpPr>
        <p:spPr>
          <a:xfrm>
            <a:off x="4407408" y="3694176"/>
            <a:ext cx="3794760" cy="411480"/>
          </a:xfrm>
          <a:prstGeom prst="rect">
            <a:avLst/>
          </a:prstGeom>
          <a:noFill/>
        </p:spPr>
        <p:txBody>
          <a:bodyPr wrap="square" anchor="ctr">
            <a:spAutoFit/>
          </a:bodyPr>
          <a:lstStyle/>
          <a:p>
            <a:pPr algn="l"/>
            <a:r>
              <a:rPr sz="869" b="0">
                <a:solidFill>
                  <a:srgbClr val="4B5C78"/>
                </a:solidFill>
                <a:latin typeface="Arial"/>
              </a:rPr>
              <a:t>Đảm bảo hệ thống tích hợp đầy đủ các chức năng theo yêu cầu,
mang lại trải nghiệm liền mạch cho người dùng.</a:t>
            </a:r>
          </a:p>
        </p:txBody>
      </p:sp>
      <p:sp>
        <p:nvSpPr>
          <p:cNvPr id="48" name="TextBox 47"/>
          <p:cNvSpPr txBox="1"/>
          <p:nvPr/>
        </p:nvSpPr>
        <p:spPr>
          <a:xfrm>
            <a:off x="8183879" y="3209544"/>
            <a:ext cx="658368" cy="502920"/>
          </a:xfrm>
          <a:prstGeom prst="rect">
            <a:avLst/>
          </a:prstGeom>
          <a:noFill/>
        </p:spPr>
        <p:txBody>
          <a:bodyPr wrap="square" anchor="ctr">
            <a:spAutoFit/>
          </a:bodyPr>
          <a:lstStyle/>
          <a:p>
            <a:pPr algn="ctr"/>
            <a:r>
              <a:rPr sz="2600" b="1">
                <a:solidFill>
                  <a:srgbClr val="D2E7FC"/>
                </a:solidFill>
                <a:latin typeface="Arial"/>
              </a:rPr>
              <a:t>02</a:t>
            </a:r>
          </a:p>
        </p:txBody>
      </p:sp>
      <p:sp>
        <p:nvSpPr>
          <p:cNvPr id="49" name="Oval 48"/>
          <p:cNvSpPr/>
          <p:nvPr/>
        </p:nvSpPr>
        <p:spPr>
          <a:xfrm>
            <a:off x="8639251" y="3738067"/>
            <a:ext cx="21945" cy="21945"/>
          </a:xfrm>
          <a:prstGeom prst="ellipse">
            <a:avLst/>
          </a:prstGeom>
          <a:solidFill>
            <a:srgbClr val="DAEBFB"/>
          </a:solidFill>
          <a:ln w="1270">
            <a:solidFill>
              <a:srgbClr val="DAEBF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8730691" y="3738067"/>
            <a:ext cx="21945" cy="21945"/>
          </a:xfrm>
          <a:prstGeom prst="ellipse">
            <a:avLst/>
          </a:prstGeom>
          <a:solidFill>
            <a:srgbClr val="DAEBFB"/>
          </a:solidFill>
          <a:ln w="1270">
            <a:solidFill>
              <a:srgbClr val="DAEBF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val 50"/>
          <p:cNvSpPr/>
          <p:nvPr/>
        </p:nvSpPr>
        <p:spPr>
          <a:xfrm>
            <a:off x="8822131" y="3738067"/>
            <a:ext cx="21945" cy="21945"/>
          </a:xfrm>
          <a:prstGeom prst="ellipse">
            <a:avLst/>
          </a:prstGeom>
          <a:solidFill>
            <a:srgbClr val="DAEBFB"/>
          </a:solidFill>
          <a:ln w="1270">
            <a:solidFill>
              <a:srgbClr val="DAEBF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val 51"/>
          <p:cNvSpPr/>
          <p:nvPr/>
        </p:nvSpPr>
        <p:spPr>
          <a:xfrm>
            <a:off x="8913571" y="3738067"/>
            <a:ext cx="21945" cy="21945"/>
          </a:xfrm>
          <a:prstGeom prst="ellipse">
            <a:avLst/>
          </a:prstGeom>
          <a:solidFill>
            <a:srgbClr val="DAEBFB"/>
          </a:solidFill>
          <a:ln w="1270">
            <a:solidFill>
              <a:srgbClr val="DAEBF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Oval 52"/>
          <p:cNvSpPr/>
          <p:nvPr/>
        </p:nvSpPr>
        <p:spPr>
          <a:xfrm>
            <a:off x="8639251" y="3829507"/>
            <a:ext cx="21945" cy="21945"/>
          </a:xfrm>
          <a:prstGeom prst="ellipse">
            <a:avLst/>
          </a:prstGeom>
          <a:solidFill>
            <a:srgbClr val="DAEBFB"/>
          </a:solidFill>
          <a:ln w="1270">
            <a:solidFill>
              <a:srgbClr val="DAEBF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val 53"/>
          <p:cNvSpPr/>
          <p:nvPr/>
        </p:nvSpPr>
        <p:spPr>
          <a:xfrm>
            <a:off x="8730691" y="3829507"/>
            <a:ext cx="21945" cy="21945"/>
          </a:xfrm>
          <a:prstGeom prst="ellipse">
            <a:avLst/>
          </a:prstGeom>
          <a:solidFill>
            <a:srgbClr val="DAEBFB"/>
          </a:solidFill>
          <a:ln w="1270">
            <a:solidFill>
              <a:srgbClr val="DAEBF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Oval 54"/>
          <p:cNvSpPr/>
          <p:nvPr/>
        </p:nvSpPr>
        <p:spPr>
          <a:xfrm>
            <a:off x="8822131" y="3829507"/>
            <a:ext cx="21945" cy="21945"/>
          </a:xfrm>
          <a:prstGeom prst="ellipse">
            <a:avLst/>
          </a:prstGeom>
          <a:solidFill>
            <a:srgbClr val="DAEBFB"/>
          </a:solidFill>
          <a:ln w="1270">
            <a:solidFill>
              <a:srgbClr val="DAEBF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val 55"/>
          <p:cNvSpPr/>
          <p:nvPr/>
        </p:nvSpPr>
        <p:spPr>
          <a:xfrm>
            <a:off x="8913571" y="3829507"/>
            <a:ext cx="21945" cy="21945"/>
          </a:xfrm>
          <a:prstGeom prst="ellipse">
            <a:avLst/>
          </a:prstGeom>
          <a:solidFill>
            <a:srgbClr val="DAEBFB"/>
          </a:solidFill>
          <a:ln w="1270">
            <a:solidFill>
              <a:srgbClr val="DAEBF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Oval 56"/>
          <p:cNvSpPr/>
          <p:nvPr/>
        </p:nvSpPr>
        <p:spPr>
          <a:xfrm>
            <a:off x="8639251" y="3920947"/>
            <a:ext cx="21945" cy="21945"/>
          </a:xfrm>
          <a:prstGeom prst="ellipse">
            <a:avLst/>
          </a:prstGeom>
          <a:solidFill>
            <a:srgbClr val="DAEBFB"/>
          </a:solidFill>
          <a:ln w="1270">
            <a:solidFill>
              <a:srgbClr val="DAEBF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Oval 57"/>
          <p:cNvSpPr/>
          <p:nvPr/>
        </p:nvSpPr>
        <p:spPr>
          <a:xfrm>
            <a:off x="8730691" y="3920947"/>
            <a:ext cx="21945" cy="21945"/>
          </a:xfrm>
          <a:prstGeom prst="ellipse">
            <a:avLst/>
          </a:prstGeom>
          <a:solidFill>
            <a:srgbClr val="DAEBFB"/>
          </a:solidFill>
          <a:ln w="1270">
            <a:solidFill>
              <a:srgbClr val="DAEBF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Oval 58"/>
          <p:cNvSpPr/>
          <p:nvPr/>
        </p:nvSpPr>
        <p:spPr>
          <a:xfrm>
            <a:off x="8822131" y="3920947"/>
            <a:ext cx="21945" cy="21945"/>
          </a:xfrm>
          <a:prstGeom prst="ellipse">
            <a:avLst/>
          </a:prstGeom>
          <a:solidFill>
            <a:srgbClr val="DAEBFB"/>
          </a:solidFill>
          <a:ln w="1270">
            <a:solidFill>
              <a:srgbClr val="DAEBF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Oval 59"/>
          <p:cNvSpPr/>
          <p:nvPr/>
        </p:nvSpPr>
        <p:spPr>
          <a:xfrm>
            <a:off x="8913571" y="3920947"/>
            <a:ext cx="21945" cy="21945"/>
          </a:xfrm>
          <a:prstGeom prst="ellipse">
            <a:avLst/>
          </a:prstGeom>
          <a:solidFill>
            <a:srgbClr val="DAEBFB"/>
          </a:solidFill>
          <a:ln w="1270">
            <a:solidFill>
              <a:srgbClr val="DAEBF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Oval 60"/>
          <p:cNvSpPr/>
          <p:nvPr/>
        </p:nvSpPr>
        <p:spPr>
          <a:xfrm>
            <a:off x="8639251" y="4012387"/>
            <a:ext cx="21945" cy="21945"/>
          </a:xfrm>
          <a:prstGeom prst="ellipse">
            <a:avLst/>
          </a:prstGeom>
          <a:solidFill>
            <a:srgbClr val="DAEBFB"/>
          </a:solidFill>
          <a:ln w="1270">
            <a:solidFill>
              <a:srgbClr val="DAEBF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Oval 61"/>
          <p:cNvSpPr/>
          <p:nvPr/>
        </p:nvSpPr>
        <p:spPr>
          <a:xfrm>
            <a:off x="8730691" y="4012387"/>
            <a:ext cx="21945" cy="21945"/>
          </a:xfrm>
          <a:prstGeom prst="ellipse">
            <a:avLst/>
          </a:prstGeom>
          <a:solidFill>
            <a:srgbClr val="DAEBFB"/>
          </a:solidFill>
          <a:ln w="1270">
            <a:solidFill>
              <a:srgbClr val="DAEBF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Oval 62"/>
          <p:cNvSpPr/>
          <p:nvPr/>
        </p:nvSpPr>
        <p:spPr>
          <a:xfrm>
            <a:off x="8822131" y="4012387"/>
            <a:ext cx="21945" cy="21945"/>
          </a:xfrm>
          <a:prstGeom prst="ellipse">
            <a:avLst/>
          </a:prstGeom>
          <a:solidFill>
            <a:srgbClr val="DAEBFB"/>
          </a:solidFill>
          <a:ln w="1270">
            <a:solidFill>
              <a:srgbClr val="DAEBF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Oval 63"/>
          <p:cNvSpPr/>
          <p:nvPr/>
        </p:nvSpPr>
        <p:spPr>
          <a:xfrm>
            <a:off x="8913571" y="4012387"/>
            <a:ext cx="21945" cy="21945"/>
          </a:xfrm>
          <a:prstGeom prst="ellipse">
            <a:avLst/>
          </a:prstGeom>
          <a:solidFill>
            <a:srgbClr val="DAEBFB"/>
          </a:solidFill>
          <a:ln w="1270">
            <a:solidFill>
              <a:srgbClr val="DAEBF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Rounded Rectangle 64"/>
          <p:cNvSpPr/>
          <p:nvPr/>
        </p:nvSpPr>
        <p:spPr>
          <a:xfrm>
            <a:off x="2834640" y="4645152"/>
            <a:ext cx="6355080" cy="1335024"/>
          </a:xfrm>
          <a:prstGeom prst="roundRect">
            <a:avLst/>
          </a:prstGeom>
          <a:solidFill>
            <a:srgbClr val="FFFFFF"/>
          </a:solidFill>
          <a:ln w="19050">
            <a:solidFill>
              <a:srgbClr val="1869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Rounded Rectangle 65"/>
          <p:cNvSpPr/>
          <p:nvPr/>
        </p:nvSpPr>
        <p:spPr>
          <a:xfrm>
            <a:off x="2907792" y="4709160"/>
            <a:ext cx="6208776" cy="1207008"/>
          </a:xfrm>
          <a:prstGeom prst="roundRect">
            <a:avLst/>
          </a:prstGeom>
          <a:solidFill>
            <a:srgbClr val="FFFFFF"/>
          </a:solidFill>
          <a:ln w="8890">
            <a:solidFill>
              <a:srgbClr val="BBD8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Oval 66"/>
          <p:cNvSpPr/>
          <p:nvPr/>
        </p:nvSpPr>
        <p:spPr>
          <a:xfrm>
            <a:off x="3108960" y="4892040"/>
            <a:ext cx="841248" cy="841248"/>
          </a:xfrm>
          <a:prstGeom prst="ellipse">
            <a:avLst/>
          </a:prstGeom>
          <a:solidFill>
            <a:srgbClr val="E8F5FF"/>
          </a:solidFill>
          <a:ln w="20320">
            <a:solidFill>
              <a:srgbClr val="1869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Oval 67"/>
          <p:cNvSpPr/>
          <p:nvPr/>
        </p:nvSpPr>
        <p:spPr>
          <a:xfrm>
            <a:off x="3291840" y="5193792"/>
            <a:ext cx="219456" cy="219456"/>
          </a:xfrm>
          <a:prstGeom prst="ellipse">
            <a:avLst/>
          </a:prstGeom>
          <a:solidFill>
            <a:srgbClr val="FFFFFF"/>
          </a:solidFill>
          <a:ln w="12700">
            <a:solidFill>
              <a:srgbClr val="1869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3493008" y="5056632"/>
            <a:ext cx="384048" cy="274320"/>
          </a:xfrm>
          <a:prstGeom prst="rect">
            <a:avLst/>
          </a:prstGeom>
          <a:noFill/>
        </p:spPr>
        <p:txBody>
          <a:bodyPr wrap="square" anchor="ctr">
            <a:spAutoFit/>
          </a:bodyPr>
          <a:lstStyle/>
          <a:p>
            <a:pPr algn="ctr"/>
            <a:r>
              <a:rPr sz="1200" b="1">
                <a:solidFill>
                  <a:srgbClr val="1869E6"/>
                </a:solidFill>
                <a:latin typeface="Arial"/>
              </a:rPr>
              <a:t>•••</a:t>
            </a:r>
          </a:p>
        </p:txBody>
      </p:sp>
      <p:sp>
        <p:nvSpPr>
          <p:cNvPr id="70" name="Rounded Rectangle 69"/>
          <p:cNvSpPr/>
          <p:nvPr/>
        </p:nvSpPr>
        <p:spPr>
          <a:xfrm>
            <a:off x="3511296" y="5056632"/>
            <a:ext cx="347472" cy="237744"/>
          </a:xfrm>
          <a:prstGeom prst="roundRect">
            <a:avLst/>
          </a:prstGeom>
          <a:solidFill>
            <a:srgbClr val="FFFFFF"/>
          </a:solidFill>
          <a:ln w="10160">
            <a:solidFill>
              <a:srgbClr val="1869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1" name="Connector 70"/>
          <p:cNvCxnSpPr/>
          <p:nvPr/>
        </p:nvCxnSpPr>
        <p:spPr>
          <a:xfrm>
            <a:off x="4160520" y="4892040"/>
            <a:ext cx="0" cy="832104"/>
          </a:xfrm>
          <a:prstGeom prst="line">
            <a:avLst/>
          </a:prstGeom>
          <a:ln w="10160">
            <a:solidFill>
              <a:srgbClr val="82AFEB"/>
            </a:solidFill>
          </a:ln>
        </p:spPr>
        <p:style>
          <a:lnRef idx="2">
            <a:schemeClr val="accent1"/>
          </a:lnRef>
          <a:fillRef idx="0">
            <a:schemeClr val="accent1"/>
          </a:fillRef>
          <a:effectRef idx="1">
            <a:schemeClr val="accent1"/>
          </a:effectRef>
          <a:fontRef idx="minor">
            <a:schemeClr val="tx1"/>
          </a:fontRef>
        </p:style>
      </p:cxnSp>
      <p:sp>
        <p:nvSpPr>
          <p:cNvPr id="72" name="TextBox 71"/>
          <p:cNvSpPr txBox="1"/>
          <p:nvPr/>
        </p:nvSpPr>
        <p:spPr>
          <a:xfrm>
            <a:off x="4407408" y="4855464"/>
            <a:ext cx="3474720" cy="438912"/>
          </a:xfrm>
          <a:prstGeom prst="rect">
            <a:avLst/>
          </a:prstGeom>
          <a:noFill/>
        </p:spPr>
        <p:txBody>
          <a:bodyPr wrap="square" anchor="ctr">
            <a:spAutoFit/>
          </a:bodyPr>
          <a:lstStyle/>
          <a:p>
            <a:pPr algn="l"/>
            <a:r>
              <a:rPr sz="1400" b="1">
                <a:solidFill>
                  <a:srgbClr val="042667"/>
                </a:solidFill>
                <a:latin typeface="Arial"/>
              </a:rPr>
              <a:t>Phản hồi tích cực từ
người dùng thử nghiệm</a:t>
            </a:r>
          </a:p>
        </p:txBody>
      </p:sp>
      <p:sp>
        <p:nvSpPr>
          <p:cNvPr id="73" name="TextBox 72"/>
          <p:cNvSpPr txBox="1"/>
          <p:nvPr/>
        </p:nvSpPr>
        <p:spPr>
          <a:xfrm>
            <a:off x="4407408" y="5340096"/>
            <a:ext cx="3794760" cy="411480"/>
          </a:xfrm>
          <a:prstGeom prst="rect">
            <a:avLst/>
          </a:prstGeom>
          <a:noFill/>
        </p:spPr>
        <p:txBody>
          <a:bodyPr wrap="square" anchor="ctr">
            <a:spAutoFit/>
          </a:bodyPr>
          <a:lstStyle/>
          <a:p>
            <a:pPr algn="l"/>
            <a:r>
              <a:rPr sz="869" b="0">
                <a:solidFill>
                  <a:srgbClr val="4B5C78"/>
                </a:solidFill>
                <a:latin typeface="Arial"/>
              </a:rPr>
              <a:t>Nhận được phản hồi tích cực từ người dùng thử nghiệm,
đảm bảo sự hài lòng và cải tiến liên tục.</a:t>
            </a:r>
          </a:p>
        </p:txBody>
      </p:sp>
      <p:sp>
        <p:nvSpPr>
          <p:cNvPr id="74" name="TextBox 73"/>
          <p:cNvSpPr txBox="1"/>
          <p:nvPr/>
        </p:nvSpPr>
        <p:spPr>
          <a:xfrm>
            <a:off x="8183879" y="4855464"/>
            <a:ext cx="658368" cy="502920"/>
          </a:xfrm>
          <a:prstGeom prst="rect">
            <a:avLst/>
          </a:prstGeom>
          <a:noFill/>
        </p:spPr>
        <p:txBody>
          <a:bodyPr wrap="square" anchor="ctr">
            <a:spAutoFit/>
          </a:bodyPr>
          <a:lstStyle/>
          <a:p>
            <a:pPr algn="ctr"/>
            <a:r>
              <a:rPr sz="2600" b="1">
                <a:solidFill>
                  <a:srgbClr val="D2E7FC"/>
                </a:solidFill>
                <a:latin typeface="Arial"/>
              </a:rPr>
              <a:t>03</a:t>
            </a:r>
          </a:p>
        </p:txBody>
      </p:sp>
      <p:sp>
        <p:nvSpPr>
          <p:cNvPr id="75" name="Oval 74"/>
          <p:cNvSpPr/>
          <p:nvPr/>
        </p:nvSpPr>
        <p:spPr>
          <a:xfrm>
            <a:off x="8639251" y="5383987"/>
            <a:ext cx="21945" cy="21945"/>
          </a:xfrm>
          <a:prstGeom prst="ellipse">
            <a:avLst/>
          </a:prstGeom>
          <a:solidFill>
            <a:srgbClr val="DAEBFB"/>
          </a:solidFill>
          <a:ln w="1270">
            <a:solidFill>
              <a:srgbClr val="DAEBF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Oval 75"/>
          <p:cNvSpPr/>
          <p:nvPr/>
        </p:nvSpPr>
        <p:spPr>
          <a:xfrm>
            <a:off x="8730691" y="5383987"/>
            <a:ext cx="21945" cy="21945"/>
          </a:xfrm>
          <a:prstGeom prst="ellipse">
            <a:avLst/>
          </a:prstGeom>
          <a:solidFill>
            <a:srgbClr val="DAEBFB"/>
          </a:solidFill>
          <a:ln w="1270">
            <a:solidFill>
              <a:srgbClr val="DAEBF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Oval 76"/>
          <p:cNvSpPr/>
          <p:nvPr/>
        </p:nvSpPr>
        <p:spPr>
          <a:xfrm>
            <a:off x="8822131" y="5383987"/>
            <a:ext cx="21945" cy="21945"/>
          </a:xfrm>
          <a:prstGeom prst="ellipse">
            <a:avLst/>
          </a:prstGeom>
          <a:solidFill>
            <a:srgbClr val="DAEBFB"/>
          </a:solidFill>
          <a:ln w="1270">
            <a:solidFill>
              <a:srgbClr val="DAEBF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Oval 77"/>
          <p:cNvSpPr/>
          <p:nvPr/>
        </p:nvSpPr>
        <p:spPr>
          <a:xfrm>
            <a:off x="8913571" y="5383987"/>
            <a:ext cx="21945" cy="21945"/>
          </a:xfrm>
          <a:prstGeom prst="ellipse">
            <a:avLst/>
          </a:prstGeom>
          <a:solidFill>
            <a:srgbClr val="DAEBFB"/>
          </a:solidFill>
          <a:ln w="1270">
            <a:solidFill>
              <a:srgbClr val="DAEBF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Oval 78"/>
          <p:cNvSpPr/>
          <p:nvPr/>
        </p:nvSpPr>
        <p:spPr>
          <a:xfrm>
            <a:off x="8639251" y="5475427"/>
            <a:ext cx="21945" cy="21945"/>
          </a:xfrm>
          <a:prstGeom prst="ellipse">
            <a:avLst/>
          </a:prstGeom>
          <a:solidFill>
            <a:srgbClr val="DAEBFB"/>
          </a:solidFill>
          <a:ln w="1270">
            <a:solidFill>
              <a:srgbClr val="DAEBF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Oval 79"/>
          <p:cNvSpPr/>
          <p:nvPr/>
        </p:nvSpPr>
        <p:spPr>
          <a:xfrm>
            <a:off x="8730691" y="5475427"/>
            <a:ext cx="21945" cy="21945"/>
          </a:xfrm>
          <a:prstGeom prst="ellipse">
            <a:avLst/>
          </a:prstGeom>
          <a:solidFill>
            <a:srgbClr val="DAEBFB"/>
          </a:solidFill>
          <a:ln w="1270">
            <a:solidFill>
              <a:srgbClr val="DAEBF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Oval 80"/>
          <p:cNvSpPr/>
          <p:nvPr/>
        </p:nvSpPr>
        <p:spPr>
          <a:xfrm>
            <a:off x="8822131" y="5475427"/>
            <a:ext cx="21945" cy="21945"/>
          </a:xfrm>
          <a:prstGeom prst="ellipse">
            <a:avLst/>
          </a:prstGeom>
          <a:solidFill>
            <a:srgbClr val="DAEBFB"/>
          </a:solidFill>
          <a:ln w="1270">
            <a:solidFill>
              <a:srgbClr val="DAEBF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Oval 81"/>
          <p:cNvSpPr/>
          <p:nvPr/>
        </p:nvSpPr>
        <p:spPr>
          <a:xfrm>
            <a:off x="8913571" y="5475427"/>
            <a:ext cx="21945" cy="21945"/>
          </a:xfrm>
          <a:prstGeom prst="ellipse">
            <a:avLst/>
          </a:prstGeom>
          <a:solidFill>
            <a:srgbClr val="DAEBFB"/>
          </a:solidFill>
          <a:ln w="1270">
            <a:solidFill>
              <a:srgbClr val="DAEBF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Oval 82"/>
          <p:cNvSpPr/>
          <p:nvPr/>
        </p:nvSpPr>
        <p:spPr>
          <a:xfrm>
            <a:off x="8639251" y="5566867"/>
            <a:ext cx="21945" cy="21945"/>
          </a:xfrm>
          <a:prstGeom prst="ellipse">
            <a:avLst/>
          </a:prstGeom>
          <a:solidFill>
            <a:srgbClr val="DAEBFB"/>
          </a:solidFill>
          <a:ln w="1270">
            <a:solidFill>
              <a:srgbClr val="DAEBF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Oval 83"/>
          <p:cNvSpPr/>
          <p:nvPr/>
        </p:nvSpPr>
        <p:spPr>
          <a:xfrm>
            <a:off x="8730691" y="5566867"/>
            <a:ext cx="21945" cy="21945"/>
          </a:xfrm>
          <a:prstGeom prst="ellipse">
            <a:avLst/>
          </a:prstGeom>
          <a:solidFill>
            <a:srgbClr val="DAEBFB"/>
          </a:solidFill>
          <a:ln w="1270">
            <a:solidFill>
              <a:srgbClr val="DAEBF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Oval 84"/>
          <p:cNvSpPr/>
          <p:nvPr/>
        </p:nvSpPr>
        <p:spPr>
          <a:xfrm>
            <a:off x="8822131" y="5566867"/>
            <a:ext cx="21945" cy="21945"/>
          </a:xfrm>
          <a:prstGeom prst="ellipse">
            <a:avLst/>
          </a:prstGeom>
          <a:solidFill>
            <a:srgbClr val="DAEBFB"/>
          </a:solidFill>
          <a:ln w="1270">
            <a:solidFill>
              <a:srgbClr val="DAEBF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Oval 85"/>
          <p:cNvSpPr/>
          <p:nvPr/>
        </p:nvSpPr>
        <p:spPr>
          <a:xfrm>
            <a:off x="8913571" y="5566867"/>
            <a:ext cx="21945" cy="21945"/>
          </a:xfrm>
          <a:prstGeom prst="ellipse">
            <a:avLst/>
          </a:prstGeom>
          <a:solidFill>
            <a:srgbClr val="DAEBFB"/>
          </a:solidFill>
          <a:ln w="1270">
            <a:solidFill>
              <a:srgbClr val="DAEBF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Oval 86"/>
          <p:cNvSpPr/>
          <p:nvPr/>
        </p:nvSpPr>
        <p:spPr>
          <a:xfrm>
            <a:off x="8639251" y="5658307"/>
            <a:ext cx="21945" cy="21945"/>
          </a:xfrm>
          <a:prstGeom prst="ellipse">
            <a:avLst/>
          </a:prstGeom>
          <a:solidFill>
            <a:srgbClr val="DAEBFB"/>
          </a:solidFill>
          <a:ln w="1270">
            <a:solidFill>
              <a:srgbClr val="DAEBF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Oval 87"/>
          <p:cNvSpPr/>
          <p:nvPr/>
        </p:nvSpPr>
        <p:spPr>
          <a:xfrm>
            <a:off x="8730691" y="5658307"/>
            <a:ext cx="21945" cy="21945"/>
          </a:xfrm>
          <a:prstGeom prst="ellipse">
            <a:avLst/>
          </a:prstGeom>
          <a:solidFill>
            <a:srgbClr val="DAEBFB"/>
          </a:solidFill>
          <a:ln w="1270">
            <a:solidFill>
              <a:srgbClr val="DAEBF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Oval 88"/>
          <p:cNvSpPr/>
          <p:nvPr/>
        </p:nvSpPr>
        <p:spPr>
          <a:xfrm>
            <a:off x="8822131" y="5658307"/>
            <a:ext cx="21945" cy="21945"/>
          </a:xfrm>
          <a:prstGeom prst="ellipse">
            <a:avLst/>
          </a:prstGeom>
          <a:solidFill>
            <a:srgbClr val="DAEBFB"/>
          </a:solidFill>
          <a:ln w="1270">
            <a:solidFill>
              <a:srgbClr val="DAEBF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Oval 89"/>
          <p:cNvSpPr/>
          <p:nvPr/>
        </p:nvSpPr>
        <p:spPr>
          <a:xfrm>
            <a:off x="8913571" y="5658307"/>
            <a:ext cx="21945" cy="21945"/>
          </a:xfrm>
          <a:prstGeom prst="ellipse">
            <a:avLst/>
          </a:prstGeom>
          <a:solidFill>
            <a:srgbClr val="DAEBFB"/>
          </a:solidFill>
          <a:ln w="1270">
            <a:solidFill>
              <a:srgbClr val="DAEBF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Arc 90"/>
          <p:cNvSpPr/>
          <p:nvPr/>
        </p:nvSpPr>
        <p:spPr>
          <a:xfrm>
            <a:off x="-228600" y="6062472"/>
            <a:ext cx="3017520" cy="1051560"/>
          </a:xfrm>
          <a:prstGeom prst="arc">
            <a:avLst/>
          </a:prstGeom>
          <a:noFill/>
          <a:ln w="228600">
            <a:solidFill>
              <a:srgbClr val="CDE2F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Arc 91"/>
          <p:cNvSpPr/>
          <p:nvPr/>
        </p:nvSpPr>
        <p:spPr>
          <a:xfrm>
            <a:off x="-155448" y="6108192"/>
            <a:ext cx="3017520" cy="1051560"/>
          </a:xfrm>
          <a:prstGeom prst="arc">
            <a:avLst/>
          </a:prstGeom>
          <a:noFill/>
          <a:ln w="177800">
            <a:solidFill>
              <a:srgbClr val="D7E7F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Arc 92"/>
          <p:cNvSpPr/>
          <p:nvPr/>
        </p:nvSpPr>
        <p:spPr>
          <a:xfrm>
            <a:off x="-82296" y="6153912"/>
            <a:ext cx="3017520" cy="1051560"/>
          </a:xfrm>
          <a:prstGeom prst="arc">
            <a:avLst/>
          </a:prstGeom>
          <a:noFill/>
          <a:ln w="127000">
            <a:solidFill>
              <a:srgbClr val="E1ECF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Oval 93"/>
          <p:cNvSpPr/>
          <p:nvPr/>
        </p:nvSpPr>
        <p:spPr>
          <a:xfrm>
            <a:off x="11142878" y="6040526"/>
            <a:ext cx="25603" cy="25603"/>
          </a:xfrm>
          <a:prstGeom prst="ellipse">
            <a:avLst/>
          </a:prstGeom>
          <a:solidFill>
            <a:srgbClr val="87B8EE"/>
          </a:solidFill>
          <a:ln w="1270">
            <a:solidFill>
              <a:srgbClr val="87B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Oval 94"/>
          <p:cNvSpPr/>
          <p:nvPr/>
        </p:nvSpPr>
        <p:spPr>
          <a:xfrm>
            <a:off x="11243462" y="6040526"/>
            <a:ext cx="25603" cy="25603"/>
          </a:xfrm>
          <a:prstGeom prst="ellipse">
            <a:avLst/>
          </a:prstGeom>
          <a:solidFill>
            <a:srgbClr val="87B8EE"/>
          </a:solidFill>
          <a:ln w="1270">
            <a:solidFill>
              <a:srgbClr val="87B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Oval 95"/>
          <p:cNvSpPr/>
          <p:nvPr/>
        </p:nvSpPr>
        <p:spPr>
          <a:xfrm>
            <a:off x="11344046" y="6040526"/>
            <a:ext cx="25603" cy="25603"/>
          </a:xfrm>
          <a:prstGeom prst="ellipse">
            <a:avLst/>
          </a:prstGeom>
          <a:solidFill>
            <a:srgbClr val="87B8EE"/>
          </a:solidFill>
          <a:ln w="1270">
            <a:solidFill>
              <a:srgbClr val="87B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Oval 96"/>
          <p:cNvSpPr/>
          <p:nvPr/>
        </p:nvSpPr>
        <p:spPr>
          <a:xfrm>
            <a:off x="11444630" y="6040526"/>
            <a:ext cx="25603" cy="25603"/>
          </a:xfrm>
          <a:prstGeom prst="ellipse">
            <a:avLst/>
          </a:prstGeom>
          <a:solidFill>
            <a:srgbClr val="87B8EE"/>
          </a:solidFill>
          <a:ln w="1270">
            <a:solidFill>
              <a:srgbClr val="87B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Oval 97"/>
          <p:cNvSpPr/>
          <p:nvPr/>
        </p:nvSpPr>
        <p:spPr>
          <a:xfrm>
            <a:off x="11142878" y="6141110"/>
            <a:ext cx="25603" cy="25603"/>
          </a:xfrm>
          <a:prstGeom prst="ellipse">
            <a:avLst/>
          </a:prstGeom>
          <a:solidFill>
            <a:srgbClr val="87B8EE"/>
          </a:solidFill>
          <a:ln w="1270">
            <a:solidFill>
              <a:srgbClr val="87B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Oval 98"/>
          <p:cNvSpPr/>
          <p:nvPr/>
        </p:nvSpPr>
        <p:spPr>
          <a:xfrm>
            <a:off x="11243462" y="6141110"/>
            <a:ext cx="25603" cy="25603"/>
          </a:xfrm>
          <a:prstGeom prst="ellipse">
            <a:avLst/>
          </a:prstGeom>
          <a:solidFill>
            <a:srgbClr val="87B8EE"/>
          </a:solidFill>
          <a:ln w="1270">
            <a:solidFill>
              <a:srgbClr val="87B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Oval 99"/>
          <p:cNvSpPr/>
          <p:nvPr/>
        </p:nvSpPr>
        <p:spPr>
          <a:xfrm>
            <a:off x="11344046" y="6141110"/>
            <a:ext cx="25603" cy="25603"/>
          </a:xfrm>
          <a:prstGeom prst="ellipse">
            <a:avLst/>
          </a:prstGeom>
          <a:solidFill>
            <a:srgbClr val="87B8EE"/>
          </a:solidFill>
          <a:ln w="1270">
            <a:solidFill>
              <a:srgbClr val="87B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Oval 100"/>
          <p:cNvSpPr/>
          <p:nvPr/>
        </p:nvSpPr>
        <p:spPr>
          <a:xfrm>
            <a:off x="11444630" y="6141110"/>
            <a:ext cx="25603" cy="25603"/>
          </a:xfrm>
          <a:prstGeom prst="ellipse">
            <a:avLst/>
          </a:prstGeom>
          <a:solidFill>
            <a:srgbClr val="87B8EE"/>
          </a:solidFill>
          <a:ln w="1270">
            <a:solidFill>
              <a:srgbClr val="87B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Oval 101"/>
          <p:cNvSpPr/>
          <p:nvPr/>
        </p:nvSpPr>
        <p:spPr>
          <a:xfrm>
            <a:off x="11142878" y="6241694"/>
            <a:ext cx="25603" cy="25603"/>
          </a:xfrm>
          <a:prstGeom prst="ellipse">
            <a:avLst/>
          </a:prstGeom>
          <a:solidFill>
            <a:srgbClr val="87B8EE"/>
          </a:solidFill>
          <a:ln w="1270">
            <a:solidFill>
              <a:srgbClr val="87B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Oval 102"/>
          <p:cNvSpPr/>
          <p:nvPr/>
        </p:nvSpPr>
        <p:spPr>
          <a:xfrm>
            <a:off x="11243462" y="6241694"/>
            <a:ext cx="25603" cy="25603"/>
          </a:xfrm>
          <a:prstGeom prst="ellipse">
            <a:avLst/>
          </a:prstGeom>
          <a:solidFill>
            <a:srgbClr val="87B8EE"/>
          </a:solidFill>
          <a:ln w="1270">
            <a:solidFill>
              <a:srgbClr val="87B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Oval 103"/>
          <p:cNvSpPr/>
          <p:nvPr/>
        </p:nvSpPr>
        <p:spPr>
          <a:xfrm>
            <a:off x="11344046" y="6241694"/>
            <a:ext cx="25603" cy="25603"/>
          </a:xfrm>
          <a:prstGeom prst="ellipse">
            <a:avLst/>
          </a:prstGeom>
          <a:solidFill>
            <a:srgbClr val="87B8EE"/>
          </a:solidFill>
          <a:ln w="1270">
            <a:solidFill>
              <a:srgbClr val="87B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Oval 104"/>
          <p:cNvSpPr/>
          <p:nvPr/>
        </p:nvSpPr>
        <p:spPr>
          <a:xfrm>
            <a:off x="11444630" y="6241694"/>
            <a:ext cx="25603" cy="25603"/>
          </a:xfrm>
          <a:prstGeom prst="ellipse">
            <a:avLst/>
          </a:prstGeom>
          <a:solidFill>
            <a:srgbClr val="87B8EE"/>
          </a:solidFill>
          <a:ln w="1270">
            <a:solidFill>
              <a:srgbClr val="87B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Oval 105"/>
          <p:cNvSpPr/>
          <p:nvPr/>
        </p:nvSpPr>
        <p:spPr>
          <a:xfrm>
            <a:off x="11142878" y="6342278"/>
            <a:ext cx="25603" cy="25603"/>
          </a:xfrm>
          <a:prstGeom prst="ellipse">
            <a:avLst/>
          </a:prstGeom>
          <a:solidFill>
            <a:srgbClr val="87B8EE"/>
          </a:solidFill>
          <a:ln w="1270">
            <a:solidFill>
              <a:srgbClr val="87B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Oval 106"/>
          <p:cNvSpPr/>
          <p:nvPr/>
        </p:nvSpPr>
        <p:spPr>
          <a:xfrm>
            <a:off x="11243462" y="6342278"/>
            <a:ext cx="25603" cy="25603"/>
          </a:xfrm>
          <a:prstGeom prst="ellipse">
            <a:avLst/>
          </a:prstGeom>
          <a:solidFill>
            <a:srgbClr val="87B8EE"/>
          </a:solidFill>
          <a:ln w="1270">
            <a:solidFill>
              <a:srgbClr val="87B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Oval 107"/>
          <p:cNvSpPr/>
          <p:nvPr/>
        </p:nvSpPr>
        <p:spPr>
          <a:xfrm>
            <a:off x="11344046" y="6342278"/>
            <a:ext cx="25603" cy="25603"/>
          </a:xfrm>
          <a:prstGeom prst="ellipse">
            <a:avLst/>
          </a:prstGeom>
          <a:solidFill>
            <a:srgbClr val="87B8EE"/>
          </a:solidFill>
          <a:ln w="1270">
            <a:solidFill>
              <a:srgbClr val="87B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Oval 108"/>
          <p:cNvSpPr/>
          <p:nvPr/>
        </p:nvSpPr>
        <p:spPr>
          <a:xfrm>
            <a:off x="11444630" y="6342278"/>
            <a:ext cx="25603" cy="25603"/>
          </a:xfrm>
          <a:prstGeom prst="ellipse">
            <a:avLst/>
          </a:prstGeom>
          <a:solidFill>
            <a:srgbClr val="87B8EE"/>
          </a:solidFill>
          <a:ln w="1270">
            <a:solidFill>
              <a:srgbClr val="87B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1" name="Picture 110" descr="A black background with orange and blue text&#10;&#10;Description automatically generated">
            <a:extLst>
              <a:ext uri="{FF2B5EF4-FFF2-40B4-BE49-F238E27FC236}">
                <a16:creationId xmlns:a16="http://schemas.microsoft.com/office/drawing/2014/main" id="{573D0B4B-94B8-EA9B-46DA-5CC928130710}"/>
              </a:ext>
            </a:extLst>
          </p:cNvPr>
          <p:cNvPicPr>
            <a:picLocks noChangeAspect="1"/>
          </p:cNvPicPr>
          <p:nvPr/>
        </p:nvPicPr>
        <p:blipFill>
          <a:blip r:embed="rId2"/>
          <a:stretch>
            <a:fillRect/>
          </a:stretch>
        </p:blipFill>
        <p:spPr>
          <a:xfrm>
            <a:off x="10777306" y="-88712"/>
            <a:ext cx="1164758" cy="1164758"/>
          </a:xfrm>
          <a:prstGeom prst="rect">
            <a:avLst/>
          </a:prstGeom>
        </p:spPr>
      </p:pic>
    </p:spTree>
  </p:cSld>
  <p:clrMapOvr>
    <a:masterClrMapping/>
  </p:clrMapOvr>
  <p:transition spd="slow">
    <p:comb/>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389120" y="274320"/>
            <a:ext cx="3383280" cy="457200"/>
          </a:xfrm>
          <a:prstGeom prst="rect">
            <a:avLst/>
          </a:prstGeom>
          <a:noFill/>
        </p:spPr>
        <p:txBody>
          <a:bodyPr wrap="square" anchor="ctr">
            <a:spAutoFit/>
          </a:bodyPr>
          <a:lstStyle/>
          <a:p>
            <a:pPr algn="ctr"/>
            <a:r>
              <a:rPr sz="2700" b="1">
                <a:solidFill>
                  <a:srgbClr val="082B67"/>
                </a:solidFill>
                <a:latin typeface="Arial"/>
              </a:rPr>
              <a:t>TESTCASE</a:t>
            </a:r>
          </a:p>
        </p:txBody>
      </p:sp>
      <p:cxnSp>
        <p:nvCxnSpPr>
          <p:cNvPr id="3" name="Connector 2"/>
          <p:cNvCxnSpPr/>
          <p:nvPr/>
        </p:nvCxnSpPr>
        <p:spPr>
          <a:xfrm>
            <a:off x="5559552" y="859536"/>
            <a:ext cx="493776" cy="0"/>
          </a:xfrm>
          <a:prstGeom prst="line">
            <a:avLst/>
          </a:prstGeom>
          <a:ln w="26670">
            <a:solidFill>
              <a:srgbClr val="1964E1"/>
            </a:solidFill>
          </a:ln>
        </p:spPr>
        <p:style>
          <a:lnRef idx="2">
            <a:schemeClr val="accent1"/>
          </a:lnRef>
          <a:fillRef idx="0">
            <a:schemeClr val="accent1"/>
          </a:fillRef>
          <a:effectRef idx="1">
            <a:schemeClr val="accent1"/>
          </a:effectRef>
          <a:fontRef idx="minor">
            <a:schemeClr val="tx1"/>
          </a:fontRef>
        </p:style>
      </p:cxnSp>
      <p:sp>
        <p:nvSpPr>
          <p:cNvPr id="4" name="Oval 3"/>
          <p:cNvSpPr/>
          <p:nvPr/>
        </p:nvSpPr>
        <p:spPr>
          <a:xfrm>
            <a:off x="6168542" y="837590"/>
            <a:ext cx="43891" cy="43891"/>
          </a:xfrm>
          <a:prstGeom prst="ellipse">
            <a:avLst/>
          </a:prstGeom>
          <a:solidFill>
            <a:srgbClr val="1964E1"/>
          </a:solidFill>
          <a:ln w="2540">
            <a:solidFill>
              <a:srgbClr val="1964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6287414" y="837590"/>
            <a:ext cx="43891" cy="43891"/>
          </a:xfrm>
          <a:prstGeom prst="ellipse">
            <a:avLst/>
          </a:prstGeom>
          <a:solidFill>
            <a:srgbClr val="1964E1"/>
          </a:solidFill>
          <a:ln w="2540">
            <a:solidFill>
              <a:srgbClr val="1964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6406286" y="837590"/>
            <a:ext cx="43891" cy="43891"/>
          </a:xfrm>
          <a:prstGeom prst="ellipse">
            <a:avLst/>
          </a:prstGeom>
          <a:solidFill>
            <a:srgbClr val="1964E1"/>
          </a:solidFill>
          <a:ln w="2540">
            <a:solidFill>
              <a:srgbClr val="1964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 name="Connector 6"/>
          <p:cNvCxnSpPr/>
          <p:nvPr/>
        </p:nvCxnSpPr>
        <p:spPr>
          <a:xfrm flipV="1">
            <a:off x="0" y="438912"/>
            <a:ext cx="749808" cy="822960"/>
          </a:xfrm>
          <a:prstGeom prst="line">
            <a:avLst/>
          </a:prstGeom>
          <a:ln w="10160">
            <a:solidFill>
              <a:srgbClr val="1964E1"/>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749808" y="438912"/>
            <a:ext cx="1764792" cy="566928"/>
          </a:xfrm>
          <a:prstGeom prst="line">
            <a:avLst/>
          </a:prstGeom>
          <a:ln w="10160">
            <a:solidFill>
              <a:srgbClr val="1964E1"/>
            </a:solidFill>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612647" y="301751"/>
            <a:ext cx="274320" cy="274320"/>
          </a:xfrm>
          <a:prstGeom prst="ellipse">
            <a:avLst/>
          </a:prstGeom>
          <a:solidFill>
            <a:srgbClr val="FFFFFF"/>
          </a:solidFill>
          <a:ln w="11430">
            <a:solidFill>
              <a:srgbClr val="1964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690371" y="379476"/>
            <a:ext cx="118872" cy="118872"/>
          </a:xfrm>
          <a:prstGeom prst="ellipse">
            <a:avLst/>
          </a:prstGeom>
          <a:solidFill>
            <a:srgbClr val="1964E1"/>
          </a:solidFill>
          <a:ln w="2540">
            <a:solidFill>
              <a:srgbClr val="1964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2404872" y="896112"/>
            <a:ext cx="219456" cy="219456"/>
          </a:xfrm>
          <a:prstGeom prst="ellipse">
            <a:avLst/>
          </a:prstGeom>
          <a:solidFill>
            <a:srgbClr val="E5F4FF"/>
          </a:solidFill>
          <a:ln w="11430">
            <a:solidFill>
              <a:srgbClr val="1964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2468880" y="960120"/>
            <a:ext cx="91440" cy="91440"/>
          </a:xfrm>
          <a:prstGeom prst="ellipse">
            <a:avLst/>
          </a:prstGeom>
          <a:solidFill>
            <a:srgbClr val="1964E1"/>
          </a:solidFill>
          <a:ln w="2540">
            <a:solidFill>
              <a:srgbClr val="1964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3" name="Connector 12"/>
          <p:cNvCxnSpPr/>
          <p:nvPr/>
        </p:nvCxnSpPr>
        <p:spPr>
          <a:xfrm>
            <a:off x="10241280" y="438912"/>
            <a:ext cx="777240" cy="274320"/>
          </a:xfrm>
          <a:prstGeom prst="line">
            <a:avLst/>
          </a:prstGeom>
          <a:ln w="10160">
            <a:solidFill>
              <a:srgbClr val="1964E1"/>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11018520" y="182880"/>
            <a:ext cx="1170432" cy="530352"/>
          </a:xfrm>
          <a:prstGeom prst="line">
            <a:avLst/>
          </a:prstGeom>
          <a:ln w="10160">
            <a:solidFill>
              <a:srgbClr val="1964E1"/>
            </a:solidFill>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10094976" y="292607"/>
            <a:ext cx="292608" cy="292608"/>
          </a:xfrm>
          <a:prstGeom prst="ellipse">
            <a:avLst/>
          </a:prstGeom>
          <a:solidFill>
            <a:srgbClr val="FFFFFF"/>
          </a:solidFill>
          <a:ln w="11430">
            <a:solidFill>
              <a:srgbClr val="1964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10927080" y="621792"/>
            <a:ext cx="182880" cy="182880"/>
          </a:xfrm>
          <a:prstGeom prst="ellipse">
            <a:avLst/>
          </a:prstGeom>
          <a:solidFill>
            <a:srgbClr val="E5F4FF"/>
          </a:solidFill>
          <a:ln w="10160">
            <a:solidFill>
              <a:srgbClr val="1964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685800" y="1508760"/>
            <a:ext cx="4709160" cy="3310128"/>
          </a:xfrm>
          <a:prstGeom prst="roundRect">
            <a:avLst/>
          </a:prstGeom>
          <a:solidFill>
            <a:srgbClr val="FFFFFF"/>
          </a:solidFill>
          <a:ln w="12700">
            <a:solidFill>
              <a:srgbClr val="C9E0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5559552" y="1508760"/>
            <a:ext cx="5897880" cy="3310128"/>
          </a:xfrm>
          <a:prstGeom prst="roundRect">
            <a:avLst/>
          </a:prstGeom>
          <a:solidFill>
            <a:srgbClr val="FFFFFF"/>
          </a:solidFill>
          <a:ln w="12700">
            <a:solidFill>
              <a:srgbClr val="C9E0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2606040" y="1399032"/>
            <a:ext cx="1554480" cy="292608"/>
          </a:xfrm>
          <a:prstGeom prst="roundRect">
            <a:avLst/>
          </a:prstGeom>
          <a:solidFill>
            <a:srgbClr val="1964E1"/>
          </a:solidFill>
          <a:ln w="2540">
            <a:solidFill>
              <a:srgbClr val="1964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606040" y="1426464"/>
            <a:ext cx="1554480" cy="219456"/>
          </a:xfrm>
          <a:prstGeom prst="rect">
            <a:avLst/>
          </a:prstGeom>
          <a:noFill/>
        </p:spPr>
        <p:txBody>
          <a:bodyPr wrap="square" anchor="ctr">
            <a:spAutoFit/>
          </a:bodyPr>
          <a:lstStyle/>
          <a:p>
            <a:pPr algn="ctr"/>
            <a:r>
              <a:rPr sz="919" b="1">
                <a:solidFill>
                  <a:srgbClr val="FFFFFF"/>
                </a:solidFill>
                <a:latin typeface="Arial"/>
              </a:rPr>
              <a:t>TỶ LỆ PASS / FAIL</a:t>
            </a:r>
          </a:p>
        </p:txBody>
      </p:sp>
      <p:sp>
        <p:nvSpPr>
          <p:cNvPr id="21" name="Rounded Rectangle 20"/>
          <p:cNvSpPr/>
          <p:nvPr/>
        </p:nvSpPr>
        <p:spPr>
          <a:xfrm>
            <a:off x="6784848" y="1399032"/>
            <a:ext cx="3429000" cy="292608"/>
          </a:xfrm>
          <a:prstGeom prst="roundRect">
            <a:avLst/>
          </a:prstGeom>
          <a:solidFill>
            <a:srgbClr val="1964E1"/>
          </a:solidFill>
          <a:ln w="2540">
            <a:solidFill>
              <a:srgbClr val="1964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784848" y="1426464"/>
            <a:ext cx="3429000" cy="219456"/>
          </a:xfrm>
          <a:prstGeom prst="rect">
            <a:avLst/>
          </a:prstGeom>
          <a:noFill/>
        </p:spPr>
        <p:txBody>
          <a:bodyPr wrap="square" anchor="ctr">
            <a:spAutoFit/>
          </a:bodyPr>
          <a:lstStyle/>
          <a:p>
            <a:pPr algn="ctr"/>
            <a:r>
              <a:rPr sz="850" b="1">
                <a:solidFill>
                  <a:srgbClr val="FFFFFF"/>
                </a:solidFill>
                <a:latin typeface="Arial"/>
              </a:rPr>
              <a:t>SỐ LƯỢNG TEST CASE THEO NGƯỜI THỰC HIỆN</a:t>
            </a:r>
          </a:p>
        </p:txBody>
      </p:sp>
      <p:sp>
        <p:nvSpPr>
          <p:cNvPr id="23" name="TextBox 22"/>
          <p:cNvSpPr txBox="1"/>
          <p:nvPr/>
        </p:nvSpPr>
        <p:spPr>
          <a:xfrm>
            <a:off x="2176272" y="1828800"/>
            <a:ext cx="1691640" cy="292608"/>
          </a:xfrm>
          <a:prstGeom prst="rect">
            <a:avLst/>
          </a:prstGeom>
          <a:noFill/>
        </p:spPr>
        <p:txBody>
          <a:bodyPr wrap="square" anchor="ctr">
            <a:spAutoFit/>
          </a:bodyPr>
          <a:lstStyle/>
          <a:p>
            <a:pPr algn="ctr"/>
            <a:r>
              <a:rPr sz="1700" b="1">
                <a:solidFill>
                  <a:srgbClr val="141414"/>
                </a:solidFill>
                <a:latin typeface="Arial"/>
              </a:rPr>
              <a:t>Kết quả</a:t>
            </a:r>
          </a:p>
        </p:txBody>
      </p:sp>
      <p:sp>
        <p:nvSpPr>
          <p:cNvPr id="24" name="TextBox 23"/>
          <p:cNvSpPr txBox="1"/>
          <p:nvPr/>
        </p:nvSpPr>
        <p:spPr>
          <a:xfrm>
            <a:off x="6537960" y="1828800"/>
            <a:ext cx="1691640" cy="292608"/>
          </a:xfrm>
          <a:prstGeom prst="rect">
            <a:avLst/>
          </a:prstGeom>
          <a:noFill/>
        </p:spPr>
        <p:txBody>
          <a:bodyPr wrap="square" anchor="ctr">
            <a:spAutoFit/>
          </a:bodyPr>
          <a:lstStyle/>
          <a:p>
            <a:pPr algn="ctr"/>
            <a:r>
              <a:rPr sz="1700" b="1">
                <a:solidFill>
                  <a:srgbClr val="141414"/>
                </a:solidFill>
                <a:latin typeface="Arial"/>
              </a:rPr>
              <a:t>Test case</a:t>
            </a:r>
          </a:p>
        </p:txBody>
      </p:sp>
      <p:graphicFrame>
        <p:nvGraphicFramePr>
          <p:cNvPr id="25" name="Chart 24"/>
          <p:cNvGraphicFramePr>
            <a:graphicFrameLocks noGrp="1"/>
          </p:cNvGraphicFramePr>
          <p:nvPr/>
        </p:nvGraphicFramePr>
        <p:xfrm>
          <a:off x="1572768" y="2212848"/>
          <a:ext cx="2971800" cy="1920240"/>
        </p:xfrm>
        <a:graphic>
          <a:graphicData uri="http://schemas.openxmlformats.org/drawingml/2006/chart">
            <c:chart xmlns:c="http://schemas.openxmlformats.org/drawingml/2006/chart" xmlns:r="http://schemas.openxmlformats.org/officeDocument/2006/relationships" r:id="rId2"/>
          </a:graphicData>
        </a:graphic>
      </p:graphicFrame>
      <p:sp>
        <p:nvSpPr>
          <p:cNvPr id="26" name="Oval 25"/>
          <p:cNvSpPr/>
          <p:nvPr/>
        </p:nvSpPr>
        <p:spPr>
          <a:xfrm>
            <a:off x="1101852" y="4302252"/>
            <a:ext cx="137160" cy="137160"/>
          </a:xfrm>
          <a:prstGeom prst="ellipse">
            <a:avLst/>
          </a:prstGeom>
          <a:solidFill>
            <a:srgbClr val="32B25C"/>
          </a:solidFill>
          <a:ln w="2540">
            <a:solidFill>
              <a:srgbClr val="32B2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371600" y="4251960"/>
            <a:ext cx="502920" cy="228600"/>
          </a:xfrm>
          <a:prstGeom prst="rect">
            <a:avLst/>
          </a:prstGeom>
          <a:noFill/>
        </p:spPr>
        <p:txBody>
          <a:bodyPr wrap="square" anchor="ctr">
            <a:spAutoFit/>
          </a:bodyPr>
          <a:lstStyle/>
          <a:p>
            <a:pPr algn="l"/>
            <a:r>
              <a:rPr sz="850" b="1">
                <a:solidFill>
                  <a:srgbClr val="082B67"/>
                </a:solidFill>
                <a:latin typeface="Arial"/>
              </a:rPr>
              <a:t>Pass</a:t>
            </a:r>
          </a:p>
        </p:txBody>
      </p:sp>
      <p:sp>
        <p:nvSpPr>
          <p:cNvPr id="28" name="TextBox 27"/>
          <p:cNvSpPr txBox="1"/>
          <p:nvPr/>
        </p:nvSpPr>
        <p:spPr>
          <a:xfrm>
            <a:off x="1847088" y="4224528"/>
            <a:ext cx="685800" cy="274320"/>
          </a:xfrm>
          <a:prstGeom prst="rect">
            <a:avLst/>
          </a:prstGeom>
          <a:noFill/>
        </p:spPr>
        <p:txBody>
          <a:bodyPr wrap="square" anchor="ctr">
            <a:spAutoFit/>
          </a:bodyPr>
          <a:lstStyle/>
          <a:p>
            <a:pPr algn="l"/>
            <a:r>
              <a:rPr sz="1500" b="1">
                <a:solidFill>
                  <a:srgbClr val="32B25C"/>
                </a:solidFill>
                <a:latin typeface="Arial"/>
              </a:rPr>
              <a:t>83.5%</a:t>
            </a:r>
          </a:p>
        </p:txBody>
      </p:sp>
      <p:sp>
        <p:nvSpPr>
          <p:cNvPr id="29" name="Oval 28"/>
          <p:cNvSpPr/>
          <p:nvPr/>
        </p:nvSpPr>
        <p:spPr>
          <a:xfrm>
            <a:off x="2903220" y="4302252"/>
            <a:ext cx="137160" cy="137160"/>
          </a:xfrm>
          <a:prstGeom prst="ellipse">
            <a:avLst/>
          </a:prstGeom>
          <a:solidFill>
            <a:srgbClr val="F43B30"/>
          </a:solidFill>
          <a:ln w="2540">
            <a:solidFill>
              <a:srgbClr val="F43B3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182112" y="4251960"/>
            <a:ext cx="457200" cy="228600"/>
          </a:xfrm>
          <a:prstGeom prst="rect">
            <a:avLst/>
          </a:prstGeom>
          <a:noFill/>
        </p:spPr>
        <p:txBody>
          <a:bodyPr wrap="square" anchor="ctr">
            <a:spAutoFit/>
          </a:bodyPr>
          <a:lstStyle/>
          <a:p>
            <a:pPr algn="l"/>
            <a:r>
              <a:rPr sz="850" b="1">
                <a:solidFill>
                  <a:srgbClr val="082B67"/>
                </a:solidFill>
                <a:latin typeface="Arial"/>
              </a:rPr>
              <a:t>Fail</a:t>
            </a:r>
          </a:p>
        </p:txBody>
      </p:sp>
      <p:sp>
        <p:nvSpPr>
          <p:cNvPr id="31" name="TextBox 30"/>
          <p:cNvSpPr txBox="1"/>
          <p:nvPr/>
        </p:nvSpPr>
        <p:spPr>
          <a:xfrm>
            <a:off x="3657600" y="4224528"/>
            <a:ext cx="685800" cy="274320"/>
          </a:xfrm>
          <a:prstGeom prst="rect">
            <a:avLst/>
          </a:prstGeom>
          <a:noFill/>
        </p:spPr>
        <p:txBody>
          <a:bodyPr wrap="square" anchor="ctr">
            <a:spAutoFit/>
          </a:bodyPr>
          <a:lstStyle/>
          <a:p>
            <a:pPr algn="l"/>
            <a:r>
              <a:rPr sz="1500" b="1">
                <a:solidFill>
                  <a:srgbClr val="F43B30"/>
                </a:solidFill>
                <a:latin typeface="Arial"/>
              </a:rPr>
              <a:t>16.5%</a:t>
            </a:r>
          </a:p>
        </p:txBody>
      </p:sp>
      <p:graphicFrame>
        <p:nvGraphicFramePr>
          <p:cNvPr id="32" name="Chart 31"/>
          <p:cNvGraphicFramePr>
            <a:graphicFrameLocks noGrp="1"/>
          </p:cNvGraphicFramePr>
          <p:nvPr/>
        </p:nvGraphicFramePr>
        <p:xfrm>
          <a:off x="5943600" y="2240280"/>
          <a:ext cx="2880360" cy="1965960"/>
        </p:xfrm>
        <a:graphic>
          <a:graphicData uri="http://schemas.openxmlformats.org/drawingml/2006/chart">
            <c:chart xmlns:c="http://schemas.openxmlformats.org/drawingml/2006/chart" xmlns:r="http://schemas.openxmlformats.org/officeDocument/2006/relationships" r:id="rId3"/>
          </a:graphicData>
        </a:graphic>
      </p:graphicFrame>
      <p:sp>
        <p:nvSpPr>
          <p:cNvPr id="33" name="Oval 32"/>
          <p:cNvSpPr/>
          <p:nvPr/>
        </p:nvSpPr>
        <p:spPr>
          <a:xfrm>
            <a:off x="9047988" y="1988819"/>
            <a:ext cx="100584" cy="100584"/>
          </a:xfrm>
          <a:prstGeom prst="ellipse">
            <a:avLst/>
          </a:prstGeom>
          <a:solidFill>
            <a:srgbClr val="1964E1"/>
          </a:solidFill>
          <a:ln w="2540">
            <a:solidFill>
              <a:srgbClr val="1964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9290304" y="1938528"/>
            <a:ext cx="1417320" cy="201168"/>
          </a:xfrm>
          <a:prstGeom prst="rect">
            <a:avLst/>
          </a:prstGeom>
          <a:noFill/>
        </p:spPr>
        <p:txBody>
          <a:bodyPr wrap="square" anchor="ctr">
            <a:spAutoFit/>
          </a:bodyPr>
          <a:lstStyle/>
          <a:p>
            <a:pPr algn="l"/>
            <a:r>
              <a:rPr sz="720" b="0">
                <a:solidFill>
                  <a:srgbClr val="082B67"/>
                </a:solidFill>
                <a:latin typeface="Arial"/>
              </a:rPr>
              <a:t>Trần Quốc Phong</a:t>
            </a:r>
          </a:p>
        </p:txBody>
      </p:sp>
      <p:sp>
        <p:nvSpPr>
          <p:cNvPr id="35" name="TextBox 34"/>
          <p:cNvSpPr txBox="1"/>
          <p:nvPr/>
        </p:nvSpPr>
        <p:spPr>
          <a:xfrm>
            <a:off x="10716768" y="1938528"/>
            <a:ext cx="475488" cy="201168"/>
          </a:xfrm>
          <a:prstGeom prst="rect">
            <a:avLst/>
          </a:prstGeom>
          <a:noFill/>
        </p:spPr>
        <p:txBody>
          <a:bodyPr wrap="square" anchor="ctr">
            <a:spAutoFit/>
          </a:bodyPr>
          <a:lstStyle/>
          <a:p>
            <a:pPr algn="r"/>
            <a:r>
              <a:rPr sz="720" b="1">
                <a:solidFill>
                  <a:srgbClr val="082B67"/>
                </a:solidFill>
                <a:latin typeface="Arial"/>
              </a:rPr>
              <a:t>13.1%</a:t>
            </a:r>
          </a:p>
        </p:txBody>
      </p:sp>
      <p:sp>
        <p:nvSpPr>
          <p:cNvPr id="36" name="Oval 35"/>
          <p:cNvSpPr/>
          <p:nvPr/>
        </p:nvSpPr>
        <p:spPr>
          <a:xfrm>
            <a:off x="9047988" y="2345436"/>
            <a:ext cx="100584" cy="100584"/>
          </a:xfrm>
          <a:prstGeom prst="ellipse">
            <a:avLst/>
          </a:prstGeom>
          <a:solidFill>
            <a:srgbClr val="F43B30"/>
          </a:solidFill>
          <a:ln w="2540">
            <a:solidFill>
              <a:srgbClr val="F43B3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290304" y="2295144"/>
            <a:ext cx="1417320" cy="201168"/>
          </a:xfrm>
          <a:prstGeom prst="rect">
            <a:avLst/>
          </a:prstGeom>
          <a:noFill/>
        </p:spPr>
        <p:txBody>
          <a:bodyPr wrap="square" anchor="ctr">
            <a:spAutoFit/>
          </a:bodyPr>
          <a:lstStyle/>
          <a:p>
            <a:pPr algn="l"/>
            <a:r>
              <a:rPr sz="720" b="0">
                <a:solidFill>
                  <a:srgbClr val="082B67"/>
                </a:solidFill>
                <a:latin typeface="Arial"/>
              </a:rPr>
              <a:t>Y Đăng Niê</a:t>
            </a:r>
          </a:p>
        </p:txBody>
      </p:sp>
      <p:sp>
        <p:nvSpPr>
          <p:cNvPr id="38" name="TextBox 37"/>
          <p:cNvSpPr txBox="1"/>
          <p:nvPr/>
        </p:nvSpPr>
        <p:spPr>
          <a:xfrm>
            <a:off x="10716768" y="2295144"/>
            <a:ext cx="475488" cy="201168"/>
          </a:xfrm>
          <a:prstGeom prst="rect">
            <a:avLst/>
          </a:prstGeom>
          <a:noFill/>
        </p:spPr>
        <p:txBody>
          <a:bodyPr wrap="square" anchor="ctr">
            <a:spAutoFit/>
          </a:bodyPr>
          <a:lstStyle/>
          <a:p>
            <a:pPr algn="r"/>
            <a:r>
              <a:rPr sz="720" b="1">
                <a:solidFill>
                  <a:srgbClr val="082B67"/>
                </a:solidFill>
                <a:latin typeface="Arial"/>
              </a:rPr>
              <a:t>12.4%</a:t>
            </a:r>
          </a:p>
        </p:txBody>
      </p:sp>
      <p:sp>
        <p:nvSpPr>
          <p:cNvPr id="39" name="Oval 38"/>
          <p:cNvSpPr/>
          <p:nvPr/>
        </p:nvSpPr>
        <p:spPr>
          <a:xfrm>
            <a:off x="9047988" y="2702051"/>
            <a:ext cx="100584" cy="100584"/>
          </a:xfrm>
          <a:prstGeom prst="ellipse">
            <a:avLst/>
          </a:prstGeom>
          <a:solidFill>
            <a:srgbClr val="FFB80C"/>
          </a:solidFill>
          <a:ln w="2540">
            <a:solidFill>
              <a:srgbClr val="FFB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9290304" y="2651760"/>
            <a:ext cx="1417320" cy="201168"/>
          </a:xfrm>
          <a:prstGeom prst="rect">
            <a:avLst/>
          </a:prstGeom>
          <a:noFill/>
        </p:spPr>
        <p:txBody>
          <a:bodyPr wrap="square" anchor="ctr">
            <a:spAutoFit/>
          </a:bodyPr>
          <a:lstStyle/>
          <a:p>
            <a:pPr algn="l"/>
            <a:r>
              <a:rPr sz="720" b="0">
                <a:solidFill>
                  <a:srgbClr val="082B67"/>
                </a:solidFill>
                <a:latin typeface="Arial"/>
              </a:rPr>
              <a:t>Y Pak Ayun</a:t>
            </a:r>
          </a:p>
        </p:txBody>
      </p:sp>
      <p:sp>
        <p:nvSpPr>
          <p:cNvPr id="41" name="TextBox 40"/>
          <p:cNvSpPr txBox="1"/>
          <p:nvPr/>
        </p:nvSpPr>
        <p:spPr>
          <a:xfrm>
            <a:off x="10716768" y="2651760"/>
            <a:ext cx="475488" cy="201168"/>
          </a:xfrm>
          <a:prstGeom prst="rect">
            <a:avLst/>
          </a:prstGeom>
          <a:noFill/>
        </p:spPr>
        <p:txBody>
          <a:bodyPr wrap="square" anchor="ctr">
            <a:spAutoFit/>
          </a:bodyPr>
          <a:lstStyle/>
          <a:p>
            <a:pPr algn="r"/>
            <a:r>
              <a:rPr sz="720" b="1">
                <a:solidFill>
                  <a:srgbClr val="082B67"/>
                </a:solidFill>
                <a:latin typeface="Arial"/>
              </a:rPr>
              <a:t>10.9%</a:t>
            </a:r>
          </a:p>
        </p:txBody>
      </p:sp>
      <p:sp>
        <p:nvSpPr>
          <p:cNvPr id="42" name="Oval 41"/>
          <p:cNvSpPr/>
          <p:nvPr/>
        </p:nvSpPr>
        <p:spPr>
          <a:xfrm>
            <a:off x="9047988" y="3058668"/>
            <a:ext cx="100584" cy="100584"/>
          </a:xfrm>
          <a:prstGeom prst="ellipse">
            <a:avLst/>
          </a:prstGeom>
          <a:solidFill>
            <a:srgbClr val="32B25C"/>
          </a:solidFill>
          <a:ln w="2540">
            <a:solidFill>
              <a:srgbClr val="32B2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9290304" y="3008376"/>
            <a:ext cx="1417320" cy="201168"/>
          </a:xfrm>
          <a:prstGeom prst="rect">
            <a:avLst/>
          </a:prstGeom>
          <a:noFill/>
        </p:spPr>
        <p:txBody>
          <a:bodyPr wrap="square" anchor="ctr">
            <a:spAutoFit/>
          </a:bodyPr>
          <a:lstStyle/>
          <a:p>
            <a:pPr algn="l"/>
            <a:r>
              <a:rPr sz="720" b="0">
                <a:solidFill>
                  <a:srgbClr val="082B67"/>
                </a:solidFill>
                <a:latin typeface="Arial"/>
              </a:rPr>
              <a:t>Lê Ngọc Tài</a:t>
            </a:r>
          </a:p>
        </p:txBody>
      </p:sp>
      <p:sp>
        <p:nvSpPr>
          <p:cNvPr id="44" name="TextBox 43"/>
          <p:cNvSpPr txBox="1"/>
          <p:nvPr/>
        </p:nvSpPr>
        <p:spPr>
          <a:xfrm>
            <a:off x="10716768" y="3008376"/>
            <a:ext cx="475488" cy="201168"/>
          </a:xfrm>
          <a:prstGeom prst="rect">
            <a:avLst/>
          </a:prstGeom>
          <a:noFill/>
        </p:spPr>
        <p:txBody>
          <a:bodyPr wrap="square" anchor="ctr">
            <a:spAutoFit/>
          </a:bodyPr>
          <a:lstStyle/>
          <a:p>
            <a:pPr algn="r"/>
            <a:r>
              <a:rPr sz="720" b="1">
                <a:solidFill>
                  <a:srgbClr val="082B67"/>
                </a:solidFill>
                <a:latin typeface="Arial"/>
              </a:rPr>
              <a:t>16.6%</a:t>
            </a:r>
          </a:p>
        </p:txBody>
      </p:sp>
      <p:sp>
        <p:nvSpPr>
          <p:cNvPr id="45" name="Oval 44"/>
          <p:cNvSpPr/>
          <p:nvPr/>
        </p:nvSpPr>
        <p:spPr>
          <a:xfrm>
            <a:off x="9047988" y="3415284"/>
            <a:ext cx="100584" cy="100584"/>
          </a:xfrm>
          <a:prstGeom prst="ellipse">
            <a:avLst/>
          </a:prstGeom>
          <a:solidFill>
            <a:srgbClr val="FF7000"/>
          </a:solidFill>
          <a:ln w="2540">
            <a:solidFill>
              <a:srgbClr val="FF7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9290304" y="3364992"/>
            <a:ext cx="1417320" cy="201168"/>
          </a:xfrm>
          <a:prstGeom prst="rect">
            <a:avLst/>
          </a:prstGeom>
          <a:noFill/>
        </p:spPr>
        <p:txBody>
          <a:bodyPr wrap="square" anchor="ctr">
            <a:spAutoFit/>
          </a:bodyPr>
          <a:lstStyle/>
          <a:p>
            <a:pPr algn="l"/>
            <a:r>
              <a:rPr sz="720" b="0">
                <a:solidFill>
                  <a:srgbClr val="082B67"/>
                </a:solidFill>
                <a:latin typeface="Arial"/>
              </a:rPr>
              <a:t>Quách Đức Thành</a:t>
            </a:r>
          </a:p>
        </p:txBody>
      </p:sp>
      <p:sp>
        <p:nvSpPr>
          <p:cNvPr id="47" name="TextBox 46"/>
          <p:cNvSpPr txBox="1"/>
          <p:nvPr/>
        </p:nvSpPr>
        <p:spPr>
          <a:xfrm>
            <a:off x="10716768" y="3364992"/>
            <a:ext cx="475488" cy="201168"/>
          </a:xfrm>
          <a:prstGeom prst="rect">
            <a:avLst/>
          </a:prstGeom>
          <a:noFill/>
        </p:spPr>
        <p:txBody>
          <a:bodyPr wrap="square" anchor="ctr">
            <a:spAutoFit/>
          </a:bodyPr>
          <a:lstStyle/>
          <a:p>
            <a:pPr algn="r"/>
            <a:r>
              <a:rPr sz="720" b="1">
                <a:solidFill>
                  <a:srgbClr val="082B67"/>
                </a:solidFill>
                <a:latin typeface="Arial"/>
              </a:rPr>
              <a:t>12.2%</a:t>
            </a:r>
          </a:p>
        </p:txBody>
      </p:sp>
      <p:sp>
        <p:nvSpPr>
          <p:cNvPr id="48" name="Oval 47"/>
          <p:cNvSpPr/>
          <p:nvPr/>
        </p:nvSpPr>
        <p:spPr>
          <a:xfrm>
            <a:off x="9047988" y="3771900"/>
            <a:ext cx="100584" cy="100584"/>
          </a:xfrm>
          <a:prstGeom prst="ellipse">
            <a:avLst/>
          </a:prstGeom>
          <a:solidFill>
            <a:srgbClr val="44B8BF"/>
          </a:solidFill>
          <a:ln w="2540">
            <a:solidFill>
              <a:srgbClr val="44B8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9290304" y="3721607"/>
            <a:ext cx="1417320" cy="201168"/>
          </a:xfrm>
          <a:prstGeom prst="rect">
            <a:avLst/>
          </a:prstGeom>
          <a:noFill/>
        </p:spPr>
        <p:txBody>
          <a:bodyPr wrap="square" anchor="ctr">
            <a:spAutoFit/>
          </a:bodyPr>
          <a:lstStyle/>
          <a:p>
            <a:pPr algn="l"/>
            <a:r>
              <a:rPr sz="720" b="0">
                <a:solidFill>
                  <a:srgbClr val="082B67"/>
                </a:solidFill>
                <a:latin typeface="Arial"/>
              </a:rPr>
              <a:t>Lạc Mạnh Quân Êban</a:t>
            </a:r>
          </a:p>
        </p:txBody>
      </p:sp>
      <p:sp>
        <p:nvSpPr>
          <p:cNvPr id="50" name="TextBox 49"/>
          <p:cNvSpPr txBox="1"/>
          <p:nvPr/>
        </p:nvSpPr>
        <p:spPr>
          <a:xfrm>
            <a:off x="10716768" y="3721607"/>
            <a:ext cx="475488" cy="201168"/>
          </a:xfrm>
          <a:prstGeom prst="rect">
            <a:avLst/>
          </a:prstGeom>
          <a:noFill/>
        </p:spPr>
        <p:txBody>
          <a:bodyPr wrap="square" anchor="ctr">
            <a:spAutoFit/>
          </a:bodyPr>
          <a:lstStyle/>
          <a:p>
            <a:pPr algn="r"/>
            <a:r>
              <a:rPr sz="720" b="1">
                <a:solidFill>
                  <a:srgbClr val="082B67"/>
                </a:solidFill>
                <a:latin typeface="Arial"/>
              </a:rPr>
              <a:t>19.9%</a:t>
            </a:r>
          </a:p>
        </p:txBody>
      </p:sp>
      <p:sp>
        <p:nvSpPr>
          <p:cNvPr id="51" name="Oval 50"/>
          <p:cNvSpPr/>
          <p:nvPr/>
        </p:nvSpPr>
        <p:spPr>
          <a:xfrm>
            <a:off x="9047988" y="4128516"/>
            <a:ext cx="100584" cy="100584"/>
          </a:xfrm>
          <a:prstGeom prst="ellipse">
            <a:avLst/>
          </a:prstGeom>
          <a:solidFill>
            <a:srgbClr val="709FEB"/>
          </a:solidFill>
          <a:ln w="2540">
            <a:solidFill>
              <a:srgbClr val="709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9290304" y="4078224"/>
            <a:ext cx="1417320" cy="201168"/>
          </a:xfrm>
          <a:prstGeom prst="rect">
            <a:avLst/>
          </a:prstGeom>
          <a:noFill/>
        </p:spPr>
        <p:txBody>
          <a:bodyPr wrap="square" anchor="ctr">
            <a:spAutoFit/>
          </a:bodyPr>
          <a:lstStyle/>
          <a:p>
            <a:pPr algn="l"/>
            <a:r>
              <a:rPr sz="720" b="0">
                <a:solidFill>
                  <a:srgbClr val="082B67"/>
                </a:solidFill>
                <a:latin typeface="Arial"/>
              </a:rPr>
              <a:t>Y Thiết Niê</a:t>
            </a:r>
          </a:p>
        </p:txBody>
      </p:sp>
      <p:sp>
        <p:nvSpPr>
          <p:cNvPr id="53" name="TextBox 52"/>
          <p:cNvSpPr txBox="1"/>
          <p:nvPr/>
        </p:nvSpPr>
        <p:spPr>
          <a:xfrm>
            <a:off x="10716768" y="4078224"/>
            <a:ext cx="475488" cy="201168"/>
          </a:xfrm>
          <a:prstGeom prst="rect">
            <a:avLst/>
          </a:prstGeom>
          <a:noFill/>
        </p:spPr>
        <p:txBody>
          <a:bodyPr wrap="square" anchor="ctr">
            <a:spAutoFit/>
          </a:bodyPr>
          <a:lstStyle/>
          <a:p>
            <a:pPr algn="r"/>
            <a:r>
              <a:rPr sz="720" b="1">
                <a:solidFill>
                  <a:srgbClr val="082B67"/>
                </a:solidFill>
                <a:latin typeface="Arial"/>
              </a:rPr>
              <a:t>14.8%</a:t>
            </a:r>
          </a:p>
        </p:txBody>
      </p:sp>
      <p:sp>
        <p:nvSpPr>
          <p:cNvPr id="54" name="Rounded Rectangle 53"/>
          <p:cNvSpPr/>
          <p:nvPr/>
        </p:nvSpPr>
        <p:spPr>
          <a:xfrm>
            <a:off x="685800" y="5047488"/>
            <a:ext cx="10771632" cy="932688"/>
          </a:xfrm>
          <a:prstGeom prst="roundRect">
            <a:avLst/>
          </a:prstGeom>
          <a:solidFill>
            <a:srgbClr val="F8FBFF"/>
          </a:solidFill>
          <a:ln w="11430">
            <a:solidFill>
              <a:srgbClr val="C9E0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Oval 54"/>
          <p:cNvSpPr/>
          <p:nvPr/>
        </p:nvSpPr>
        <p:spPr>
          <a:xfrm>
            <a:off x="905256" y="5276088"/>
            <a:ext cx="475488" cy="475488"/>
          </a:xfrm>
          <a:prstGeom prst="ellipse">
            <a:avLst/>
          </a:prstGeom>
          <a:solidFill>
            <a:srgbClr val="1964E1"/>
          </a:solidFill>
          <a:ln w="2540">
            <a:solidFill>
              <a:srgbClr val="1964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960120" y="5303520"/>
            <a:ext cx="365760" cy="384048"/>
          </a:xfrm>
          <a:prstGeom prst="rect">
            <a:avLst/>
          </a:prstGeom>
          <a:noFill/>
        </p:spPr>
        <p:txBody>
          <a:bodyPr wrap="square" anchor="ctr">
            <a:spAutoFit/>
          </a:bodyPr>
          <a:lstStyle/>
          <a:p>
            <a:pPr algn="ctr"/>
            <a:r>
              <a:rPr sz="2100" b="1">
                <a:solidFill>
                  <a:srgbClr val="FFFFFF"/>
                </a:solidFill>
                <a:latin typeface="Arial"/>
              </a:rPr>
              <a:t>✓</a:t>
            </a:r>
          </a:p>
        </p:txBody>
      </p:sp>
      <p:sp>
        <p:nvSpPr>
          <p:cNvPr id="57" name="TextBox 56"/>
          <p:cNvSpPr txBox="1"/>
          <p:nvPr/>
        </p:nvSpPr>
        <p:spPr>
          <a:xfrm>
            <a:off x="1627632" y="5212080"/>
            <a:ext cx="1097280" cy="210312"/>
          </a:xfrm>
          <a:prstGeom prst="rect">
            <a:avLst/>
          </a:prstGeom>
          <a:noFill/>
        </p:spPr>
        <p:txBody>
          <a:bodyPr wrap="square" anchor="ctr">
            <a:spAutoFit/>
          </a:bodyPr>
          <a:lstStyle/>
          <a:p>
            <a:pPr algn="l"/>
            <a:r>
              <a:rPr sz="950" b="1">
                <a:solidFill>
                  <a:srgbClr val="082B67"/>
                </a:solidFill>
                <a:latin typeface="Arial"/>
              </a:rPr>
              <a:t>GHI CHÚ</a:t>
            </a:r>
          </a:p>
        </p:txBody>
      </p:sp>
      <p:sp>
        <p:nvSpPr>
          <p:cNvPr id="58" name="TextBox 57"/>
          <p:cNvSpPr txBox="1"/>
          <p:nvPr/>
        </p:nvSpPr>
        <p:spPr>
          <a:xfrm>
            <a:off x="1627632" y="5468112"/>
            <a:ext cx="4069080" cy="347472"/>
          </a:xfrm>
          <a:prstGeom prst="rect">
            <a:avLst/>
          </a:prstGeom>
          <a:noFill/>
        </p:spPr>
        <p:txBody>
          <a:bodyPr wrap="square" anchor="ctr">
            <a:spAutoFit/>
          </a:bodyPr>
          <a:lstStyle/>
          <a:p>
            <a:pPr algn="l"/>
            <a:r>
              <a:rPr sz="770" b="0">
                <a:solidFill>
                  <a:srgbClr val="505F75"/>
                </a:solidFill>
                <a:latin typeface="Arial"/>
              </a:rPr>
              <a:t>Biểu đồ trái: tỷ lệ Pass/Fail tổng thể.
Biểu đồ phải: phân bổ test case theo từng thành viên.</a:t>
            </a:r>
          </a:p>
        </p:txBody>
      </p:sp>
      <p:sp>
        <p:nvSpPr>
          <p:cNvPr id="59" name="Rounded Rectangle 58"/>
          <p:cNvSpPr/>
          <p:nvPr/>
        </p:nvSpPr>
        <p:spPr>
          <a:xfrm>
            <a:off x="6492240" y="5230368"/>
            <a:ext cx="1920240" cy="566928"/>
          </a:xfrm>
          <a:prstGeom prst="roundRect">
            <a:avLst/>
          </a:prstGeom>
          <a:solidFill>
            <a:srgbClr val="FFFFFF"/>
          </a:solidFill>
          <a:ln w="10160">
            <a:solidFill>
              <a:srgbClr val="1964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6601968" y="5285232"/>
            <a:ext cx="1700784" cy="164592"/>
          </a:xfrm>
          <a:prstGeom prst="rect">
            <a:avLst/>
          </a:prstGeom>
          <a:noFill/>
        </p:spPr>
        <p:txBody>
          <a:bodyPr wrap="square" anchor="ctr">
            <a:spAutoFit/>
          </a:bodyPr>
          <a:lstStyle/>
          <a:p>
            <a:pPr algn="ctr"/>
            <a:r>
              <a:rPr sz="710" b="1">
                <a:solidFill>
                  <a:srgbClr val="082B67"/>
                </a:solidFill>
                <a:latin typeface="Arial"/>
              </a:rPr>
              <a:t>TỔNG TỶ LỆ TEST</a:t>
            </a:r>
          </a:p>
        </p:txBody>
      </p:sp>
      <p:sp>
        <p:nvSpPr>
          <p:cNvPr id="61" name="TextBox 60"/>
          <p:cNvSpPr txBox="1"/>
          <p:nvPr/>
        </p:nvSpPr>
        <p:spPr>
          <a:xfrm>
            <a:off x="6601968" y="5468112"/>
            <a:ext cx="1700784" cy="237744"/>
          </a:xfrm>
          <a:prstGeom prst="rect">
            <a:avLst/>
          </a:prstGeom>
          <a:noFill/>
        </p:spPr>
        <p:txBody>
          <a:bodyPr wrap="square" anchor="ctr">
            <a:spAutoFit/>
          </a:bodyPr>
          <a:lstStyle/>
          <a:p>
            <a:pPr algn="ctr"/>
            <a:r>
              <a:rPr sz="1700" b="1">
                <a:solidFill>
                  <a:srgbClr val="1964E1"/>
                </a:solidFill>
                <a:latin typeface="Arial"/>
              </a:rPr>
              <a:t>100%</a:t>
            </a:r>
          </a:p>
        </p:txBody>
      </p:sp>
      <p:sp>
        <p:nvSpPr>
          <p:cNvPr id="62" name="Rounded Rectangle 61"/>
          <p:cNvSpPr/>
          <p:nvPr/>
        </p:nvSpPr>
        <p:spPr>
          <a:xfrm>
            <a:off x="8613648" y="5230368"/>
            <a:ext cx="2267712" cy="566928"/>
          </a:xfrm>
          <a:prstGeom prst="roundRect">
            <a:avLst/>
          </a:prstGeom>
          <a:solidFill>
            <a:srgbClr val="FFFFFF"/>
          </a:solidFill>
          <a:ln w="10160">
            <a:solidFill>
              <a:srgbClr val="845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8723376" y="5285232"/>
            <a:ext cx="2048256" cy="164592"/>
          </a:xfrm>
          <a:prstGeom prst="rect">
            <a:avLst/>
          </a:prstGeom>
          <a:noFill/>
        </p:spPr>
        <p:txBody>
          <a:bodyPr wrap="square" anchor="ctr">
            <a:spAutoFit/>
          </a:bodyPr>
          <a:lstStyle/>
          <a:p>
            <a:pPr algn="ctr"/>
            <a:r>
              <a:rPr sz="710" b="1">
                <a:solidFill>
                  <a:srgbClr val="8453E6"/>
                </a:solidFill>
                <a:latin typeface="Arial"/>
              </a:rPr>
              <a:t>NGÀY THỐNG KÊ</a:t>
            </a:r>
          </a:p>
        </p:txBody>
      </p:sp>
      <p:sp>
        <p:nvSpPr>
          <p:cNvPr id="64" name="TextBox 63"/>
          <p:cNvSpPr txBox="1"/>
          <p:nvPr/>
        </p:nvSpPr>
        <p:spPr>
          <a:xfrm>
            <a:off x="8723376" y="5468112"/>
            <a:ext cx="2048256" cy="237744"/>
          </a:xfrm>
          <a:prstGeom prst="rect">
            <a:avLst/>
          </a:prstGeom>
          <a:noFill/>
        </p:spPr>
        <p:txBody>
          <a:bodyPr wrap="square" anchor="ctr">
            <a:spAutoFit/>
          </a:bodyPr>
          <a:lstStyle/>
          <a:p>
            <a:pPr algn="ctr"/>
            <a:r>
              <a:rPr sz="1250" b="1">
                <a:solidFill>
                  <a:srgbClr val="8453E6"/>
                </a:solidFill>
                <a:latin typeface="Arial"/>
              </a:rPr>
              <a:t>11 / 08 / 2026</a:t>
            </a:r>
          </a:p>
        </p:txBody>
      </p:sp>
      <p:sp>
        <p:nvSpPr>
          <p:cNvPr id="65" name="TextBox 64"/>
          <p:cNvSpPr txBox="1"/>
          <p:nvPr/>
        </p:nvSpPr>
        <p:spPr>
          <a:xfrm>
            <a:off x="777240" y="6245352"/>
            <a:ext cx="2926080" cy="137160"/>
          </a:xfrm>
          <a:prstGeom prst="rect">
            <a:avLst/>
          </a:prstGeom>
          <a:noFill/>
        </p:spPr>
        <p:txBody>
          <a:bodyPr wrap="square" anchor="ctr">
            <a:spAutoFit/>
          </a:bodyPr>
          <a:lstStyle/>
          <a:p>
            <a:pPr algn="l"/>
            <a:r>
              <a:rPr sz="620" b="0">
                <a:solidFill>
                  <a:srgbClr val="505F75"/>
                </a:solidFill>
                <a:latin typeface="Arial"/>
              </a:rPr>
              <a:t>WEBSITE LAPTOP &amp; ACCESSORIES</a:t>
            </a:r>
          </a:p>
        </p:txBody>
      </p:sp>
      <p:pic>
        <p:nvPicPr>
          <p:cNvPr id="66" name="Picture 65" descr="A black background with orange and blue text&#10;&#10;Description automatically generated">
            <a:extLst>
              <a:ext uri="{FF2B5EF4-FFF2-40B4-BE49-F238E27FC236}">
                <a16:creationId xmlns:a16="http://schemas.microsoft.com/office/drawing/2014/main" id="{937C432A-02E2-97F3-3F0C-104A9B6D61E4}"/>
              </a:ext>
            </a:extLst>
          </p:cNvPr>
          <p:cNvPicPr>
            <a:picLocks noChangeAspect="1"/>
          </p:cNvPicPr>
          <p:nvPr/>
        </p:nvPicPr>
        <p:blipFill>
          <a:blip r:embed="rId4"/>
          <a:stretch>
            <a:fillRect/>
          </a:stretch>
        </p:blipFill>
        <p:spPr>
          <a:xfrm>
            <a:off x="10777306" y="-88712"/>
            <a:ext cx="1164758" cy="1164758"/>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Connector 1"/>
          <p:cNvCxnSpPr/>
          <p:nvPr/>
        </p:nvCxnSpPr>
        <p:spPr>
          <a:xfrm>
            <a:off x="0" y="109728"/>
            <a:ext cx="685800" cy="1216152"/>
          </a:xfrm>
          <a:prstGeom prst="line">
            <a:avLst/>
          </a:prstGeom>
          <a:ln w="10160">
            <a:solidFill>
              <a:srgbClr val="5582B9"/>
            </a:solidFill>
          </a:ln>
        </p:spPr>
        <p:style>
          <a:lnRef idx="2">
            <a:schemeClr val="accent1"/>
          </a:lnRef>
          <a:fillRef idx="0">
            <a:schemeClr val="accent1"/>
          </a:fillRef>
          <a:effectRef idx="1">
            <a:schemeClr val="accent1"/>
          </a:effectRef>
          <a:fontRef idx="minor">
            <a:schemeClr val="tx1"/>
          </a:fontRef>
        </p:style>
      </p:cxnSp>
      <p:sp>
        <p:nvSpPr>
          <p:cNvPr id="3" name="Oval 2"/>
          <p:cNvSpPr/>
          <p:nvPr/>
        </p:nvSpPr>
        <p:spPr>
          <a:xfrm>
            <a:off x="411480" y="1051560"/>
            <a:ext cx="548640" cy="548640"/>
          </a:xfrm>
          <a:prstGeom prst="ellipse">
            <a:avLst/>
          </a:prstGeom>
          <a:solidFill>
            <a:srgbClr val="E8F5FF"/>
          </a:solidFill>
          <a:ln w="12700">
            <a:solidFill>
              <a:srgbClr val="1D69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548640" y="1188720"/>
            <a:ext cx="274320" cy="274320"/>
          </a:xfrm>
          <a:prstGeom prst="ellipse">
            <a:avLst/>
          </a:prstGeom>
          <a:solidFill>
            <a:srgbClr val="FFFFFF"/>
          </a:solidFill>
          <a:ln w="10160">
            <a:solidFill>
              <a:srgbClr val="1D69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 name="Connector 4"/>
          <p:cNvCxnSpPr/>
          <p:nvPr/>
        </p:nvCxnSpPr>
        <p:spPr>
          <a:xfrm flipV="1">
            <a:off x="685800" y="502920"/>
            <a:ext cx="914400" cy="822960"/>
          </a:xfrm>
          <a:prstGeom prst="line">
            <a:avLst/>
          </a:prstGeom>
          <a:ln w="10160">
            <a:solidFill>
              <a:srgbClr val="5582B9"/>
            </a:solidFill>
          </a:ln>
        </p:spPr>
        <p:style>
          <a:lnRef idx="2">
            <a:schemeClr val="accent1"/>
          </a:lnRef>
          <a:fillRef idx="0">
            <a:schemeClr val="accent1"/>
          </a:fillRef>
          <a:effectRef idx="1">
            <a:schemeClr val="accent1"/>
          </a:effectRef>
          <a:fontRef idx="minor">
            <a:schemeClr val="tx1"/>
          </a:fontRef>
        </p:style>
      </p:cxnSp>
      <p:sp>
        <p:nvSpPr>
          <p:cNvPr id="6" name="Oval 5"/>
          <p:cNvSpPr/>
          <p:nvPr/>
        </p:nvSpPr>
        <p:spPr>
          <a:xfrm>
            <a:off x="1490472" y="393192"/>
            <a:ext cx="219456" cy="219456"/>
          </a:xfrm>
          <a:prstGeom prst="ellipse">
            <a:avLst/>
          </a:prstGeom>
          <a:solidFill>
            <a:srgbClr val="E8F5FF"/>
          </a:solidFill>
          <a:ln w="10160">
            <a:solidFill>
              <a:srgbClr val="1D69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 name="Connector 6"/>
          <p:cNvCxnSpPr/>
          <p:nvPr/>
        </p:nvCxnSpPr>
        <p:spPr>
          <a:xfrm>
            <a:off x="1600200" y="502920"/>
            <a:ext cx="1371600" cy="365760"/>
          </a:xfrm>
          <a:prstGeom prst="line">
            <a:avLst/>
          </a:prstGeom>
          <a:ln w="10160">
            <a:solidFill>
              <a:srgbClr val="5582B9"/>
            </a:solidFill>
          </a:ln>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2852928" y="749808"/>
            <a:ext cx="237744" cy="237744"/>
          </a:xfrm>
          <a:prstGeom prst="ellipse">
            <a:avLst/>
          </a:prstGeom>
          <a:solidFill>
            <a:srgbClr val="E8F5FF"/>
          </a:solidFill>
          <a:ln w="10160">
            <a:solidFill>
              <a:srgbClr val="1D69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9" name="Connector 8"/>
          <p:cNvCxnSpPr/>
          <p:nvPr/>
        </p:nvCxnSpPr>
        <p:spPr>
          <a:xfrm>
            <a:off x="10332720" y="5897880"/>
            <a:ext cx="868680" cy="731520"/>
          </a:xfrm>
          <a:prstGeom prst="line">
            <a:avLst/>
          </a:prstGeom>
          <a:ln w="10160">
            <a:solidFill>
              <a:srgbClr val="5582B9"/>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0085832" y="5650992"/>
            <a:ext cx="493776" cy="493776"/>
          </a:xfrm>
          <a:prstGeom prst="ellipse">
            <a:avLst/>
          </a:prstGeom>
          <a:solidFill>
            <a:srgbClr val="E8F5FF"/>
          </a:solidFill>
          <a:ln w="12700">
            <a:solidFill>
              <a:srgbClr val="1D69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840480" y="320040"/>
            <a:ext cx="4572000" cy="502920"/>
          </a:xfrm>
          <a:prstGeom prst="rect">
            <a:avLst/>
          </a:prstGeom>
          <a:noFill/>
        </p:spPr>
        <p:txBody>
          <a:bodyPr wrap="square" anchor="ctr">
            <a:spAutoFit/>
          </a:bodyPr>
          <a:lstStyle/>
          <a:p>
            <a:pPr algn="ctr"/>
            <a:r>
              <a:rPr sz="2700" b="1">
                <a:solidFill>
                  <a:srgbClr val="08285E"/>
                </a:solidFill>
                <a:latin typeface="Arial"/>
              </a:rPr>
              <a:t>ĐÁNH GIÁ THÀNH VIÊN</a:t>
            </a:r>
          </a:p>
        </p:txBody>
      </p:sp>
      <p:sp>
        <p:nvSpPr>
          <p:cNvPr id="12" name="TextBox 11"/>
          <p:cNvSpPr txBox="1"/>
          <p:nvPr/>
        </p:nvSpPr>
        <p:spPr>
          <a:xfrm>
            <a:off x="3840480" y="804672"/>
            <a:ext cx="4572000" cy="219456"/>
          </a:xfrm>
          <a:prstGeom prst="rect">
            <a:avLst/>
          </a:prstGeom>
          <a:noFill/>
        </p:spPr>
        <p:txBody>
          <a:bodyPr wrap="square" anchor="ctr">
            <a:spAutoFit/>
          </a:bodyPr>
          <a:lstStyle/>
          <a:p>
            <a:pPr algn="ctr"/>
            <a:r>
              <a:rPr sz="1000" b="0">
                <a:solidFill>
                  <a:srgbClr val="526074"/>
                </a:solidFill>
                <a:latin typeface="Arial"/>
              </a:rPr>
              <a:t>Tổng hợp mức độ đóng góp theo từng hạng mục</a:t>
            </a:r>
          </a:p>
        </p:txBody>
      </p:sp>
      <p:cxnSp>
        <p:nvCxnSpPr>
          <p:cNvPr id="13" name="Connector 12"/>
          <p:cNvCxnSpPr/>
          <p:nvPr/>
        </p:nvCxnSpPr>
        <p:spPr>
          <a:xfrm>
            <a:off x="5577840" y="1097280"/>
            <a:ext cx="566928" cy="0"/>
          </a:xfrm>
          <a:prstGeom prst="line">
            <a:avLst/>
          </a:prstGeom>
          <a:ln w="26670">
            <a:solidFill>
              <a:srgbClr val="1D69DC"/>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1097280" y="1481328"/>
            <a:ext cx="10012680" cy="4407408"/>
          </a:xfrm>
          <a:prstGeom prst="roundRect">
            <a:avLst/>
          </a:prstGeom>
          <a:solidFill>
            <a:srgbClr val="FFFFFF"/>
          </a:solidFill>
          <a:ln w="12700">
            <a:solidFill>
              <a:srgbClr val="BED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15" name="Table 14"/>
          <p:cNvGraphicFramePr>
            <a:graphicFrameLocks noGrp="1"/>
          </p:cNvGraphicFramePr>
          <p:nvPr>
            <p:extLst>
              <p:ext uri="{D42A27DB-BD31-4B8C-83A1-F6EECF244321}">
                <p14:modId xmlns:p14="http://schemas.microsoft.com/office/powerpoint/2010/main" val="4284648471"/>
              </p:ext>
            </p:extLst>
          </p:nvPr>
        </p:nvGraphicFramePr>
        <p:xfrm>
          <a:off x="1417320" y="1847088"/>
          <a:ext cx="8092440" cy="3429000"/>
        </p:xfrm>
        <a:graphic>
          <a:graphicData uri="http://schemas.openxmlformats.org/drawingml/2006/table">
            <a:tbl>
              <a:tblPr firstRow="1" bandRow="1">
                <a:tableStyleId>{5C22544A-7EE6-4342-B048-85BDC9FD1C3A}</a:tableStyleId>
              </a:tblPr>
              <a:tblGrid>
                <a:gridCol w="502920">
                  <a:extLst>
                    <a:ext uri="{9D8B030D-6E8A-4147-A177-3AD203B41FA5}">
                      <a16:colId xmlns:a16="http://schemas.microsoft.com/office/drawing/2014/main" val="20000"/>
                    </a:ext>
                  </a:extLst>
                </a:gridCol>
                <a:gridCol w="242316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gridCol w="914400">
                  <a:extLst>
                    <a:ext uri="{9D8B030D-6E8A-4147-A177-3AD203B41FA5}">
                      <a16:colId xmlns:a16="http://schemas.microsoft.com/office/drawing/2014/main" val="20005"/>
                    </a:ext>
                  </a:extLst>
                </a:gridCol>
                <a:gridCol w="1280160">
                  <a:extLst>
                    <a:ext uri="{9D8B030D-6E8A-4147-A177-3AD203B41FA5}">
                      <a16:colId xmlns:a16="http://schemas.microsoft.com/office/drawing/2014/main" val="20006"/>
                    </a:ext>
                  </a:extLst>
                </a:gridCol>
              </a:tblGrid>
              <a:tr h="429768">
                <a:tc>
                  <a:txBody>
                    <a:bodyPr/>
                    <a:lstStyle/>
                    <a:p>
                      <a:pPr algn="ctr"/>
                      <a:r>
                        <a:rPr sz="819" b="1">
                          <a:solidFill>
                            <a:srgbClr val="08285E"/>
                          </a:solidFill>
                          <a:latin typeface="Arial"/>
                        </a:rPr>
                        <a:t>STT</a:t>
                      </a:r>
                    </a:p>
                  </a:txBody>
                  <a:tcPr marL="45720" marR="45720" marT="18288" marB="18288" anchor="ctr">
                    <a:solidFill>
                      <a:srgbClr val="D4EAFB"/>
                    </a:solidFill>
                  </a:tcPr>
                </a:tc>
                <a:tc>
                  <a:txBody>
                    <a:bodyPr/>
                    <a:lstStyle/>
                    <a:p>
                      <a:pPr algn="l"/>
                      <a:r>
                        <a:rPr sz="819" b="1">
                          <a:solidFill>
                            <a:srgbClr val="08285E"/>
                          </a:solidFill>
                          <a:latin typeface="Arial"/>
                        </a:rPr>
                        <a:t>Tên thành viên</a:t>
                      </a:r>
                    </a:p>
                  </a:txBody>
                  <a:tcPr marL="45720" marR="45720" marT="18288" marB="18288" anchor="ctr">
                    <a:solidFill>
                      <a:srgbClr val="D4EAFB"/>
                    </a:solidFill>
                  </a:tcPr>
                </a:tc>
                <a:tc>
                  <a:txBody>
                    <a:bodyPr/>
                    <a:lstStyle/>
                    <a:p>
                      <a:pPr algn="ctr"/>
                      <a:r>
                        <a:rPr sz="819" b="1">
                          <a:solidFill>
                            <a:srgbClr val="08285E"/>
                          </a:solidFill>
                          <a:latin typeface="Arial"/>
                        </a:rPr>
                        <a:t>Mã SV</a:t>
                      </a:r>
                    </a:p>
                  </a:txBody>
                  <a:tcPr marL="45720" marR="45720" marT="18288" marB="18288" anchor="ctr">
                    <a:solidFill>
                      <a:srgbClr val="D4EAFB"/>
                    </a:solidFill>
                  </a:tcPr>
                </a:tc>
                <a:tc>
                  <a:txBody>
                    <a:bodyPr/>
                    <a:lstStyle/>
                    <a:p>
                      <a:pPr algn="ctr"/>
                      <a:r>
                        <a:rPr sz="819" b="1">
                          <a:solidFill>
                            <a:srgbClr val="08285E"/>
                          </a:solidFill>
                          <a:latin typeface="Arial"/>
                        </a:rPr>
                        <a:t>Code</a:t>
                      </a:r>
                    </a:p>
                    <a:p>
                      <a:pPr algn="ctr"/>
                      <a:r>
                        <a:rPr sz="819" b="1">
                          <a:solidFill>
                            <a:srgbClr val="08285E"/>
                          </a:solidFill>
                          <a:latin typeface="Arial"/>
                        </a:rPr>
                        <a:t>(%)</a:t>
                      </a:r>
                    </a:p>
                  </a:txBody>
                  <a:tcPr marL="45720" marR="45720" marT="18288" marB="18288" anchor="ctr">
                    <a:solidFill>
                      <a:srgbClr val="D4EAFB"/>
                    </a:solidFill>
                  </a:tcPr>
                </a:tc>
                <a:tc>
                  <a:txBody>
                    <a:bodyPr/>
                    <a:lstStyle/>
                    <a:p>
                      <a:pPr algn="ctr"/>
                      <a:r>
                        <a:rPr sz="819" b="1">
                          <a:solidFill>
                            <a:srgbClr val="08285E"/>
                          </a:solidFill>
                          <a:latin typeface="Arial"/>
                        </a:rPr>
                        <a:t>Docs</a:t>
                      </a:r>
                    </a:p>
                    <a:p>
                      <a:pPr algn="ctr"/>
                      <a:r>
                        <a:rPr sz="819" b="1">
                          <a:solidFill>
                            <a:srgbClr val="08285E"/>
                          </a:solidFill>
                          <a:latin typeface="Arial"/>
                        </a:rPr>
                        <a:t>(%)</a:t>
                      </a:r>
                    </a:p>
                  </a:txBody>
                  <a:tcPr marL="45720" marR="45720" marT="18288" marB="18288" anchor="ctr">
                    <a:solidFill>
                      <a:srgbClr val="D4EAFB"/>
                    </a:solidFill>
                  </a:tcPr>
                </a:tc>
                <a:tc>
                  <a:txBody>
                    <a:bodyPr/>
                    <a:lstStyle/>
                    <a:p>
                      <a:pPr algn="ctr"/>
                      <a:r>
                        <a:rPr sz="819" b="1">
                          <a:solidFill>
                            <a:srgbClr val="08285E"/>
                          </a:solidFill>
                          <a:latin typeface="Arial"/>
                        </a:rPr>
                        <a:t>UI</a:t>
                      </a:r>
                    </a:p>
                    <a:p>
                      <a:pPr algn="ctr"/>
                      <a:r>
                        <a:rPr sz="819" b="1">
                          <a:solidFill>
                            <a:srgbClr val="08285E"/>
                          </a:solidFill>
                          <a:latin typeface="Arial"/>
                        </a:rPr>
                        <a:t>(%)</a:t>
                      </a:r>
                    </a:p>
                  </a:txBody>
                  <a:tcPr marL="45720" marR="45720" marT="18288" marB="18288" anchor="ctr">
                    <a:solidFill>
                      <a:srgbClr val="D4EAFB"/>
                    </a:solidFill>
                  </a:tcPr>
                </a:tc>
                <a:tc>
                  <a:txBody>
                    <a:bodyPr/>
                    <a:lstStyle/>
                    <a:p>
                      <a:pPr algn="ctr"/>
                      <a:r>
                        <a:rPr sz="819" b="1">
                          <a:solidFill>
                            <a:srgbClr val="08285E"/>
                          </a:solidFill>
                          <a:latin typeface="Arial"/>
                        </a:rPr>
                        <a:t>Kết quả - KQ</a:t>
                      </a:r>
                    </a:p>
                    <a:p>
                      <a:pPr algn="ctr"/>
                      <a:r>
                        <a:rPr sz="819" b="1">
                          <a:solidFill>
                            <a:srgbClr val="08285E"/>
                          </a:solidFill>
                          <a:latin typeface="Arial"/>
                        </a:rPr>
                        <a:t>(%)</a:t>
                      </a:r>
                    </a:p>
                  </a:txBody>
                  <a:tcPr marL="45720" marR="45720" marT="18288" marB="18288" anchor="ctr">
                    <a:solidFill>
                      <a:srgbClr val="D4EAFB"/>
                    </a:solidFill>
                  </a:tcPr>
                </a:tc>
                <a:extLst>
                  <a:ext uri="{0D108BD9-81ED-4DB2-BD59-A6C34878D82A}">
                    <a16:rowId xmlns:a16="http://schemas.microsoft.com/office/drawing/2014/main" val="10000"/>
                  </a:ext>
                </a:extLst>
              </a:tr>
              <a:tr h="374904">
                <a:tc>
                  <a:txBody>
                    <a:bodyPr/>
                    <a:lstStyle/>
                    <a:p>
                      <a:pPr algn="ctr"/>
                      <a:r>
                        <a:rPr sz="860" b="0">
                          <a:solidFill>
                            <a:srgbClr val="526074"/>
                          </a:solidFill>
                          <a:latin typeface="Arial"/>
                        </a:rPr>
                        <a:t>1</a:t>
                      </a:r>
                    </a:p>
                  </a:txBody>
                  <a:tcPr marL="45720" marR="45720" marT="18288" marB="18288" anchor="ctr">
                    <a:solidFill>
                      <a:srgbClr val="FFFFFF"/>
                    </a:solidFill>
                  </a:tcPr>
                </a:tc>
                <a:tc>
                  <a:txBody>
                    <a:bodyPr/>
                    <a:lstStyle/>
                    <a:p>
                      <a:pPr algn="l"/>
                      <a:r>
                        <a:rPr sz="860" b="0">
                          <a:solidFill>
                            <a:srgbClr val="526074"/>
                          </a:solidFill>
                          <a:latin typeface="Arial"/>
                        </a:rPr>
                        <a:t>Trần Quốc Phong</a:t>
                      </a:r>
                    </a:p>
                  </a:txBody>
                  <a:tcPr marL="45720" marR="45720" marT="18288" marB="18288" anchor="ctr">
                    <a:solidFill>
                      <a:srgbClr val="FFFFFF"/>
                    </a:solidFill>
                  </a:tcPr>
                </a:tc>
                <a:tc>
                  <a:txBody>
                    <a:bodyPr/>
                    <a:lstStyle/>
                    <a:p>
                      <a:pPr algn="ctr"/>
                      <a:r>
                        <a:rPr sz="860" b="0">
                          <a:solidFill>
                            <a:srgbClr val="526074"/>
                          </a:solidFill>
                          <a:latin typeface="Arial"/>
                        </a:rPr>
                        <a:t>PK04300</a:t>
                      </a:r>
                    </a:p>
                  </a:txBody>
                  <a:tcPr marL="45720" marR="45720" marT="18288" marB="18288" anchor="ctr">
                    <a:solidFill>
                      <a:srgbClr val="FFFFFF"/>
                    </a:solidFill>
                  </a:tcPr>
                </a:tc>
                <a:tc>
                  <a:txBody>
                    <a:bodyPr/>
                    <a:lstStyle/>
                    <a:p>
                      <a:pPr algn="ctr"/>
                      <a:r>
                        <a:rPr sz="860" b="0">
                          <a:solidFill>
                            <a:srgbClr val="526074"/>
                          </a:solidFill>
                          <a:latin typeface="Arial"/>
                        </a:rPr>
                        <a:t>95%</a:t>
                      </a:r>
                    </a:p>
                  </a:txBody>
                  <a:tcPr marL="45720" marR="45720" marT="18288" marB="18288" anchor="ctr">
                    <a:solidFill>
                      <a:srgbClr val="FFFFFF"/>
                    </a:solidFill>
                  </a:tcPr>
                </a:tc>
                <a:tc>
                  <a:txBody>
                    <a:bodyPr/>
                    <a:lstStyle/>
                    <a:p>
                      <a:pPr algn="ctr"/>
                      <a:r>
                        <a:rPr sz="860" b="0">
                          <a:solidFill>
                            <a:srgbClr val="526074"/>
                          </a:solidFill>
                          <a:latin typeface="Arial"/>
                        </a:rPr>
                        <a:t>55%</a:t>
                      </a:r>
                    </a:p>
                  </a:txBody>
                  <a:tcPr marL="45720" marR="45720" marT="18288" marB="18288" anchor="ctr">
                    <a:solidFill>
                      <a:srgbClr val="FFFFFF"/>
                    </a:solidFill>
                  </a:tcPr>
                </a:tc>
                <a:tc>
                  <a:txBody>
                    <a:bodyPr/>
                    <a:lstStyle/>
                    <a:p>
                      <a:pPr algn="ctr"/>
                      <a:r>
                        <a:rPr sz="860" b="0">
                          <a:solidFill>
                            <a:srgbClr val="526074"/>
                          </a:solidFill>
                          <a:latin typeface="Arial"/>
                        </a:rPr>
                        <a:t>70%</a:t>
                      </a:r>
                    </a:p>
                  </a:txBody>
                  <a:tcPr marL="45720" marR="45720" marT="18288" marB="18288" anchor="ctr">
                    <a:solidFill>
                      <a:srgbClr val="FFFFFF"/>
                    </a:solidFill>
                  </a:tcPr>
                </a:tc>
                <a:tc>
                  <a:txBody>
                    <a:bodyPr/>
                    <a:lstStyle/>
                    <a:p>
                      <a:pPr algn="ctr"/>
                      <a:r>
                        <a:rPr sz="860" b="0">
                          <a:solidFill>
                            <a:srgbClr val="526074"/>
                          </a:solidFill>
                          <a:latin typeface="Arial"/>
                        </a:rPr>
                        <a:t>16%</a:t>
                      </a:r>
                    </a:p>
                  </a:txBody>
                  <a:tcPr marL="45720" marR="45720" marT="18288" marB="18288" anchor="ctr">
                    <a:solidFill>
                      <a:srgbClr val="FFFFFF"/>
                    </a:solidFill>
                  </a:tcPr>
                </a:tc>
                <a:extLst>
                  <a:ext uri="{0D108BD9-81ED-4DB2-BD59-A6C34878D82A}">
                    <a16:rowId xmlns:a16="http://schemas.microsoft.com/office/drawing/2014/main" val="10001"/>
                  </a:ext>
                </a:extLst>
              </a:tr>
              <a:tr h="374904">
                <a:tc>
                  <a:txBody>
                    <a:bodyPr/>
                    <a:lstStyle/>
                    <a:p>
                      <a:pPr algn="ctr"/>
                      <a:r>
                        <a:rPr sz="860" b="0">
                          <a:solidFill>
                            <a:srgbClr val="526074"/>
                          </a:solidFill>
                          <a:latin typeface="Arial"/>
                        </a:rPr>
                        <a:t>2</a:t>
                      </a:r>
                    </a:p>
                  </a:txBody>
                  <a:tcPr marL="45720" marR="45720" marT="18288" marB="18288" anchor="ctr">
                    <a:solidFill>
                      <a:srgbClr val="F8FBFF"/>
                    </a:solidFill>
                  </a:tcPr>
                </a:tc>
                <a:tc>
                  <a:txBody>
                    <a:bodyPr/>
                    <a:lstStyle/>
                    <a:p>
                      <a:pPr algn="l"/>
                      <a:r>
                        <a:rPr sz="860" b="0">
                          <a:solidFill>
                            <a:srgbClr val="526074"/>
                          </a:solidFill>
                          <a:latin typeface="Arial"/>
                        </a:rPr>
                        <a:t>Y Đăng Niê</a:t>
                      </a:r>
                    </a:p>
                  </a:txBody>
                  <a:tcPr marL="45720" marR="45720" marT="18288" marB="18288" anchor="ctr">
                    <a:solidFill>
                      <a:srgbClr val="F8FBFF"/>
                    </a:solidFill>
                  </a:tcPr>
                </a:tc>
                <a:tc>
                  <a:txBody>
                    <a:bodyPr/>
                    <a:lstStyle/>
                    <a:p>
                      <a:pPr algn="ctr"/>
                      <a:r>
                        <a:rPr sz="860" b="0">
                          <a:solidFill>
                            <a:srgbClr val="526074"/>
                          </a:solidFill>
                          <a:latin typeface="Arial"/>
                        </a:rPr>
                        <a:t>PK04105</a:t>
                      </a:r>
                    </a:p>
                  </a:txBody>
                  <a:tcPr marL="45720" marR="45720" marT="18288" marB="18288" anchor="ctr">
                    <a:solidFill>
                      <a:srgbClr val="F8FBFF"/>
                    </a:solidFill>
                  </a:tcPr>
                </a:tc>
                <a:tc>
                  <a:txBody>
                    <a:bodyPr/>
                    <a:lstStyle/>
                    <a:p>
                      <a:pPr algn="ctr"/>
                      <a:r>
                        <a:rPr sz="860" b="0">
                          <a:solidFill>
                            <a:srgbClr val="526074"/>
                          </a:solidFill>
                          <a:latin typeface="Arial"/>
                        </a:rPr>
                        <a:t>85%</a:t>
                      </a:r>
                    </a:p>
                  </a:txBody>
                  <a:tcPr marL="45720" marR="45720" marT="18288" marB="18288" anchor="ctr">
                    <a:solidFill>
                      <a:srgbClr val="F8FBFF"/>
                    </a:solidFill>
                  </a:tcPr>
                </a:tc>
                <a:tc>
                  <a:txBody>
                    <a:bodyPr/>
                    <a:lstStyle/>
                    <a:p>
                      <a:pPr algn="ctr"/>
                      <a:r>
                        <a:rPr sz="860" b="0">
                          <a:solidFill>
                            <a:srgbClr val="526074"/>
                          </a:solidFill>
                          <a:latin typeface="Arial"/>
                        </a:rPr>
                        <a:t>20%</a:t>
                      </a:r>
                    </a:p>
                  </a:txBody>
                  <a:tcPr marL="45720" marR="45720" marT="18288" marB="18288" anchor="ctr">
                    <a:solidFill>
                      <a:srgbClr val="F8FBFF"/>
                    </a:solidFill>
                  </a:tcPr>
                </a:tc>
                <a:tc>
                  <a:txBody>
                    <a:bodyPr/>
                    <a:lstStyle/>
                    <a:p>
                      <a:pPr algn="ctr"/>
                      <a:r>
                        <a:rPr sz="860" b="0">
                          <a:solidFill>
                            <a:srgbClr val="526074"/>
                          </a:solidFill>
                          <a:latin typeface="Arial"/>
                        </a:rPr>
                        <a:t>80%</a:t>
                      </a:r>
                    </a:p>
                  </a:txBody>
                  <a:tcPr marL="45720" marR="45720" marT="18288" marB="18288" anchor="ctr">
                    <a:solidFill>
                      <a:srgbClr val="F8FBFF"/>
                    </a:solidFill>
                  </a:tcPr>
                </a:tc>
                <a:tc>
                  <a:txBody>
                    <a:bodyPr/>
                    <a:lstStyle/>
                    <a:p>
                      <a:pPr algn="ctr"/>
                      <a:r>
                        <a:rPr lang="en-US" sz="850" b="0">
                          <a:solidFill>
                            <a:srgbClr val="526074"/>
                          </a:solidFill>
                          <a:latin typeface="Arial"/>
                        </a:rPr>
                        <a:t>14</a:t>
                      </a:r>
                      <a:r>
                        <a:rPr sz="850" b="0">
                          <a:solidFill>
                            <a:srgbClr val="526074"/>
                          </a:solidFill>
                          <a:latin typeface="Arial"/>
                        </a:rPr>
                        <a:t>%</a:t>
                      </a:r>
                    </a:p>
                  </a:txBody>
                  <a:tcPr marL="45720" marR="45720" marT="18288" marB="18288" anchor="ctr">
                    <a:solidFill>
                      <a:srgbClr val="F8FBFF"/>
                    </a:solidFill>
                  </a:tcPr>
                </a:tc>
                <a:extLst>
                  <a:ext uri="{0D108BD9-81ED-4DB2-BD59-A6C34878D82A}">
                    <a16:rowId xmlns:a16="http://schemas.microsoft.com/office/drawing/2014/main" val="10002"/>
                  </a:ext>
                </a:extLst>
              </a:tr>
              <a:tr h="374904">
                <a:tc>
                  <a:txBody>
                    <a:bodyPr/>
                    <a:lstStyle/>
                    <a:p>
                      <a:pPr algn="ctr"/>
                      <a:r>
                        <a:rPr sz="860" b="0">
                          <a:solidFill>
                            <a:srgbClr val="526074"/>
                          </a:solidFill>
                          <a:latin typeface="Arial"/>
                        </a:rPr>
                        <a:t>3</a:t>
                      </a:r>
                    </a:p>
                  </a:txBody>
                  <a:tcPr marL="45720" marR="45720" marT="18288" marB="18288" anchor="ctr">
                    <a:solidFill>
                      <a:srgbClr val="FFFFFF"/>
                    </a:solidFill>
                  </a:tcPr>
                </a:tc>
                <a:tc>
                  <a:txBody>
                    <a:bodyPr/>
                    <a:lstStyle/>
                    <a:p>
                      <a:pPr algn="l"/>
                      <a:r>
                        <a:rPr sz="860" b="0">
                          <a:solidFill>
                            <a:srgbClr val="526074"/>
                          </a:solidFill>
                          <a:latin typeface="Arial"/>
                        </a:rPr>
                        <a:t>Y Pak Ayŭn</a:t>
                      </a:r>
                    </a:p>
                  </a:txBody>
                  <a:tcPr marL="45720" marR="45720" marT="18288" marB="18288" anchor="ctr">
                    <a:solidFill>
                      <a:srgbClr val="FFFFFF"/>
                    </a:solidFill>
                  </a:tcPr>
                </a:tc>
                <a:tc>
                  <a:txBody>
                    <a:bodyPr/>
                    <a:lstStyle/>
                    <a:p>
                      <a:pPr algn="ctr"/>
                      <a:r>
                        <a:rPr sz="860" b="0">
                          <a:solidFill>
                            <a:srgbClr val="526074"/>
                          </a:solidFill>
                          <a:latin typeface="Arial"/>
                        </a:rPr>
                        <a:t>PK04230</a:t>
                      </a:r>
                    </a:p>
                  </a:txBody>
                  <a:tcPr marL="45720" marR="45720" marT="18288" marB="18288" anchor="ctr">
                    <a:solidFill>
                      <a:srgbClr val="FFFFFF"/>
                    </a:solidFill>
                  </a:tcPr>
                </a:tc>
                <a:tc>
                  <a:txBody>
                    <a:bodyPr/>
                    <a:lstStyle/>
                    <a:p>
                      <a:pPr algn="ctr"/>
                      <a:r>
                        <a:rPr sz="860" b="0">
                          <a:solidFill>
                            <a:srgbClr val="526074"/>
                          </a:solidFill>
                          <a:latin typeface="Arial"/>
                        </a:rPr>
                        <a:t>35%</a:t>
                      </a:r>
                    </a:p>
                  </a:txBody>
                  <a:tcPr marL="45720" marR="45720" marT="18288" marB="18288" anchor="ctr">
                    <a:solidFill>
                      <a:srgbClr val="FFFFFF"/>
                    </a:solidFill>
                  </a:tcPr>
                </a:tc>
                <a:tc>
                  <a:txBody>
                    <a:bodyPr/>
                    <a:lstStyle/>
                    <a:p>
                      <a:pPr algn="ctr"/>
                      <a:r>
                        <a:rPr sz="860" b="0">
                          <a:solidFill>
                            <a:srgbClr val="526074"/>
                          </a:solidFill>
                          <a:latin typeface="Arial"/>
                        </a:rPr>
                        <a:t>95%</a:t>
                      </a:r>
                    </a:p>
                  </a:txBody>
                  <a:tcPr marL="45720" marR="45720" marT="18288" marB="18288" anchor="ctr">
                    <a:solidFill>
                      <a:srgbClr val="FFFFFF"/>
                    </a:solidFill>
                  </a:tcPr>
                </a:tc>
                <a:tc>
                  <a:txBody>
                    <a:bodyPr/>
                    <a:lstStyle/>
                    <a:p>
                      <a:pPr algn="ctr"/>
                      <a:r>
                        <a:rPr sz="860" b="0">
                          <a:solidFill>
                            <a:srgbClr val="526074"/>
                          </a:solidFill>
                          <a:latin typeface="Arial"/>
                        </a:rPr>
                        <a:t>55%</a:t>
                      </a:r>
                    </a:p>
                  </a:txBody>
                  <a:tcPr marL="45720" marR="45720" marT="18288" marB="18288" anchor="ctr">
                    <a:solidFill>
                      <a:srgbClr val="FFFFFF"/>
                    </a:solidFill>
                  </a:tcPr>
                </a:tc>
                <a:tc>
                  <a:txBody>
                    <a:bodyPr/>
                    <a:lstStyle/>
                    <a:p>
                      <a:pPr algn="ctr"/>
                      <a:r>
                        <a:rPr sz="860" b="0">
                          <a:solidFill>
                            <a:srgbClr val="526074"/>
                          </a:solidFill>
                          <a:latin typeface="Arial"/>
                        </a:rPr>
                        <a:t>14%</a:t>
                      </a:r>
                    </a:p>
                  </a:txBody>
                  <a:tcPr marL="45720" marR="45720" marT="18288" marB="18288" anchor="ctr">
                    <a:solidFill>
                      <a:srgbClr val="FFFFFF"/>
                    </a:solidFill>
                  </a:tcPr>
                </a:tc>
                <a:extLst>
                  <a:ext uri="{0D108BD9-81ED-4DB2-BD59-A6C34878D82A}">
                    <a16:rowId xmlns:a16="http://schemas.microsoft.com/office/drawing/2014/main" val="10003"/>
                  </a:ext>
                </a:extLst>
              </a:tr>
              <a:tr h="374904">
                <a:tc>
                  <a:txBody>
                    <a:bodyPr/>
                    <a:lstStyle/>
                    <a:p>
                      <a:pPr algn="ctr"/>
                      <a:r>
                        <a:rPr sz="860" b="0">
                          <a:solidFill>
                            <a:srgbClr val="526074"/>
                          </a:solidFill>
                          <a:latin typeface="Arial"/>
                        </a:rPr>
                        <a:t>4</a:t>
                      </a:r>
                    </a:p>
                  </a:txBody>
                  <a:tcPr marL="45720" marR="45720" marT="18288" marB="18288" anchor="ctr">
                    <a:solidFill>
                      <a:srgbClr val="F8FBFF"/>
                    </a:solidFill>
                  </a:tcPr>
                </a:tc>
                <a:tc>
                  <a:txBody>
                    <a:bodyPr/>
                    <a:lstStyle/>
                    <a:p>
                      <a:pPr algn="l"/>
                      <a:r>
                        <a:rPr sz="860" b="0">
                          <a:solidFill>
                            <a:srgbClr val="526074"/>
                          </a:solidFill>
                          <a:latin typeface="Arial"/>
                        </a:rPr>
                        <a:t>Lạc Mạnh Quân Êban</a:t>
                      </a:r>
                    </a:p>
                  </a:txBody>
                  <a:tcPr marL="45720" marR="45720" marT="18288" marB="18288" anchor="ctr">
                    <a:solidFill>
                      <a:srgbClr val="F8FBFF"/>
                    </a:solidFill>
                  </a:tcPr>
                </a:tc>
                <a:tc>
                  <a:txBody>
                    <a:bodyPr/>
                    <a:lstStyle/>
                    <a:p>
                      <a:pPr algn="ctr"/>
                      <a:r>
                        <a:rPr sz="860" b="0">
                          <a:solidFill>
                            <a:srgbClr val="526074"/>
                          </a:solidFill>
                          <a:latin typeface="Arial"/>
                        </a:rPr>
                        <a:t>PK04165</a:t>
                      </a:r>
                    </a:p>
                  </a:txBody>
                  <a:tcPr marL="45720" marR="45720" marT="18288" marB="18288" anchor="ctr">
                    <a:solidFill>
                      <a:srgbClr val="F8FBFF"/>
                    </a:solidFill>
                  </a:tcPr>
                </a:tc>
                <a:tc>
                  <a:txBody>
                    <a:bodyPr/>
                    <a:lstStyle/>
                    <a:p>
                      <a:pPr algn="ctr"/>
                      <a:r>
                        <a:rPr sz="860" b="0">
                          <a:solidFill>
                            <a:srgbClr val="526074"/>
                          </a:solidFill>
                          <a:latin typeface="Arial"/>
                        </a:rPr>
                        <a:t>85%</a:t>
                      </a:r>
                    </a:p>
                  </a:txBody>
                  <a:tcPr marL="45720" marR="45720" marT="18288" marB="18288" anchor="ctr">
                    <a:solidFill>
                      <a:srgbClr val="F8FBFF"/>
                    </a:solidFill>
                  </a:tcPr>
                </a:tc>
                <a:tc>
                  <a:txBody>
                    <a:bodyPr/>
                    <a:lstStyle/>
                    <a:p>
                      <a:pPr algn="ctr"/>
                      <a:r>
                        <a:rPr sz="860" b="0">
                          <a:solidFill>
                            <a:srgbClr val="526074"/>
                          </a:solidFill>
                          <a:latin typeface="Arial"/>
                        </a:rPr>
                        <a:t>20%</a:t>
                      </a:r>
                    </a:p>
                  </a:txBody>
                  <a:tcPr marL="45720" marR="45720" marT="18288" marB="18288" anchor="ctr">
                    <a:solidFill>
                      <a:srgbClr val="F8FBFF"/>
                    </a:solidFill>
                  </a:tcPr>
                </a:tc>
                <a:tc>
                  <a:txBody>
                    <a:bodyPr/>
                    <a:lstStyle/>
                    <a:p>
                      <a:pPr algn="ctr"/>
                      <a:r>
                        <a:rPr sz="860" b="0">
                          <a:solidFill>
                            <a:srgbClr val="526074"/>
                          </a:solidFill>
                          <a:latin typeface="Arial"/>
                        </a:rPr>
                        <a:t>85%</a:t>
                      </a:r>
                    </a:p>
                  </a:txBody>
                  <a:tcPr marL="45720" marR="45720" marT="18288" marB="18288" anchor="ctr">
                    <a:solidFill>
                      <a:srgbClr val="F8FBFF"/>
                    </a:solidFill>
                  </a:tcPr>
                </a:tc>
                <a:tc>
                  <a:txBody>
                    <a:bodyPr/>
                    <a:lstStyle/>
                    <a:p>
                      <a:pPr algn="ctr"/>
                      <a:r>
                        <a:rPr sz="860" b="0">
                          <a:solidFill>
                            <a:srgbClr val="526074"/>
                          </a:solidFill>
                          <a:latin typeface="Arial"/>
                        </a:rPr>
                        <a:t>13%</a:t>
                      </a:r>
                    </a:p>
                  </a:txBody>
                  <a:tcPr marL="45720" marR="45720" marT="18288" marB="18288" anchor="ctr">
                    <a:solidFill>
                      <a:srgbClr val="F8FBFF"/>
                    </a:solidFill>
                  </a:tcPr>
                </a:tc>
                <a:extLst>
                  <a:ext uri="{0D108BD9-81ED-4DB2-BD59-A6C34878D82A}">
                    <a16:rowId xmlns:a16="http://schemas.microsoft.com/office/drawing/2014/main" val="10004"/>
                  </a:ext>
                </a:extLst>
              </a:tr>
              <a:tr h="374904">
                <a:tc>
                  <a:txBody>
                    <a:bodyPr/>
                    <a:lstStyle/>
                    <a:p>
                      <a:pPr algn="ctr"/>
                      <a:r>
                        <a:rPr sz="860" b="0">
                          <a:solidFill>
                            <a:srgbClr val="526074"/>
                          </a:solidFill>
                          <a:latin typeface="Arial"/>
                        </a:rPr>
                        <a:t>5</a:t>
                      </a:r>
                    </a:p>
                  </a:txBody>
                  <a:tcPr marL="45720" marR="45720" marT="18288" marB="18288" anchor="ctr">
                    <a:solidFill>
                      <a:srgbClr val="FFFFFF"/>
                    </a:solidFill>
                  </a:tcPr>
                </a:tc>
                <a:tc>
                  <a:txBody>
                    <a:bodyPr/>
                    <a:lstStyle/>
                    <a:p>
                      <a:pPr algn="l"/>
                      <a:r>
                        <a:rPr sz="860" b="0">
                          <a:solidFill>
                            <a:srgbClr val="526074"/>
                          </a:solidFill>
                          <a:latin typeface="Arial"/>
                        </a:rPr>
                        <a:t>Lê Ngọc Tài</a:t>
                      </a:r>
                    </a:p>
                  </a:txBody>
                  <a:tcPr marL="45720" marR="45720" marT="18288" marB="18288" anchor="ctr">
                    <a:solidFill>
                      <a:srgbClr val="FFFFFF"/>
                    </a:solidFill>
                  </a:tcPr>
                </a:tc>
                <a:tc>
                  <a:txBody>
                    <a:bodyPr/>
                    <a:lstStyle/>
                    <a:p>
                      <a:pPr algn="ctr"/>
                      <a:r>
                        <a:rPr sz="860" b="0">
                          <a:solidFill>
                            <a:srgbClr val="526074"/>
                          </a:solidFill>
                          <a:latin typeface="Arial"/>
                        </a:rPr>
                        <a:t>PK04328</a:t>
                      </a:r>
                    </a:p>
                  </a:txBody>
                  <a:tcPr marL="45720" marR="45720" marT="18288" marB="18288" anchor="ctr">
                    <a:solidFill>
                      <a:srgbClr val="FFFFFF"/>
                    </a:solidFill>
                  </a:tcPr>
                </a:tc>
                <a:tc>
                  <a:txBody>
                    <a:bodyPr/>
                    <a:lstStyle/>
                    <a:p>
                      <a:pPr algn="ctr"/>
                      <a:r>
                        <a:rPr sz="860" b="0">
                          <a:solidFill>
                            <a:srgbClr val="526074"/>
                          </a:solidFill>
                          <a:latin typeface="Arial"/>
                        </a:rPr>
                        <a:t>80%</a:t>
                      </a:r>
                    </a:p>
                  </a:txBody>
                  <a:tcPr marL="45720" marR="45720" marT="18288" marB="18288" anchor="ctr">
                    <a:solidFill>
                      <a:srgbClr val="FFFFFF"/>
                    </a:solidFill>
                  </a:tcPr>
                </a:tc>
                <a:tc>
                  <a:txBody>
                    <a:bodyPr/>
                    <a:lstStyle/>
                    <a:p>
                      <a:pPr algn="ctr"/>
                      <a:r>
                        <a:rPr sz="860" b="0">
                          <a:solidFill>
                            <a:srgbClr val="526074"/>
                          </a:solidFill>
                          <a:latin typeface="Arial"/>
                        </a:rPr>
                        <a:t>35%</a:t>
                      </a:r>
                    </a:p>
                  </a:txBody>
                  <a:tcPr marL="45720" marR="45720" marT="18288" marB="18288" anchor="ctr">
                    <a:solidFill>
                      <a:srgbClr val="FFFFFF"/>
                    </a:solidFill>
                  </a:tcPr>
                </a:tc>
                <a:tc>
                  <a:txBody>
                    <a:bodyPr/>
                    <a:lstStyle/>
                    <a:p>
                      <a:pPr algn="ctr"/>
                      <a:r>
                        <a:rPr sz="860" b="0">
                          <a:solidFill>
                            <a:srgbClr val="526074"/>
                          </a:solidFill>
                          <a:latin typeface="Arial"/>
                        </a:rPr>
                        <a:t>95%</a:t>
                      </a:r>
                    </a:p>
                  </a:txBody>
                  <a:tcPr marL="45720" marR="45720" marT="18288" marB="18288" anchor="ctr">
                    <a:solidFill>
                      <a:srgbClr val="FFFFFF"/>
                    </a:solidFill>
                  </a:tcPr>
                </a:tc>
                <a:tc>
                  <a:txBody>
                    <a:bodyPr/>
                    <a:lstStyle/>
                    <a:p>
                      <a:pPr algn="ctr"/>
                      <a:r>
                        <a:rPr sz="860" b="0">
                          <a:solidFill>
                            <a:srgbClr val="526074"/>
                          </a:solidFill>
                          <a:latin typeface="Arial"/>
                        </a:rPr>
                        <a:t>15%</a:t>
                      </a:r>
                    </a:p>
                  </a:txBody>
                  <a:tcPr marL="45720" marR="45720" marT="18288" marB="18288" anchor="ctr">
                    <a:solidFill>
                      <a:srgbClr val="FFFFFF"/>
                    </a:solidFill>
                  </a:tcPr>
                </a:tc>
                <a:extLst>
                  <a:ext uri="{0D108BD9-81ED-4DB2-BD59-A6C34878D82A}">
                    <a16:rowId xmlns:a16="http://schemas.microsoft.com/office/drawing/2014/main" val="10005"/>
                  </a:ext>
                </a:extLst>
              </a:tr>
              <a:tr h="374904">
                <a:tc>
                  <a:txBody>
                    <a:bodyPr/>
                    <a:lstStyle/>
                    <a:p>
                      <a:pPr algn="ctr"/>
                      <a:r>
                        <a:rPr sz="860" b="0">
                          <a:solidFill>
                            <a:srgbClr val="526074"/>
                          </a:solidFill>
                          <a:latin typeface="Arial"/>
                        </a:rPr>
                        <a:t>6</a:t>
                      </a:r>
                    </a:p>
                  </a:txBody>
                  <a:tcPr marL="45720" marR="45720" marT="18288" marB="18288" anchor="ctr">
                    <a:solidFill>
                      <a:srgbClr val="F8FBFF"/>
                    </a:solidFill>
                  </a:tcPr>
                </a:tc>
                <a:tc>
                  <a:txBody>
                    <a:bodyPr/>
                    <a:lstStyle/>
                    <a:p>
                      <a:pPr algn="l"/>
                      <a:r>
                        <a:rPr sz="860" b="0">
                          <a:solidFill>
                            <a:srgbClr val="526074"/>
                          </a:solidFill>
                          <a:latin typeface="Arial"/>
                        </a:rPr>
                        <a:t>Quách Đức Thành</a:t>
                      </a:r>
                    </a:p>
                  </a:txBody>
                  <a:tcPr marL="45720" marR="45720" marT="18288" marB="18288" anchor="ctr">
                    <a:solidFill>
                      <a:srgbClr val="F8FBFF"/>
                    </a:solidFill>
                  </a:tcPr>
                </a:tc>
                <a:tc>
                  <a:txBody>
                    <a:bodyPr/>
                    <a:lstStyle/>
                    <a:p>
                      <a:pPr algn="ctr"/>
                      <a:r>
                        <a:rPr sz="860" b="0">
                          <a:solidFill>
                            <a:srgbClr val="526074"/>
                          </a:solidFill>
                          <a:latin typeface="Arial"/>
                        </a:rPr>
                        <a:t>PK04326</a:t>
                      </a:r>
                    </a:p>
                  </a:txBody>
                  <a:tcPr marL="45720" marR="45720" marT="18288" marB="18288" anchor="ctr">
                    <a:solidFill>
                      <a:srgbClr val="F8FBFF"/>
                    </a:solidFill>
                  </a:tcPr>
                </a:tc>
                <a:tc>
                  <a:txBody>
                    <a:bodyPr/>
                    <a:lstStyle/>
                    <a:p>
                      <a:pPr algn="ctr"/>
                      <a:r>
                        <a:rPr sz="860" b="0">
                          <a:solidFill>
                            <a:srgbClr val="526074"/>
                          </a:solidFill>
                          <a:latin typeface="Arial"/>
                        </a:rPr>
                        <a:t>80%</a:t>
                      </a:r>
                    </a:p>
                  </a:txBody>
                  <a:tcPr marL="45720" marR="45720" marT="18288" marB="18288" anchor="ctr">
                    <a:solidFill>
                      <a:srgbClr val="F8FBFF"/>
                    </a:solidFill>
                  </a:tcPr>
                </a:tc>
                <a:tc>
                  <a:txBody>
                    <a:bodyPr/>
                    <a:lstStyle/>
                    <a:p>
                      <a:pPr algn="ctr"/>
                      <a:r>
                        <a:rPr sz="860" b="0">
                          <a:solidFill>
                            <a:srgbClr val="526074"/>
                          </a:solidFill>
                          <a:latin typeface="Arial"/>
                        </a:rPr>
                        <a:t>65%</a:t>
                      </a:r>
                    </a:p>
                  </a:txBody>
                  <a:tcPr marL="45720" marR="45720" marT="18288" marB="18288" anchor="ctr">
                    <a:solidFill>
                      <a:srgbClr val="F8FBFF"/>
                    </a:solidFill>
                  </a:tcPr>
                </a:tc>
                <a:tc>
                  <a:txBody>
                    <a:bodyPr/>
                    <a:lstStyle/>
                    <a:p>
                      <a:pPr algn="ctr"/>
                      <a:r>
                        <a:rPr sz="860" b="0">
                          <a:solidFill>
                            <a:srgbClr val="526074"/>
                          </a:solidFill>
                          <a:latin typeface="Arial"/>
                        </a:rPr>
                        <a:t>85%</a:t>
                      </a:r>
                    </a:p>
                  </a:txBody>
                  <a:tcPr marL="45720" marR="45720" marT="18288" marB="18288" anchor="ctr">
                    <a:solidFill>
                      <a:srgbClr val="F8FBFF"/>
                    </a:solidFill>
                  </a:tcPr>
                </a:tc>
                <a:tc>
                  <a:txBody>
                    <a:bodyPr/>
                    <a:lstStyle/>
                    <a:p>
                      <a:pPr algn="ctr"/>
                      <a:r>
                        <a:rPr sz="860" b="0">
                          <a:solidFill>
                            <a:srgbClr val="526074"/>
                          </a:solidFill>
                          <a:latin typeface="Arial"/>
                        </a:rPr>
                        <a:t>12%</a:t>
                      </a:r>
                    </a:p>
                  </a:txBody>
                  <a:tcPr marL="45720" marR="45720" marT="18288" marB="18288" anchor="ctr">
                    <a:solidFill>
                      <a:srgbClr val="F8FBFF"/>
                    </a:solidFill>
                  </a:tcPr>
                </a:tc>
                <a:extLst>
                  <a:ext uri="{0D108BD9-81ED-4DB2-BD59-A6C34878D82A}">
                    <a16:rowId xmlns:a16="http://schemas.microsoft.com/office/drawing/2014/main" val="10006"/>
                  </a:ext>
                </a:extLst>
              </a:tr>
              <a:tr h="374904">
                <a:tc>
                  <a:txBody>
                    <a:bodyPr/>
                    <a:lstStyle/>
                    <a:p>
                      <a:pPr algn="ctr"/>
                      <a:r>
                        <a:rPr sz="860" b="0">
                          <a:solidFill>
                            <a:srgbClr val="526074"/>
                          </a:solidFill>
                          <a:latin typeface="Arial"/>
                        </a:rPr>
                        <a:t>7</a:t>
                      </a:r>
                    </a:p>
                  </a:txBody>
                  <a:tcPr marL="45720" marR="45720" marT="18288" marB="18288" anchor="ctr">
                    <a:solidFill>
                      <a:srgbClr val="FFFFFF"/>
                    </a:solidFill>
                  </a:tcPr>
                </a:tc>
                <a:tc>
                  <a:txBody>
                    <a:bodyPr/>
                    <a:lstStyle/>
                    <a:p>
                      <a:pPr algn="l"/>
                      <a:r>
                        <a:rPr sz="860" b="0">
                          <a:solidFill>
                            <a:srgbClr val="526074"/>
                          </a:solidFill>
                          <a:latin typeface="Arial"/>
                        </a:rPr>
                        <a:t>Y Thiết Niê</a:t>
                      </a:r>
                    </a:p>
                  </a:txBody>
                  <a:tcPr marL="45720" marR="45720" marT="18288" marB="18288" anchor="ctr">
                    <a:solidFill>
                      <a:srgbClr val="FFFFFF"/>
                    </a:solidFill>
                  </a:tcPr>
                </a:tc>
                <a:tc>
                  <a:txBody>
                    <a:bodyPr/>
                    <a:lstStyle/>
                    <a:p>
                      <a:pPr algn="ctr"/>
                      <a:r>
                        <a:rPr sz="860" b="0">
                          <a:solidFill>
                            <a:srgbClr val="526074"/>
                          </a:solidFill>
                          <a:latin typeface="Arial"/>
                        </a:rPr>
                        <a:t>PK04279</a:t>
                      </a:r>
                    </a:p>
                  </a:txBody>
                  <a:tcPr marL="45720" marR="45720" marT="18288" marB="18288" anchor="ctr">
                    <a:solidFill>
                      <a:srgbClr val="FFFFFF"/>
                    </a:solidFill>
                  </a:tcPr>
                </a:tc>
                <a:tc>
                  <a:txBody>
                    <a:bodyPr/>
                    <a:lstStyle/>
                    <a:p>
                      <a:pPr algn="ctr"/>
                      <a:r>
                        <a:rPr sz="860" b="0">
                          <a:solidFill>
                            <a:srgbClr val="526074"/>
                          </a:solidFill>
                          <a:latin typeface="Arial"/>
                        </a:rPr>
                        <a:t>75%</a:t>
                      </a:r>
                    </a:p>
                  </a:txBody>
                  <a:tcPr marL="45720" marR="45720" marT="18288" marB="18288" anchor="ctr">
                    <a:solidFill>
                      <a:srgbClr val="FFFFFF"/>
                    </a:solidFill>
                  </a:tcPr>
                </a:tc>
                <a:tc>
                  <a:txBody>
                    <a:bodyPr/>
                    <a:lstStyle/>
                    <a:p>
                      <a:pPr algn="ctr"/>
                      <a:r>
                        <a:rPr sz="860" b="0">
                          <a:solidFill>
                            <a:srgbClr val="526074"/>
                          </a:solidFill>
                          <a:latin typeface="Arial"/>
                        </a:rPr>
                        <a:t>20%</a:t>
                      </a:r>
                    </a:p>
                  </a:txBody>
                  <a:tcPr marL="45720" marR="45720" marT="18288" marB="18288" anchor="ctr">
                    <a:solidFill>
                      <a:srgbClr val="FFFFFF"/>
                    </a:solidFill>
                  </a:tcPr>
                </a:tc>
                <a:tc>
                  <a:txBody>
                    <a:bodyPr/>
                    <a:lstStyle/>
                    <a:p>
                      <a:pPr algn="ctr"/>
                      <a:r>
                        <a:rPr sz="860" b="0">
                          <a:solidFill>
                            <a:srgbClr val="526074"/>
                          </a:solidFill>
                          <a:latin typeface="Arial"/>
                        </a:rPr>
                        <a:t>90%</a:t>
                      </a:r>
                    </a:p>
                  </a:txBody>
                  <a:tcPr marL="45720" marR="45720" marT="18288" marB="18288" anchor="ctr">
                    <a:solidFill>
                      <a:srgbClr val="FFFFFF"/>
                    </a:solidFill>
                  </a:tcPr>
                </a:tc>
                <a:tc>
                  <a:txBody>
                    <a:bodyPr/>
                    <a:lstStyle/>
                    <a:p>
                      <a:pPr algn="ctr"/>
                      <a:r>
                        <a:rPr sz="860" b="0">
                          <a:solidFill>
                            <a:srgbClr val="526074"/>
                          </a:solidFill>
                          <a:latin typeface="Arial"/>
                        </a:rPr>
                        <a:t>12%</a:t>
                      </a:r>
                    </a:p>
                  </a:txBody>
                  <a:tcPr marL="45720" marR="45720" marT="18288" marB="18288" anchor="ctr">
                    <a:solidFill>
                      <a:srgbClr val="FFFFFF"/>
                    </a:solidFill>
                  </a:tcPr>
                </a:tc>
                <a:extLst>
                  <a:ext uri="{0D108BD9-81ED-4DB2-BD59-A6C34878D82A}">
                    <a16:rowId xmlns:a16="http://schemas.microsoft.com/office/drawing/2014/main" val="10007"/>
                  </a:ext>
                </a:extLst>
              </a:tr>
              <a:tr h="374904">
                <a:tc>
                  <a:txBody>
                    <a:bodyPr/>
                    <a:lstStyle/>
                    <a:p>
                      <a:pPr algn="ctr"/>
                      <a:endParaRPr/>
                    </a:p>
                  </a:txBody>
                  <a:tcPr marL="45720" marR="45720" marT="18288" marB="18288" anchor="ctr">
                    <a:solidFill>
                      <a:srgbClr val="F8FBFF"/>
                    </a:solidFill>
                  </a:tcPr>
                </a:tc>
                <a:tc>
                  <a:txBody>
                    <a:bodyPr/>
                    <a:lstStyle/>
                    <a:p>
                      <a:pPr algn="l"/>
                      <a:r>
                        <a:rPr sz="860" b="1">
                          <a:solidFill>
                            <a:srgbClr val="526074"/>
                          </a:solidFill>
                          <a:latin typeface="Arial"/>
                        </a:rPr>
                        <a:t>Tổng</a:t>
                      </a:r>
                    </a:p>
                  </a:txBody>
                  <a:tcPr marL="45720" marR="45720" marT="18288" marB="18288" anchor="ctr">
                    <a:solidFill>
                      <a:srgbClr val="F8FBFF"/>
                    </a:solidFill>
                  </a:tcPr>
                </a:tc>
                <a:tc>
                  <a:txBody>
                    <a:bodyPr/>
                    <a:lstStyle/>
                    <a:p>
                      <a:pPr algn="ctr"/>
                      <a:endParaRPr/>
                    </a:p>
                  </a:txBody>
                  <a:tcPr marL="45720" marR="45720" marT="18288" marB="18288" anchor="ctr">
                    <a:solidFill>
                      <a:srgbClr val="F8FBFF"/>
                    </a:solidFill>
                  </a:tcPr>
                </a:tc>
                <a:tc>
                  <a:txBody>
                    <a:bodyPr/>
                    <a:lstStyle/>
                    <a:p>
                      <a:pPr algn="ctr"/>
                      <a:endParaRPr/>
                    </a:p>
                  </a:txBody>
                  <a:tcPr marL="45720" marR="45720" marT="18288" marB="18288" anchor="ctr">
                    <a:solidFill>
                      <a:srgbClr val="F8FBFF"/>
                    </a:solidFill>
                  </a:tcPr>
                </a:tc>
                <a:tc>
                  <a:txBody>
                    <a:bodyPr/>
                    <a:lstStyle/>
                    <a:p>
                      <a:pPr algn="ctr"/>
                      <a:endParaRPr/>
                    </a:p>
                  </a:txBody>
                  <a:tcPr marL="45720" marR="45720" marT="18288" marB="18288" anchor="ctr">
                    <a:solidFill>
                      <a:srgbClr val="F8FBFF"/>
                    </a:solidFill>
                  </a:tcPr>
                </a:tc>
                <a:tc>
                  <a:txBody>
                    <a:bodyPr/>
                    <a:lstStyle/>
                    <a:p>
                      <a:pPr algn="ctr"/>
                      <a:endParaRPr/>
                    </a:p>
                  </a:txBody>
                  <a:tcPr marL="45720" marR="45720" marT="18288" marB="18288" anchor="ctr">
                    <a:solidFill>
                      <a:srgbClr val="F8FBFF"/>
                    </a:solidFill>
                  </a:tcPr>
                </a:tc>
                <a:tc>
                  <a:txBody>
                    <a:bodyPr/>
                    <a:lstStyle/>
                    <a:p>
                      <a:pPr algn="ctr"/>
                      <a:r>
                        <a:rPr sz="860" b="1">
                          <a:solidFill>
                            <a:srgbClr val="526074"/>
                          </a:solidFill>
                          <a:latin typeface="Arial"/>
                        </a:rPr>
                        <a:t>100%</a:t>
                      </a:r>
                    </a:p>
                  </a:txBody>
                  <a:tcPr marL="45720" marR="45720" marT="18288" marB="18288" anchor="ctr">
                    <a:solidFill>
                      <a:srgbClr val="F8FBFF"/>
                    </a:solidFill>
                  </a:tcPr>
                </a:tc>
                <a:extLst>
                  <a:ext uri="{0D108BD9-81ED-4DB2-BD59-A6C34878D82A}">
                    <a16:rowId xmlns:a16="http://schemas.microsoft.com/office/drawing/2014/main" val="10008"/>
                  </a:ext>
                </a:extLst>
              </a:tr>
            </a:tbl>
          </a:graphicData>
        </a:graphic>
      </p:graphicFrame>
      <p:sp>
        <p:nvSpPr>
          <p:cNvPr id="16" name="Rounded Rectangle 15"/>
          <p:cNvSpPr/>
          <p:nvPr/>
        </p:nvSpPr>
        <p:spPr>
          <a:xfrm>
            <a:off x="9710928" y="1847088"/>
            <a:ext cx="1097280" cy="1078992"/>
          </a:xfrm>
          <a:prstGeom prst="roundRect">
            <a:avLst/>
          </a:prstGeom>
          <a:solidFill>
            <a:srgbClr val="E8F5FF"/>
          </a:solidFill>
          <a:ln w="10160">
            <a:solidFill>
              <a:srgbClr val="1D69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802368" y="1965960"/>
            <a:ext cx="914400" cy="182880"/>
          </a:xfrm>
          <a:prstGeom prst="rect">
            <a:avLst/>
          </a:prstGeom>
          <a:noFill/>
        </p:spPr>
        <p:txBody>
          <a:bodyPr wrap="square" anchor="ctr">
            <a:spAutoFit/>
          </a:bodyPr>
          <a:lstStyle/>
          <a:p>
            <a:pPr algn="ctr"/>
            <a:r>
              <a:rPr sz="750" b="1">
                <a:solidFill>
                  <a:srgbClr val="1D69DC"/>
                </a:solidFill>
                <a:latin typeface="Arial"/>
              </a:rPr>
              <a:t>THÀNH VIÊN</a:t>
            </a:r>
          </a:p>
        </p:txBody>
      </p:sp>
      <p:sp>
        <p:nvSpPr>
          <p:cNvPr id="18" name="TextBox 17"/>
          <p:cNvSpPr txBox="1"/>
          <p:nvPr/>
        </p:nvSpPr>
        <p:spPr>
          <a:xfrm>
            <a:off x="9802368" y="2212848"/>
            <a:ext cx="914400" cy="347472"/>
          </a:xfrm>
          <a:prstGeom prst="rect">
            <a:avLst/>
          </a:prstGeom>
          <a:noFill/>
        </p:spPr>
        <p:txBody>
          <a:bodyPr wrap="square" anchor="ctr">
            <a:spAutoFit/>
          </a:bodyPr>
          <a:lstStyle/>
          <a:p>
            <a:pPr algn="ctr"/>
            <a:r>
              <a:rPr sz="2300" b="1">
                <a:solidFill>
                  <a:srgbClr val="08285E"/>
                </a:solidFill>
                <a:latin typeface="Arial"/>
              </a:rPr>
              <a:t>07</a:t>
            </a:r>
          </a:p>
        </p:txBody>
      </p:sp>
      <p:sp>
        <p:nvSpPr>
          <p:cNvPr id="19" name="Rounded Rectangle 18"/>
          <p:cNvSpPr/>
          <p:nvPr/>
        </p:nvSpPr>
        <p:spPr>
          <a:xfrm>
            <a:off x="9710928" y="3108960"/>
            <a:ext cx="1097280" cy="1078992"/>
          </a:xfrm>
          <a:prstGeom prst="roundRect">
            <a:avLst/>
          </a:prstGeom>
          <a:solidFill>
            <a:srgbClr val="F8FBFF"/>
          </a:solidFill>
          <a:ln w="10160">
            <a:solidFill>
              <a:srgbClr val="23A06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802368" y="3227832"/>
            <a:ext cx="914400" cy="182880"/>
          </a:xfrm>
          <a:prstGeom prst="rect">
            <a:avLst/>
          </a:prstGeom>
          <a:noFill/>
        </p:spPr>
        <p:txBody>
          <a:bodyPr wrap="square" anchor="ctr">
            <a:spAutoFit/>
          </a:bodyPr>
          <a:lstStyle/>
          <a:p>
            <a:pPr algn="ctr"/>
            <a:r>
              <a:rPr sz="750" b="1">
                <a:solidFill>
                  <a:srgbClr val="23A069"/>
                </a:solidFill>
                <a:latin typeface="Arial"/>
              </a:rPr>
              <a:t>TỔNG KQ</a:t>
            </a:r>
          </a:p>
        </p:txBody>
      </p:sp>
      <p:sp>
        <p:nvSpPr>
          <p:cNvPr id="21" name="TextBox 20"/>
          <p:cNvSpPr txBox="1"/>
          <p:nvPr/>
        </p:nvSpPr>
        <p:spPr>
          <a:xfrm>
            <a:off x="9802368" y="3474720"/>
            <a:ext cx="914400" cy="347472"/>
          </a:xfrm>
          <a:prstGeom prst="rect">
            <a:avLst/>
          </a:prstGeom>
          <a:noFill/>
        </p:spPr>
        <p:txBody>
          <a:bodyPr wrap="square" anchor="ctr">
            <a:spAutoFit/>
          </a:bodyPr>
          <a:lstStyle/>
          <a:p>
            <a:pPr algn="ctr"/>
            <a:r>
              <a:rPr sz="1800" b="1">
                <a:solidFill>
                  <a:srgbClr val="23A069"/>
                </a:solidFill>
                <a:latin typeface="Arial"/>
              </a:rPr>
              <a:t>100%</a:t>
            </a:r>
          </a:p>
        </p:txBody>
      </p:sp>
      <p:sp>
        <p:nvSpPr>
          <p:cNvPr id="22" name="Rounded Rectangle 21"/>
          <p:cNvSpPr/>
          <p:nvPr/>
        </p:nvSpPr>
        <p:spPr>
          <a:xfrm>
            <a:off x="9710928" y="4370832"/>
            <a:ext cx="1097280" cy="1078992"/>
          </a:xfrm>
          <a:prstGeom prst="roundRect">
            <a:avLst/>
          </a:prstGeom>
          <a:solidFill>
            <a:srgbClr val="FFFFFF"/>
          </a:solidFill>
          <a:ln w="10160">
            <a:solidFill>
              <a:srgbClr val="BED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802368" y="4489704"/>
            <a:ext cx="914400" cy="182880"/>
          </a:xfrm>
          <a:prstGeom prst="rect">
            <a:avLst/>
          </a:prstGeom>
          <a:noFill/>
        </p:spPr>
        <p:txBody>
          <a:bodyPr wrap="square" anchor="ctr">
            <a:spAutoFit/>
          </a:bodyPr>
          <a:lstStyle/>
          <a:p>
            <a:pPr algn="ctr"/>
            <a:r>
              <a:rPr sz="750" b="1">
                <a:solidFill>
                  <a:srgbClr val="526074"/>
                </a:solidFill>
                <a:latin typeface="Arial"/>
              </a:rPr>
              <a:t>TIÊU CHÍ</a:t>
            </a:r>
          </a:p>
        </p:txBody>
      </p:sp>
      <p:sp>
        <p:nvSpPr>
          <p:cNvPr id="24" name="TextBox 23"/>
          <p:cNvSpPr txBox="1"/>
          <p:nvPr/>
        </p:nvSpPr>
        <p:spPr>
          <a:xfrm>
            <a:off x="9802368" y="4736592"/>
            <a:ext cx="914400" cy="347472"/>
          </a:xfrm>
          <a:prstGeom prst="rect">
            <a:avLst/>
          </a:prstGeom>
          <a:noFill/>
        </p:spPr>
        <p:txBody>
          <a:bodyPr wrap="square" anchor="ctr">
            <a:spAutoFit/>
          </a:bodyPr>
          <a:lstStyle/>
          <a:p>
            <a:pPr algn="ctr"/>
            <a:r>
              <a:rPr sz="900" b="1">
                <a:solidFill>
                  <a:srgbClr val="08285E"/>
                </a:solidFill>
                <a:latin typeface="Arial"/>
              </a:rPr>
              <a:t>Code
Docs • UI</a:t>
            </a:r>
          </a:p>
        </p:txBody>
      </p:sp>
      <p:sp>
        <p:nvSpPr>
          <p:cNvPr id="25" name="TextBox 24"/>
          <p:cNvSpPr txBox="1"/>
          <p:nvPr/>
        </p:nvSpPr>
        <p:spPr>
          <a:xfrm>
            <a:off x="1417320" y="5596128"/>
            <a:ext cx="7680960" cy="201168"/>
          </a:xfrm>
          <a:prstGeom prst="rect">
            <a:avLst/>
          </a:prstGeom>
          <a:noFill/>
        </p:spPr>
        <p:txBody>
          <a:bodyPr wrap="square" anchor="ctr">
            <a:spAutoFit/>
          </a:bodyPr>
          <a:lstStyle/>
          <a:p>
            <a:pPr algn="l"/>
            <a:r>
              <a:rPr sz="800" b="0">
                <a:solidFill>
                  <a:srgbClr val="526074"/>
                </a:solidFill>
                <a:latin typeface="Arial"/>
              </a:rPr>
              <a:t>Đánh giá dựa trên mức độ tham gia vào Code, tài liệu (Docs), giao diện (UI) và kết quả đóng góp chung.</a:t>
            </a:r>
          </a:p>
        </p:txBody>
      </p:sp>
      <p:sp>
        <p:nvSpPr>
          <p:cNvPr id="26" name="TextBox 25"/>
          <p:cNvSpPr txBox="1"/>
          <p:nvPr/>
        </p:nvSpPr>
        <p:spPr>
          <a:xfrm>
            <a:off x="1097280" y="6473952"/>
            <a:ext cx="2926080" cy="146304"/>
          </a:xfrm>
          <a:prstGeom prst="rect">
            <a:avLst/>
          </a:prstGeom>
          <a:noFill/>
        </p:spPr>
        <p:txBody>
          <a:bodyPr wrap="square" anchor="ctr">
            <a:spAutoFit/>
          </a:bodyPr>
          <a:lstStyle/>
          <a:p>
            <a:pPr algn="l"/>
            <a:r>
              <a:rPr sz="650" b="0">
                <a:solidFill>
                  <a:srgbClr val="526074"/>
                </a:solidFill>
                <a:latin typeface="Arial"/>
              </a:rPr>
              <a:t>WEBSITE LAPTOP &amp; ACCESSORIES</a:t>
            </a:r>
          </a:p>
        </p:txBody>
      </p:sp>
      <p:pic>
        <p:nvPicPr>
          <p:cNvPr id="28" name="Picture 27" descr="A black background with orange and blue text&#10;&#10;Description automatically generated">
            <a:extLst>
              <a:ext uri="{FF2B5EF4-FFF2-40B4-BE49-F238E27FC236}">
                <a16:creationId xmlns:a16="http://schemas.microsoft.com/office/drawing/2014/main" id="{E4B91166-081E-C73A-8311-799C8D262F12}"/>
              </a:ext>
            </a:extLst>
          </p:cNvPr>
          <p:cNvPicPr>
            <a:picLocks noChangeAspect="1"/>
          </p:cNvPicPr>
          <p:nvPr/>
        </p:nvPicPr>
        <p:blipFill>
          <a:blip r:embed="rId2"/>
          <a:stretch>
            <a:fillRect/>
          </a:stretch>
        </p:blipFill>
        <p:spPr>
          <a:xfrm>
            <a:off x="10777306" y="-88712"/>
            <a:ext cx="1164758" cy="1164758"/>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713232" y="987551"/>
            <a:ext cx="10744200" cy="4727449"/>
          </a:xfrm>
          <a:prstGeom prst="roundRect">
            <a:avLst/>
          </a:prstGeom>
          <a:solidFill>
            <a:srgbClr val="E2F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 name="Connector 2"/>
          <p:cNvCxnSpPr/>
          <p:nvPr/>
        </p:nvCxnSpPr>
        <p:spPr>
          <a:xfrm>
            <a:off x="8458200" y="457200"/>
            <a:ext cx="1325880" cy="274320"/>
          </a:xfrm>
          <a:prstGeom prst="line">
            <a:avLst/>
          </a:prstGeom>
          <a:ln w="10160">
            <a:solidFill>
              <a:srgbClr val="5A91C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9784080" y="731520"/>
            <a:ext cx="960120" cy="868680"/>
          </a:xfrm>
          <a:prstGeom prst="line">
            <a:avLst/>
          </a:prstGeom>
          <a:ln w="10160">
            <a:solidFill>
              <a:srgbClr val="5A91CD"/>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8339327" y="338328"/>
            <a:ext cx="237744" cy="237744"/>
          </a:xfrm>
          <a:prstGeom prst="ellipse">
            <a:avLst/>
          </a:prstGeom>
          <a:solidFill>
            <a:srgbClr val="FFFFFF"/>
          </a:solidFill>
          <a:ln w="10160">
            <a:solidFill>
              <a:srgbClr val="1969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9674352" y="621792"/>
            <a:ext cx="219456" cy="219456"/>
          </a:xfrm>
          <a:prstGeom prst="ellipse">
            <a:avLst/>
          </a:prstGeom>
          <a:solidFill>
            <a:srgbClr val="FFFFFF"/>
          </a:solidFill>
          <a:ln w="10160">
            <a:solidFill>
              <a:srgbClr val="1969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488168" y="1344168"/>
            <a:ext cx="512064" cy="512064"/>
          </a:xfrm>
          <a:prstGeom prst="ellipse">
            <a:avLst/>
          </a:prstGeom>
          <a:solidFill>
            <a:srgbClr val="E2F3FF"/>
          </a:solidFill>
          <a:ln w="12700">
            <a:solidFill>
              <a:srgbClr val="1969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0625328" y="1481328"/>
            <a:ext cx="237744" cy="237744"/>
          </a:xfrm>
          <a:prstGeom prst="ellipse">
            <a:avLst/>
          </a:prstGeom>
          <a:solidFill>
            <a:srgbClr val="FFFFFF"/>
          </a:solidFill>
          <a:ln w="10160">
            <a:solidFill>
              <a:srgbClr val="1969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9" name="Connector 8"/>
          <p:cNvCxnSpPr/>
          <p:nvPr/>
        </p:nvCxnSpPr>
        <p:spPr>
          <a:xfrm>
            <a:off x="411480" y="5486400"/>
            <a:ext cx="960120" cy="640080"/>
          </a:xfrm>
          <a:prstGeom prst="line">
            <a:avLst/>
          </a:prstGeom>
          <a:ln w="10160">
            <a:solidFill>
              <a:srgbClr val="5A91C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1371600" y="5742432"/>
            <a:ext cx="1508760" cy="384048"/>
          </a:xfrm>
          <a:prstGeom prst="line">
            <a:avLst/>
          </a:prstGeom>
          <a:ln w="10160">
            <a:solidFill>
              <a:srgbClr val="5A91CD"/>
            </a:solidFill>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320040" y="5394960"/>
            <a:ext cx="182880" cy="182880"/>
          </a:xfrm>
          <a:prstGeom prst="ellipse">
            <a:avLst/>
          </a:prstGeom>
          <a:solidFill>
            <a:srgbClr val="FFFFFF"/>
          </a:solidFill>
          <a:ln w="10160">
            <a:solidFill>
              <a:srgbClr val="1969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1124712" y="5879592"/>
            <a:ext cx="493776" cy="493776"/>
          </a:xfrm>
          <a:prstGeom prst="ellipse">
            <a:avLst/>
          </a:prstGeom>
          <a:solidFill>
            <a:srgbClr val="E2F3FF"/>
          </a:solidFill>
          <a:ln w="12700">
            <a:solidFill>
              <a:srgbClr val="1969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2770632" y="5632704"/>
            <a:ext cx="219456" cy="219456"/>
          </a:xfrm>
          <a:prstGeom prst="ellipse">
            <a:avLst/>
          </a:prstGeom>
          <a:solidFill>
            <a:srgbClr val="FFFFFF"/>
          </a:solidFill>
          <a:ln w="10160">
            <a:solidFill>
              <a:srgbClr val="1969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1078992" y="1572768"/>
            <a:ext cx="1417320" cy="347472"/>
          </a:xfrm>
          <a:prstGeom prst="roundRect">
            <a:avLst/>
          </a:prstGeom>
          <a:solidFill>
            <a:srgbClr val="1969E1"/>
          </a:solidFill>
          <a:ln w="2540">
            <a:solidFill>
              <a:srgbClr val="1969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078992" y="1618488"/>
            <a:ext cx="1417320" cy="237744"/>
          </a:xfrm>
          <a:prstGeom prst="rect">
            <a:avLst/>
          </a:prstGeom>
          <a:noFill/>
        </p:spPr>
        <p:txBody>
          <a:bodyPr wrap="square" anchor="ctr">
            <a:spAutoFit/>
          </a:bodyPr>
          <a:lstStyle/>
          <a:p>
            <a:pPr algn="ctr"/>
            <a:r>
              <a:rPr sz="1000" b="1">
                <a:solidFill>
                  <a:srgbClr val="FFFFFF"/>
                </a:solidFill>
                <a:latin typeface="Arial"/>
              </a:rPr>
              <a:t>DEMO WEBSITE</a:t>
            </a:r>
          </a:p>
        </p:txBody>
      </p:sp>
      <p:sp>
        <p:nvSpPr>
          <p:cNvPr id="16" name="TextBox 15"/>
          <p:cNvSpPr txBox="1"/>
          <p:nvPr/>
        </p:nvSpPr>
        <p:spPr>
          <a:xfrm>
            <a:off x="1065782" y="1983741"/>
            <a:ext cx="4553712" cy="984885"/>
          </a:xfrm>
          <a:prstGeom prst="rect">
            <a:avLst/>
          </a:prstGeom>
          <a:noFill/>
        </p:spPr>
        <p:txBody>
          <a:bodyPr wrap="square" anchor="ctr">
            <a:spAutoFit/>
          </a:bodyPr>
          <a:lstStyle/>
          <a:p>
            <a:pPr algn="l"/>
            <a:r>
              <a:rPr sz="2900" b="1">
                <a:solidFill>
                  <a:srgbClr val="07285F"/>
                </a:solidFill>
                <a:latin typeface="Arial"/>
              </a:rPr>
              <a:t>Website </a:t>
            </a:r>
            <a:r>
              <a:rPr sz="2900" b="1" err="1">
                <a:solidFill>
                  <a:srgbClr val="07285F"/>
                </a:solidFill>
                <a:latin typeface="Arial"/>
              </a:rPr>
              <a:t>bán</a:t>
            </a:r>
            <a:r>
              <a:rPr sz="2900" b="1">
                <a:solidFill>
                  <a:srgbClr val="07285F"/>
                </a:solidFill>
                <a:latin typeface="Arial"/>
              </a:rPr>
              <a:t> Laptop
&amp; </a:t>
            </a:r>
            <a:r>
              <a:rPr sz="2900" b="1" err="1">
                <a:solidFill>
                  <a:srgbClr val="07285F"/>
                </a:solidFill>
                <a:latin typeface="Arial"/>
              </a:rPr>
              <a:t>Phụ</a:t>
            </a:r>
            <a:r>
              <a:rPr sz="2900" b="1">
                <a:solidFill>
                  <a:srgbClr val="07285F"/>
                </a:solidFill>
                <a:latin typeface="Arial"/>
              </a:rPr>
              <a:t> </a:t>
            </a:r>
            <a:r>
              <a:rPr sz="2900" b="1" err="1">
                <a:solidFill>
                  <a:srgbClr val="07285F"/>
                </a:solidFill>
                <a:latin typeface="Arial"/>
              </a:rPr>
              <a:t>kiện</a:t>
            </a:r>
            <a:endParaRPr sz="2900" b="1">
              <a:solidFill>
                <a:srgbClr val="07285F"/>
              </a:solidFill>
              <a:latin typeface="Arial"/>
            </a:endParaRPr>
          </a:p>
        </p:txBody>
      </p:sp>
      <p:sp>
        <p:nvSpPr>
          <p:cNvPr id="17" name="TextBox 16"/>
          <p:cNvSpPr txBox="1"/>
          <p:nvPr/>
        </p:nvSpPr>
        <p:spPr>
          <a:xfrm>
            <a:off x="1078992" y="3182112"/>
            <a:ext cx="6035040" cy="502920"/>
          </a:xfrm>
          <a:prstGeom prst="rect">
            <a:avLst/>
          </a:prstGeom>
          <a:noFill/>
        </p:spPr>
        <p:txBody>
          <a:bodyPr wrap="square" anchor="ctr">
            <a:spAutoFit/>
          </a:bodyPr>
          <a:lstStyle/>
          <a:p>
            <a:pPr algn="l"/>
            <a:r>
              <a:rPr sz="1300" b="0">
                <a:solidFill>
                  <a:srgbClr val="4F5F78"/>
                </a:solidFill>
                <a:latin typeface="Arial"/>
              </a:rPr>
              <a:t>Trình diễn các chức năng chính và luồng mua hàng thực tế của hệ thống.</a:t>
            </a:r>
          </a:p>
        </p:txBody>
      </p:sp>
      <p:sp>
        <p:nvSpPr>
          <p:cNvPr id="28" name="TextBox 27"/>
          <p:cNvSpPr txBox="1"/>
          <p:nvPr/>
        </p:nvSpPr>
        <p:spPr>
          <a:xfrm>
            <a:off x="7818120" y="3840480"/>
            <a:ext cx="2487168" cy="182880"/>
          </a:xfrm>
          <a:prstGeom prst="rect">
            <a:avLst/>
          </a:prstGeom>
          <a:noFill/>
        </p:spPr>
        <p:txBody>
          <a:bodyPr wrap="square" anchor="ctr">
            <a:spAutoFit/>
          </a:bodyPr>
          <a:lstStyle/>
          <a:p>
            <a:pPr algn="ctr"/>
            <a:r>
              <a:rPr sz="750" b="1">
                <a:solidFill>
                  <a:srgbClr val="1969E1"/>
                </a:solidFill>
                <a:latin typeface="Arial"/>
              </a:rPr>
              <a:t>GIAO DIỆN WEBSITE</a:t>
            </a:r>
          </a:p>
        </p:txBody>
      </p:sp>
      <p:sp>
        <p:nvSpPr>
          <p:cNvPr id="29" name="Rounded Rectangle 28"/>
          <p:cNvSpPr/>
          <p:nvPr/>
        </p:nvSpPr>
        <p:spPr>
          <a:xfrm>
            <a:off x="1078992" y="4096512"/>
            <a:ext cx="1572768" cy="384048"/>
          </a:xfrm>
          <a:prstGeom prst="roundRect">
            <a:avLst/>
          </a:prstGeom>
          <a:solidFill>
            <a:srgbClr val="FFFFFF"/>
          </a:solidFill>
          <a:ln w="8890">
            <a:solidFill>
              <a:srgbClr val="C8E0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1188719" y="4197096"/>
            <a:ext cx="182880" cy="182880"/>
          </a:xfrm>
          <a:prstGeom prst="ellipse">
            <a:avLst/>
          </a:prstGeom>
          <a:solidFill>
            <a:srgbClr val="1969E1"/>
          </a:solidFill>
          <a:ln w="2540">
            <a:solidFill>
              <a:srgbClr val="1969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188719" y="4187952"/>
            <a:ext cx="182880" cy="201168"/>
          </a:xfrm>
          <a:prstGeom prst="rect">
            <a:avLst/>
          </a:prstGeom>
          <a:noFill/>
        </p:spPr>
        <p:txBody>
          <a:bodyPr wrap="square" anchor="ctr">
            <a:spAutoFit/>
          </a:bodyPr>
          <a:lstStyle/>
          <a:p>
            <a:pPr algn="ctr"/>
            <a:r>
              <a:rPr sz="700" b="1">
                <a:solidFill>
                  <a:srgbClr val="FFFFFF"/>
                </a:solidFill>
                <a:latin typeface="Arial"/>
              </a:rPr>
              <a:t>1</a:t>
            </a:r>
          </a:p>
        </p:txBody>
      </p:sp>
      <p:sp>
        <p:nvSpPr>
          <p:cNvPr id="32" name="TextBox 31"/>
          <p:cNvSpPr txBox="1"/>
          <p:nvPr/>
        </p:nvSpPr>
        <p:spPr>
          <a:xfrm>
            <a:off x="1444752" y="4169664"/>
            <a:ext cx="1115568" cy="237744"/>
          </a:xfrm>
          <a:prstGeom prst="rect">
            <a:avLst/>
          </a:prstGeom>
          <a:noFill/>
        </p:spPr>
        <p:txBody>
          <a:bodyPr wrap="square" anchor="ctr">
            <a:spAutoFit/>
          </a:bodyPr>
          <a:lstStyle/>
          <a:p>
            <a:pPr algn="l"/>
            <a:r>
              <a:rPr sz="850" b="1">
                <a:solidFill>
                  <a:srgbClr val="07285F"/>
                </a:solidFill>
                <a:latin typeface="Arial"/>
              </a:rPr>
              <a:t>Trang chủ</a:t>
            </a:r>
          </a:p>
        </p:txBody>
      </p:sp>
      <p:sp>
        <p:nvSpPr>
          <p:cNvPr id="33" name="Rounded Rectangle 32"/>
          <p:cNvSpPr/>
          <p:nvPr/>
        </p:nvSpPr>
        <p:spPr>
          <a:xfrm>
            <a:off x="2907792" y="4096512"/>
            <a:ext cx="1920240" cy="384048"/>
          </a:xfrm>
          <a:prstGeom prst="roundRect">
            <a:avLst/>
          </a:prstGeom>
          <a:solidFill>
            <a:srgbClr val="FFFFFF"/>
          </a:solidFill>
          <a:ln w="8890">
            <a:solidFill>
              <a:srgbClr val="C8E0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3017520" y="4197096"/>
            <a:ext cx="182880" cy="182880"/>
          </a:xfrm>
          <a:prstGeom prst="ellipse">
            <a:avLst/>
          </a:prstGeom>
          <a:solidFill>
            <a:srgbClr val="1969E1"/>
          </a:solidFill>
          <a:ln w="2540">
            <a:solidFill>
              <a:srgbClr val="1969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017520" y="4187952"/>
            <a:ext cx="182880" cy="201168"/>
          </a:xfrm>
          <a:prstGeom prst="rect">
            <a:avLst/>
          </a:prstGeom>
          <a:noFill/>
        </p:spPr>
        <p:txBody>
          <a:bodyPr wrap="square" anchor="ctr">
            <a:spAutoFit/>
          </a:bodyPr>
          <a:lstStyle/>
          <a:p>
            <a:pPr algn="ctr"/>
            <a:r>
              <a:rPr sz="700" b="1">
                <a:solidFill>
                  <a:srgbClr val="FFFFFF"/>
                </a:solidFill>
                <a:latin typeface="Arial"/>
              </a:rPr>
              <a:t>2</a:t>
            </a:r>
          </a:p>
        </p:txBody>
      </p:sp>
      <p:sp>
        <p:nvSpPr>
          <p:cNvPr id="36" name="TextBox 35"/>
          <p:cNvSpPr txBox="1"/>
          <p:nvPr/>
        </p:nvSpPr>
        <p:spPr>
          <a:xfrm>
            <a:off x="3273552" y="4169664"/>
            <a:ext cx="1463040" cy="237744"/>
          </a:xfrm>
          <a:prstGeom prst="rect">
            <a:avLst/>
          </a:prstGeom>
          <a:noFill/>
        </p:spPr>
        <p:txBody>
          <a:bodyPr wrap="square" anchor="ctr">
            <a:spAutoFit/>
          </a:bodyPr>
          <a:lstStyle/>
          <a:p>
            <a:pPr algn="l"/>
            <a:r>
              <a:rPr sz="850" b="1">
                <a:solidFill>
                  <a:srgbClr val="07285F"/>
                </a:solidFill>
                <a:latin typeface="Arial"/>
              </a:rPr>
              <a:t>Danh mục &amp; tìm kiếm</a:t>
            </a:r>
          </a:p>
        </p:txBody>
      </p:sp>
      <p:sp>
        <p:nvSpPr>
          <p:cNvPr id="37" name="Rounded Rectangle 36"/>
          <p:cNvSpPr/>
          <p:nvPr/>
        </p:nvSpPr>
        <p:spPr>
          <a:xfrm>
            <a:off x="5029200" y="4096512"/>
            <a:ext cx="1874519" cy="384048"/>
          </a:xfrm>
          <a:prstGeom prst="roundRect">
            <a:avLst/>
          </a:prstGeom>
          <a:solidFill>
            <a:srgbClr val="FFFFFF"/>
          </a:solidFill>
          <a:ln w="8890">
            <a:solidFill>
              <a:srgbClr val="C8E0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5138928" y="4197096"/>
            <a:ext cx="182880" cy="182880"/>
          </a:xfrm>
          <a:prstGeom prst="ellipse">
            <a:avLst/>
          </a:prstGeom>
          <a:solidFill>
            <a:srgbClr val="1969E1"/>
          </a:solidFill>
          <a:ln w="2540">
            <a:solidFill>
              <a:srgbClr val="1969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5138928" y="4187952"/>
            <a:ext cx="182880" cy="201168"/>
          </a:xfrm>
          <a:prstGeom prst="rect">
            <a:avLst/>
          </a:prstGeom>
          <a:noFill/>
        </p:spPr>
        <p:txBody>
          <a:bodyPr wrap="square" anchor="ctr">
            <a:spAutoFit/>
          </a:bodyPr>
          <a:lstStyle/>
          <a:p>
            <a:pPr algn="ctr"/>
            <a:r>
              <a:rPr sz="700" b="1">
                <a:solidFill>
                  <a:srgbClr val="FFFFFF"/>
                </a:solidFill>
                <a:latin typeface="Arial"/>
              </a:rPr>
              <a:t>3</a:t>
            </a:r>
          </a:p>
        </p:txBody>
      </p:sp>
      <p:sp>
        <p:nvSpPr>
          <p:cNvPr id="40" name="TextBox 39"/>
          <p:cNvSpPr txBox="1"/>
          <p:nvPr/>
        </p:nvSpPr>
        <p:spPr>
          <a:xfrm>
            <a:off x="5394960" y="4169664"/>
            <a:ext cx="1417319" cy="237744"/>
          </a:xfrm>
          <a:prstGeom prst="rect">
            <a:avLst/>
          </a:prstGeom>
          <a:noFill/>
        </p:spPr>
        <p:txBody>
          <a:bodyPr wrap="square" anchor="ctr">
            <a:spAutoFit/>
          </a:bodyPr>
          <a:lstStyle/>
          <a:p>
            <a:pPr algn="l"/>
            <a:r>
              <a:rPr sz="850" b="1">
                <a:solidFill>
                  <a:srgbClr val="07285F"/>
                </a:solidFill>
                <a:latin typeface="Arial"/>
              </a:rPr>
              <a:t>Chi tiết sản phẩm</a:t>
            </a:r>
          </a:p>
        </p:txBody>
      </p:sp>
      <p:sp>
        <p:nvSpPr>
          <p:cNvPr id="41" name="Rounded Rectangle 40"/>
          <p:cNvSpPr/>
          <p:nvPr/>
        </p:nvSpPr>
        <p:spPr>
          <a:xfrm>
            <a:off x="1078992" y="4645152"/>
            <a:ext cx="1938528" cy="384048"/>
          </a:xfrm>
          <a:prstGeom prst="roundRect">
            <a:avLst/>
          </a:prstGeom>
          <a:solidFill>
            <a:srgbClr val="FFFFFF"/>
          </a:solidFill>
          <a:ln w="8890">
            <a:solidFill>
              <a:srgbClr val="C8E0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1188719" y="4745736"/>
            <a:ext cx="182880" cy="182880"/>
          </a:xfrm>
          <a:prstGeom prst="ellipse">
            <a:avLst/>
          </a:prstGeom>
          <a:solidFill>
            <a:srgbClr val="1969E1"/>
          </a:solidFill>
          <a:ln w="2540">
            <a:solidFill>
              <a:srgbClr val="1969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1188719" y="4736592"/>
            <a:ext cx="182880" cy="201168"/>
          </a:xfrm>
          <a:prstGeom prst="rect">
            <a:avLst/>
          </a:prstGeom>
          <a:noFill/>
        </p:spPr>
        <p:txBody>
          <a:bodyPr wrap="square" anchor="ctr">
            <a:spAutoFit/>
          </a:bodyPr>
          <a:lstStyle/>
          <a:p>
            <a:pPr algn="ctr"/>
            <a:r>
              <a:rPr sz="700" b="1">
                <a:solidFill>
                  <a:srgbClr val="FFFFFF"/>
                </a:solidFill>
                <a:latin typeface="Arial"/>
              </a:rPr>
              <a:t>4</a:t>
            </a:r>
          </a:p>
        </p:txBody>
      </p:sp>
      <p:sp>
        <p:nvSpPr>
          <p:cNvPr id="44" name="TextBox 43"/>
          <p:cNvSpPr txBox="1"/>
          <p:nvPr/>
        </p:nvSpPr>
        <p:spPr>
          <a:xfrm>
            <a:off x="1444752" y="4718304"/>
            <a:ext cx="1481328" cy="237744"/>
          </a:xfrm>
          <a:prstGeom prst="rect">
            <a:avLst/>
          </a:prstGeom>
          <a:noFill/>
        </p:spPr>
        <p:txBody>
          <a:bodyPr wrap="square" anchor="ctr">
            <a:spAutoFit/>
          </a:bodyPr>
          <a:lstStyle/>
          <a:p>
            <a:pPr algn="l"/>
            <a:r>
              <a:rPr sz="850" b="1">
                <a:solidFill>
                  <a:srgbClr val="07285F"/>
                </a:solidFill>
                <a:latin typeface="Arial"/>
              </a:rPr>
              <a:t>Giỏ hàng &amp; đặt hàng</a:t>
            </a:r>
          </a:p>
        </p:txBody>
      </p:sp>
      <p:sp>
        <p:nvSpPr>
          <p:cNvPr id="45" name="Rounded Rectangle 44"/>
          <p:cNvSpPr/>
          <p:nvPr/>
        </p:nvSpPr>
        <p:spPr>
          <a:xfrm>
            <a:off x="3246120" y="4645152"/>
            <a:ext cx="2084831" cy="384048"/>
          </a:xfrm>
          <a:prstGeom prst="roundRect">
            <a:avLst/>
          </a:prstGeom>
          <a:solidFill>
            <a:srgbClr val="FFFFFF"/>
          </a:solidFill>
          <a:ln w="8890">
            <a:solidFill>
              <a:srgbClr val="C8E0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val 45"/>
          <p:cNvSpPr/>
          <p:nvPr/>
        </p:nvSpPr>
        <p:spPr>
          <a:xfrm>
            <a:off x="3355848" y="4745736"/>
            <a:ext cx="182880" cy="182880"/>
          </a:xfrm>
          <a:prstGeom prst="ellipse">
            <a:avLst/>
          </a:prstGeom>
          <a:solidFill>
            <a:srgbClr val="1969E1"/>
          </a:solidFill>
          <a:ln w="2540">
            <a:solidFill>
              <a:srgbClr val="1969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3355848" y="4736592"/>
            <a:ext cx="182880" cy="201168"/>
          </a:xfrm>
          <a:prstGeom prst="rect">
            <a:avLst/>
          </a:prstGeom>
          <a:noFill/>
        </p:spPr>
        <p:txBody>
          <a:bodyPr wrap="square" anchor="ctr">
            <a:spAutoFit/>
          </a:bodyPr>
          <a:lstStyle/>
          <a:p>
            <a:pPr algn="ctr"/>
            <a:r>
              <a:rPr sz="700" b="1">
                <a:solidFill>
                  <a:srgbClr val="FFFFFF"/>
                </a:solidFill>
                <a:latin typeface="Arial"/>
              </a:rPr>
              <a:t>5</a:t>
            </a:r>
          </a:p>
        </p:txBody>
      </p:sp>
      <p:sp>
        <p:nvSpPr>
          <p:cNvPr id="48" name="TextBox 47"/>
          <p:cNvSpPr txBox="1"/>
          <p:nvPr/>
        </p:nvSpPr>
        <p:spPr>
          <a:xfrm>
            <a:off x="3611879" y="4718304"/>
            <a:ext cx="1627631" cy="237744"/>
          </a:xfrm>
          <a:prstGeom prst="rect">
            <a:avLst/>
          </a:prstGeom>
          <a:noFill/>
        </p:spPr>
        <p:txBody>
          <a:bodyPr wrap="square" anchor="ctr">
            <a:spAutoFit/>
          </a:bodyPr>
          <a:lstStyle/>
          <a:p>
            <a:pPr algn="l"/>
            <a:r>
              <a:rPr sz="850" b="1">
                <a:solidFill>
                  <a:srgbClr val="07285F"/>
                </a:solidFill>
                <a:latin typeface="Arial"/>
              </a:rPr>
              <a:t>Tài khoản người dùng</a:t>
            </a:r>
          </a:p>
        </p:txBody>
      </p:sp>
      <p:sp>
        <p:nvSpPr>
          <p:cNvPr id="49" name="Rounded Rectangle 48"/>
          <p:cNvSpPr/>
          <p:nvPr/>
        </p:nvSpPr>
        <p:spPr>
          <a:xfrm>
            <a:off x="5532120" y="4645152"/>
            <a:ext cx="1965960" cy="384048"/>
          </a:xfrm>
          <a:prstGeom prst="roundRect">
            <a:avLst/>
          </a:prstGeom>
          <a:solidFill>
            <a:srgbClr val="FFFFFF"/>
          </a:solidFill>
          <a:ln w="8890">
            <a:solidFill>
              <a:srgbClr val="C8E0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5641848" y="4745736"/>
            <a:ext cx="182880" cy="182880"/>
          </a:xfrm>
          <a:prstGeom prst="ellipse">
            <a:avLst/>
          </a:prstGeom>
          <a:solidFill>
            <a:srgbClr val="1969E1"/>
          </a:solidFill>
          <a:ln w="2540">
            <a:solidFill>
              <a:srgbClr val="1969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5641848" y="4736592"/>
            <a:ext cx="182880" cy="201168"/>
          </a:xfrm>
          <a:prstGeom prst="rect">
            <a:avLst/>
          </a:prstGeom>
          <a:noFill/>
        </p:spPr>
        <p:txBody>
          <a:bodyPr wrap="square" anchor="ctr">
            <a:spAutoFit/>
          </a:bodyPr>
          <a:lstStyle/>
          <a:p>
            <a:pPr algn="ctr"/>
            <a:r>
              <a:rPr sz="700" b="1">
                <a:solidFill>
                  <a:srgbClr val="FFFFFF"/>
                </a:solidFill>
                <a:latin typeface="Arial"/>
              </a:rPr>
              <a:t>6</a:t>
            </a:r>
          </a:p>
        </p:txBody>
      </p:sp>
      <p:sp>
        <p:nvSpPr>
          <p:cNvPr id="52" name="TextBox 51"/>
          <p:cNvSpPr txBox="1"/>
          <p:nvPr/>
        </p:nvSpPr>
        <p:spPr>
          <a:xfrm>
            <a:off x="5897880" y="4718304"/>
            <a:ext cx="1508760" cy="237744"/>
          </a:xfrm>
          <a:prstGeom prst="rect">
            <a:avLst/>
          </a:prstGeom>
          <a:noFill/>
        </p:spPr>
        <p:txBody>
          <a:bodyPr wrap="square" anchor="ctr">
            <a:spAutoFit/>
          </a:bodyPr>
          <a:lstStyle/>
          <a:p>
            <a:pPr algn="l"/>
            <a:r>
              <a:rPr sz="850" b="1">
                <a:solidFill>
                  <a:srgbClr val="07285F"/>
                </a:solidFill>
                <a:latin typeface="Arial"/>
              </a:rPr>
              <a:t>Trang quản trị Admin</a:t>
            </a:r>
          </a:p>
        </p:txBody>
      </p:sp>
      <p:sp>
        <p:nvSpPr>
          <p:cNvPr id="53" name="TextBox 52"/>
          <p:cNvSpPr txBox="1"/>
          <p:nvPr/>
        </p:nvSpPr>
        <p:spPr>
          <a:xfrm>
            <a:off x="1078992" y="5230368"/>
            <a:ext cx="6217920" cy="256032"/>
          </a:xfrm>
          <a:prstGeom prst="rect">
            <a:avLst/>
          </a:prstGeom>
          <a:noFill/>
        </p:spPr>
        <p:txBody>
          <a:bodyPr wrap="square" anchor="ctr">
            <a:spAutoFit/>
          </a:bodyPr>
          <a:lstStyle/>
          <a:p>
            <a:pPr algn="l"/>
            <a:r>
              <a:rPr sz="860" b="1">
                <a:solidFill>
                  <a:srgbClr val="1969E1"/>
                </a:solidFill>
                <a:latin typeface="Arial"/>
              </a:rPr>
              <a:t>Luồng demo:  Tìm sản phẩm  →  Xem chi tiết  →  Thêm giỏ hàng  →  Đặt hàng  →  Quản lý đơn</a:t>
            </a:r>
          </a:p>
        </p:txBody>
      </p:sp>
      <p:cxnSp>
        <p:nvCxnSpPr>
          <p:cNvPr id="54" name="Connector 53"/>
          <p:cNvCxnSpPr/>
          <p:nvPr/>
        </p:nvCxnSpPr>
        <p:spPr>
          <a:xfrm>
            <a:off x="1078992" y="6053328"/>
            <a:ext cx="9985248" cy="0"/>
          </a:xfrm>
          <a:prstGeom prst="line">
            <a:avLst/>
          </a:prstGeom>
          <a:ln w="12700">
            <a:solidFill>
              <a:srgbClr val="BED9F2"/>
            </a:solidFill>
          </a:ln>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1078992" y="6199632"/>
            <a:ext cx="3017520" cy="164592"/>
          </a:xfrm>
          <a:prstGeom prst="rect">
            <a:avLst/>
          </a:prstGeom>
          <a:noFill/>
        </p:spPr>
        <p:txBody>
          <a:bodyPr wrap="square" anchor="ctr">
            <a:spAutoFit/>
          </a:bodyPr>
          <a:lstStyle/>
          <a:p>
            <a:pPr algn="l"/>
            <a:r>
              <a:rPr sz="650" b="0">
                <a:solidFill>
                  <a:srgbClr val="4F5F78"/>
                </a:solidFill>
                <a:latin typeface="Arial"/>
              </a:rPr>
              <a:t>WEBSITE LAPTOP &amp; ACCESSORIES</a:t>
            </a:r>
          </a:p>
        </p:txBody>
      </p:sp>
      <p:pic>
        <p:nvPicPr>
          <p:cNvPr id="59" name="Picture 58">
            <a:extLst>
              <a:ext uri="{FF2B5EF4-FFF2-40B4-BE49-F238E27FC236}">
                <a16:creationId xmlns:a16="http://schemas.microsoft.com/office/drawing/2014/main" id="{2FC52826-0216-E19E-3437-DF9A73BCBCE5}"/>
              </a:ext>
            </a:extLst>
          </p:cNvPr>
          <p:cNvPicPr>
            <a:picLocks noChangeAspect="1"/>
          </p:cNvPicPr>
          <p:nvPr/>
        </p:nvPicPr>
        <p:blipFill>
          <a:blip r:embed="rId2"/>
          <a:stretch>
            <a:fillRect/>
          </a:stretch>
        </p:blipFill>
        <p:spPr>
          <a:xfrm>
            <a:off x="6871796" y="1824228"/>
            <a:ext cx="4192444" cy="1988820"/>
          </a:xfrm>
          <a:prstGeom prst="rect">
            <a:avLst/>
          </a:prstGeom>
        </p:spPr>
      </p:pic>
      <p:pic>
        <p:nvPicPr>
          <p:cNvPr id="18" name="Picture 17" descr="A black background with orange and blue text&#10;&#10;Description automatically generated">
            <a:extLst>
              <a:ext uri="{FF2B5EF4-FFF2-40B4-BE49-F238E27FC236}">
                <a16:creationId xmlns:a16="http://schemas.microsoft.com/office/drawing/2014/main" id="{69F25F8C-EFA4-84E0-4ABF-38A55C0C00F8}"/>
              </a:ext>
            </a:extLst>
          </p:cNvPr>
          <p:cNvPicPr>
            <a:picLocks noChangeAspect="1"/>
          </p:cNvPicPr>
          <p:nvPr/>
        </p:nvPicPr>
        <p:blipFill>
          <a:blip r:embed="rId3"/>
          <a:stretch>
            <a:fillRect/>
          </a:stretch>
        </p:blipFill>
        <p:spPr>
          <a:xfrm>
            <a:off x="10777306" y="-88712"/>
            <a:ext cx="1164758" cy="1164758"/>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1874519" y="777240"/>
            <a:ext cx="8366760" cy="5074920"/>
          </a:xfrm>
          <a:prstGeom prst="roundRect">
            <a:avLst/>
          </a:prstGeom>
          <a:solidFill>
            <a:srgbClr val="E2F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 name="Connector 2"/>
          <p:cNvCxnSpPr/>
          <p:nvPr/>
        </p:nvCxnSpPr>
        <p:spPr>
          <a:xfrm>
            <a:off x="8092440" y="411480"/>
            <a:ext cx="1554480" cy="301752"/>
          </a:xfrm>
          <a:prstGeom prst="line">
            <a:avLst/>
          </a:prstGeom>
          <a:ln w="10160">
            <a:solidFill>
              <a:srgbClr val="5C8FC3"/>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9646920" y="713232"/>
            <a:ext cx="1069848" cy="950976"/>
          </a:xfrm>
          <a:prstGeom prst="line">
            <a:avLst/>
          </a:prstGeom>
          <a:ln w="10160">
            <a:solidFill>
              <a:srgbClr val="5C8FC3"/>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V="1">
            <a:off x="10716768" y="530352"/>
            <a:ext cx="758952" cy="1133856"/>
          </a:xfrm>
          <a:prstGeom prst="line">
            <a:avLst/>
          </a:prstGeom>
          <a:ln w="10160">
            <a:solidFill>
              <a:srgbClr val="5C8FC3"/>
            </a:solidFill>
          </a:ln>
        </p:spPr>
        <p:style>
          <a:lnRef idx="2">
            <a:schemeClr val="accent1"/>
          </a:lnRef>
          <a:fillRef idx="0">
            <a:schemeClr val="accent1"/>
          </a:fillRef>
          <a:effectRef idx="1">
            <a:schemeClr val="accent1"/>
          </a:effectRef>
          <a:fontRef idx="minor">
            <a:schemeClr val="tx1"/>
          </a:fontRef>
        </p:style>
      </p:cxnSp>
      <p:sp>
        <p:nvSpPr>
          <p:cNvPr id="6" name="Oval 5"/>
          <p:cNvSpPr/>
          <p:nvPr/>
        </p:nvSpPr>
        <p:spPr>
          <a:xfrm>
            <a:off x="7973567" y="292608"/>
            <a:ext cx="237744" cy="237744"/>
          </a:xfrm>
          <a:prstGeom prst="ellipse">
            <a:avLst/>
          </a:prstGeom>
          <a:solidFill>
            <a:srgbClr val="FFFFFF"/>
          </a:solidFill>
          <a:ln w="10160">
            <a:solidFill>
              <a:srgbClr val="1969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9537192" y="603504"/>
            <a:ext cx="219456" cy="219456"/>
          </a:xfrm>
          <a:prstGeom prst="ellipse">
            <a:avLst/>
          </a:prstGeom>
          <a:solidFill>
            <a:srgbClr val="FFFFFF"/>
          </a:solidFill>
          <a:ln w="10160">
            <a:solidFill>
              <a:srgbClr val="1969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0442448" y="1389888"/>
            <a:ext cx="548640" cy="548640"/>
          </a:xfrm>
          <a:prstGeom prst="ellipse">
            <a:avLst/>
          </a:prstGeom>
          <a:solidFill>
            <a:srgbClr val="E2F3FF"/>
          </a:solidFill>
          <a:ln w="13970">
            <a:solidFill>
              <a:srgbClr val="1969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0588752" y="1536192"/>
            <a:ext cx="256032" cy="256032"/>
          </a:xfrm>
          <a:prstGeom prst="ellipse">
            <a:avLst/>
          </a:prstGeom>
          <a:solidFill>
            <a:srgbClr val="FFFFFF"/>
          </a:solidFill>
          <a:ln w="10160">
            <a:solidFill>
              <a:srgbClr val="1969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1393424" y="448056"/>
            <a:ext cx="164592" cy="164592"/>
          </a:xfrm>
          <a:prstGeom prst="ellipse">
            <a:avLst/>
          </a:prstGeom>
          <a:solidFill>
            <a:srgbClr val="FFFFFF"/>
          </a:solidFill>
          <a:ln w="10160">
            <a:solidFill>
              <a:srgbClr val="1969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991088" y="155448"/>
            <a:ext cx="502920" cy="164592"/>
          </a:xfrm>
          <a:prstGeom prst="rect">
            <a:avLst/>
          </a:prstGeom>
          <a:noFill/>
        </p:spPr>
        <p:txBody>
          <a:bodyPr wrap="square" anchor="ctr">
            <a:spAutoFit/>
          </a:bodyPr>
          <a:lstStyle/>
          <a:p>
            <a:pPr algn="ctr"/>
            <a:r>
              <a:rPr sz="1100" b="1">
                <a:solidFill>
                  <a:srgbClr val="07285F"/>
                </a:solidFill>
                <a:latin typeface="Arial"/>
              </a:rPr>
              <a:t>•••</a:t>
            </a:r>
          </a:p>
        </p:txBody>
      </p:sp>
      <p:cxnSp>
        <p:nvCxnSpPr>
          <p:cNvPr id="12" name="Connector 11"/>
          <p:cNvCxnSpPr/>
          <p:nvPr/>
        </p:nvCxnSpPr>
        <p:spPr>
          <a:xfrm>
            <a:off x="320040" y="5577840"/>
            <a:ext cx="1097280" cy="566928"/>
          </a:xfrm>
          <a:prstGeom prst="line">
            <a:avLst/>
          </a:prstGeom>
          <a:ln w="10160">
            <a:solidFill>
              <a:srgbClr val="5C8FC3"/>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1417320" y="5687568"/>
            <a:ext cx="1508760" cy="457200"/>
          </a:xfrm>
          <a:prstGeom prst="line">
            <a:avLst/>
          </a:prstGeom>
          <a:ln w="10160">
            <a:solidFill>
              <a:srgbClr val="5C8FC3"/>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2926080" y="5687568"/>
            <a:ext cx="1417320" cy="457200"/>
          </a:xfrm>
          <a:prstGeom prst="line">
            <a:avLst/>
          </a:prstGeom>
          <a:ln w="10160">
            <a:solidFill>
              <a:srgbClr val="5C8FC3"/>
            </a:solidFill>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237744" y="5495544"/>
            <a:ext cx="164592" cy="164592"/>
          </a:xfrm>
          <a:prstGeom prst="ellipse">
            <a:avLst/>
          </a:prstGeom>
          <a:solidFill>
            <a:srgbClr val="FFFFFF"/>
          </a:solidFill>
          <a:ln w="10160">
            <a:solidFill>
              <a:srgbClr val="1969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1161288" y="5888736"/>
            <a:ext cx="512064" cy="512064"/>
          </a:xfrm>
          <a:prstGeom prst="ellipse">
            <a:avLst/>
          </a:prstGeom>
          <a:solidFill>
            <a:srgbClr val="E2F3FF"/>
          </a:solidFill>
          <a:ln w="13970">
            <a:solidFill>
              <a:srgbClr val="1969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1298448" y="6025896"/>
            <a:ext cx="237744" cy="237744"/>
          </a:xfrm>
          <a:prstGeom prst="ellipse">
            <a:avLst/>
          </a:prstGeom>
          <a:solidFill>
            <a:srgbClr val="FFFFFF"/>
          </a:solidFill>
          <a:ln w="10160">
            <a:solidFill>
              <a:srgbClr val="1969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2816352" y="5577840"/>
            <a:ext cx="219456" cy="219456"/>
          </a:xfrm>
          <a:prstGeom prst="ellipse">
            <a:avLst/>
          </a:prstGeom>
          <a:solidFill>
            <a:srgbClr val="FFFFFF"/>
          </a:solidFill>
          <a:ln w="10160">
            <a:solidFill>
              <a:srgbClr val="1969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4224528" y="6025896"/>
            <a:ext cx="237744" cy="237744"/>
          </a:xfrm>
          <a:prstGeom prst="ellipse">
            <a:avLst/>
          </a:prstGeom>
          <a:solidFill>
            <a:srgbClr val="E2F3FF"/>
          </a:solidFill>
          <a:ln w="10160">
            <a:solidFill>
              <a:srgbClr val="1969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4892040" y="1261872"/>
            <a:ext cx="2377440" cy="347472"/>
          </a:xfrm>
          <a:prstGeom prst="roundRect">
            <a:avLst/>
          </a:prstGeom>
          <a:solidFill>
            <a:srgbClr val="1969E1"/>
          </a:solidFill>
          <a:ln w="2540">
            <a:solidFill>
              <a:srgbClr val="1969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892040" y="1298448"/>
            <a:ext cx="2377440" cy="246888"/>
          </a:xfrm>
          <a:prstGeom prst="rect">
            <a:avLst/>
          </a:prstGeom>
          <a:noFill/>
        </p:spPr>
        <p:txBody>
          <a:bodyPr wrap="square" anchor="ctr">
            <a:spAutoFit/>
          </a:bodyPr>
          <a:lstStyle/>
          <a:p>
            <a:pPr algn="ctr"/>
            <a:r>
              <a:rPr sz="950" b="1">
                <a:solidFill>
                  <a:srgbClr val="FFFFFF"/>
                </a:solidFill>
                <a:latin typeface="Arial"/>
              </a:rPr>
              <a:t>KẾT THÚC BÀI TRÌNH BÀY</a:t>
            </a:r>
          </a:p>
        </p:txBody>
      </p:sp>
      <p:sp>
        <p:nvSpPr>
          <p:cNvPr id="22" name="TextBox 21"/>
          <p:cNvSpPr txBox="1"/>
          <p:nvPr/>
        </p:nvSpPr>
        <p:spPr>
          <a:xfrm>
            <a:off x="2880360" y="1847088"/>
            <a:ext cx="6446520" cy="777240"/>
          </a:xfrm>
          <a:prstGeom prst="rect">
            <a:avLst/>
          </a:prstGeom>
          <a:noFill/>
        </p:spPr>
        <p:txBody>
          <a:bodyPr wrap="square" anchor="ctr">
            <a:spAutoFit/>
          </a:bodyPr>
          <a:lstStyle/>
          <a:p>
            <a:pPr algn="ctr"/>
            <a:r>
              <a:rPr sz="3800" b="1">
                <a:solidFill>
                  <a:srgbClr val="07285F"/>
                </a:solidFill>
                <a:latin typeface="Arial"/>
              </a:rPr>
              <a:t>CẢM ƠN!</a:t>
            </a:r>
          </a:p>
        </p:txBody>
      </p:sp>
      <p:sp>
        <p:nvSpPr>
          <p:cNvPr id="23" name="TextBox 22"/>
          <p:cNvSpPr txBox="1"/>
          <p:nvPr/>
        </p:nvSpPr>
        <p:spPr>
          <a:xfrm>
            <a:off x="2743200" y="2697480"/>
            <a:ext cx="6720840" cy="640080"/>
          </a:xfrm>
          <a:prstGeom prst="rect">
            <a:avLst/>
          </a:prstGeom>
          <a:noFill/>
        </p:spPr>
        <p:txBody>
          <a:bodyPr wrap="square" anchor="ctr">
            <a:spAutoFit/>
          </a:bodyPr>
          <a:lstStyle/>
          <a:p>
            <a:pPr algn="ctr"/>
            <a:r>
              <a:rPr sz="2100" b="1">
                <a:solidFill>
                  <a:srgbClr val="4F5F78"/>
                </a:solidFill>
                <a:latin typeface="Arial"/>
              </a:rPr>
              <a:t>Cảm ơn thầy cô và mọi người
đã lắng nghe</a:t>
            </a:r>
          </a:p>
        </p:txBody>
      </p:sp>
      <p:cxnSp>
        <p:nvCxnSpPr>
          <p:cNvPr id="24" name="Connector 23"/>
          <p:cNvCxnSpPr/>
          <p:nvPr/>
        </p:nvCxnSpPr>
        <p:spPr>
          <a:xfrm>
            <a:off x="5074920" y="3593592"/>
            <a:ext cx="731520" cy="0"/>
          </a:xfrm>
          <a:prstGeom prst="line">
            <a:avLst/>
          </a:prstGeom>
          <a:ln w="25400">
            <a:solidFill>
              <a:srgbClr val="1969E1"/>
            </a:solidFill>
          </a:ln>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5939027" y="3570732"/>
            <a:ext cx="45720" cy="45720"/>
          </a:xfrm>
          <a:prstGeom prst="ellipse">
            <a:avLst/>
          </a:prstGeom>
          <a:solidFill>
            <a:srgbClr val="1969E1"/>
          </a:solidFill>
          <a:ln w="2540">
            <a:solidFill>
              <a:srgbClr val="1969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6076188" y="3570732"/>
            <a:ext cx="45720" cy="45720"/>
          </a:xfrm>
          <a:prstGeom prst="ellipse">
            <a:avLst/>
          </a:prstGeom>
          <a:solidFill>
            <a:srgbClr val="1969E1"/>
          </a:solidFill>
          <a:ln w="2540">
            <a:solidFill>
              <a:srgbClr val="1969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6213348" y="3570732"/>
            <a:ext cx="45720" cy="45720"/>
          </a:xfrm>
          <a:prstGeom prst="ellipse">
            <a:avLst/>
          </a:prstGeom>
          <a:solidFill>
            <a:srgbClr val="1969E1"/>
          </a:solidFill>
          <a:ln w="2540">
            <a:solidFill>
              <a:srgbClr val="1969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3703320" y="3977639"/>
            <a:ext cx="4754880" cy="1051560"/>
          </a:xfrm>
          <a:prstGeom prst="roundRect">
            <a:avLst/>
          </a:prstGeom>
          <a:solidFill>
            <a:srgbClr val="FFFFFF"/>
          </a:solidFill>
          <a:ln w="12700">
            <a:solidFill>
              <a:srgbClr val="C4DD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3950208" y="4224528"/>
            <a:ext cx="548640" cy="548640"/>
          </a:xfrm>
          <a:prstGeom prst="ellipse">
            <a:avLst/>
          </a:prstGeom>
          <a:solidFill>
            <a:srgbClr val="E2F3FF"/>
          </a:solidFill>
          <a:ln w="13970">
            <a:solidFill>
              <a:srgbClr val="1969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986784" y="4279392"/>
            <a:ext cx="475488" cy="411480"/>
          </a:xfrm>
          <a:prstGeom prst="rect">
            <a:avLst/>
          </a:prstGeom>
          <a:noFill/>
        </p:spPr>
        <p:txBody>
          <a:bodyPr wrap="square" anchor="ctr">
            <a:spAutoFit/>
          </a:bodyPr>
          <a:lstStyle/>
          <a:p>
            <a:pPr algn="ctr"/>
            <a:r>
              <a:rPr sz="2100" b="1">
                <a:solidFill>
                  <a:srgbClr val="1969E1"/>
                </a:solidFill>
                <a:latin typeface="Arial"/>
              </a:rPr>
              <a:t>?</a:t>
            </a:r>
          </a:p>
        </p:txBody>
      </p:sp>
      <p:sp>
        <p:nvSpPr>
          <p:cNvPr id="31" name="TextBox 30"/>
          <p:cNvSpPr txBox="1"/>
          <p:nvPr/>
        </p:nvSpPr>
        <p:spPr>
          <a:xfrm>
            <a:off x="4663440" y="4133087"/>
            <a:ext cx="3246120" cy="274320"/>
          </a:xfrm>
          <a:prstGeom prst="rect">
            <a:avLst/>
          </a:prstGeom>
          <a:noFill/>
        </p:spPr>
        <p:txBody>
          <a:bodyPr wrap="square" anchor="ctr">
            <a:spAutoFit/>
          </a:bodyPr>
          <a:lstStyle/>
          <a:p>
            <a:pPr algn="l"/>
            <a:r>
              <a:rPr sz="1200" b="1">
                <a:solidFill>
                  <a:srgbClr val="07285F"/>
                </a:solidFill>
                <a:latin typeface="Arial"/>
              </a:rPr>
              <a:t>Q&amp;A • THẢO LUẬN</a:t>
            </a:r>
          </a:p>
        </p:txBody>
      </p:sp>
      <p:sp>
        <p:nvSpPr>
          <p:cNvPr id="32" name="TextBox 31"/>
          <p:cNvSpPr txBox="1"/>
          <p:nvPr/>
        </p:nvSpPr>
        <p:spPr>
          <a:xfrm>
            <a:off x="4663440" y="4443984"/>
            <a:ext cx="3246120" cy="310896"/>
          </a:xfrm>
          <a:prstGeom prst="rect">
            <a:avLst/>
          </a:prstGeom>
          <a:noFill/>
        </p:spPr>
        <p:txBody>
          <a:bodyPr wrap="square" anchor="ctr">
            <a:spAutoFit/>
          </a:bodyPr>
          <a:lstStyle/>
          <a:p>
            <a:pPr algn="l"/>
            <a:r>
              <a:rPr sz="950" b="0">
                <a:solidFill>
                  <a:srgbClr val="4F5F78"/>
                </a:solidFill>
                <a:latin typeface="Arial"/>
              </a:rPr>
              <a:t>Rất mong nhận được câu hỏi và ý kiến đóng góp.</a:t>
            </a:r>
          </a:p>
        </p:txBody>
      </p:sp>
      <p:sp>
        <p:nvSpPr>
          <p:cNvPr id="33" name="TextBox 32"/>
          <p:cNvSpPr txBox="1"/>
          <p:nvPr/>
        </p:nvSpPr>
        <p:spPr>
          <a:xfrm>
            <a:off x="3886200" y="5285232"/>
            <a:ext cx="4389120" cy="228600"/>
          </a:xfrm>
          <a:prstGeom prst="rect">
            <a:avLst/>
          </a:prstGeom>
          <a:noFill/>
        </p:spPr>
        <p:txBody>
          <a:bodyPr wrap="square" anchor="ctr">
            <a:spAutoFit/>
          </a:bodyPr>
          <a:lstStyle/>
          <a:p>
            <a:pPr algn="ctr"/>
            <a:r>
              <a:rPr sz="850" b="1">
                <a:solidFill>
                  <a:srgbClr val="1969E1"/>
                </a:solidFill>
                <a:latin typeface="Arial"/>
              </a:rPr>
              <a:t>Predator Group  •  Website Laptop &amp; Accessories</a:t>
            </a:r>
          </a:p>
        </p:txBody>
      </p:sp>
      <p:pic>
        <p:nvPicPr>
          <p:cNvPr id="35" name="Picture 34" descr="A black background with orange and blue text&#10;&#10;Description automatically generated">
            <a:extLst>
              <a:ext uri="{FF2B5EF4-FFF2-40B4-BE49-F238E27FC236}">
                <a16:creationId xmlns:a16="http://schemas.microsoft.com/office/drawing/2014/main" id="{D3059EB6-61AB-EBD6-996E-5CD73FDE4433}"/>
              </a:ext>
            </a:extLst>
          </p:cNvPr>
          <p:cNvPicPr>
            <a:picLocks noChangeAspect="1"/>
          </p:cNvPicPr>
          <p:nvPr/>
        </p:nvPicPr>
        <p:blipFill>
          <a:blip r:embed="rId2"/>
          <a:stretch>
            <a:fillRect/>
          </a:stretch>
        </p:blipFill>
        <p:spPr>
          <a:xfrm>
            <a:off x="10777306" y="-88712"/>
            <a:ext cx="1164758" cy="1164758"/>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1525</Words>
  <Application>Microsoft Office PowerPoint</Application>
  <PresentationFormat>Widescreen</PresentationFormat>
  <Paragraphs>317</Paragraphs>
  <Slides>15</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Ngoc Tai</dc:creator>
  <cp:keywords/>
  <dc:description>generated using python-pptx</dc:description>
  <cp:lastModifiedBy>ngoc tài</cp:lastModifiedBy>
  <cp:revision>3</cp:revision>
  <dcterms:created xsi:type="dcterms:W3CDTF">2013-01-27T09:14:16Z</dcterms:created>
  <dcterms:modified xsi:type="dcterms:W3CDTF">2026-08-29T02:49:46Z</dcterms:modified>
  <cp:category/>
</cp:coreProperties>
</file>