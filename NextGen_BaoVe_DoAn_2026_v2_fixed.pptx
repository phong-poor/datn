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38a8255d74c23" /><Relationship Type="http://schemas.openxmlformats.org/officeDocument/2006/relationships/extended-properties" Target="/docProps/app.xml" Id="R8cfc6c7e99474701" /><Relationship Type="http://schemas.openxmlformats.org/officeDocument/2006/relationships/officeDocument" Target="/ppt/presentation.xml" Id="R2a14896e0185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9aeff9330b4d0c"/>
  </p:sldMasterIdLst>
  <p:notesMasterIdLst>
    <p:notesMasterId xmlns:r="http://schemas.openxmlformats.org/officeDocument/2006/relationships" r:id="R01810e8ef9f542e7"/>
  </p:notesMasterIdLst>
  <p:sldIdLst>
    <p:sldId xmlns:r="http://schemas.openxmlformats.org/officeDocument/2006/relationships" id="256" r:id="Re427f422f36d4040"/>
    <p:sldId xmlns:r="http://schemas.openxmlformats.org/officeDocument/2006/relationships" id="257" r:id="R99a867b418d141bd"/>
    <p:sldId xmlns:r="http://schemas.openxmlformats.org/officeDocument/2006/relationships" id="258" r:id="Rd68d203d7e06441e"/>
    <p:sldId xmlns:r="http://schemas.openxmlformats.org/officeDocument/2006/relationships" id="259" r:id="R49cccc4501f44121"/>
    <p:sldId xmlns:r="http://schemas.openxmlformats.org/officeDocument/2006/relationships" id="260" r:id="Rfae6c13c9daf407d"/>
    <p:sldId xmlns:r="http://schemas.openxmlformats.org/officeDocument/2006/relationships" id="261" r:id="R9ddbb5d124f94024"/>
    <p:sldId xmlns:r="http://schemas.openxmlformats.org/officeDocument/2006/relationships" id="262" r:id="R3b1b2c9b6c7c4980"/>
    <p:sldId xmlns:r="http://schemas.openxmlformats.org/officeDocument/2006/relationships" id="263" r:id="Rd019759f674c47eb"/>
    <p:sldId xmlns:r="http://schemas.openxmlformats.org/officeDocument/2006/relationships" id="264" r:id="R9fb06ff6a4934d72"/>
    <p:sldId xmlns:r="http://schemas.openxmlformats.org/officeDocument/2006/relationships" id="265" r:id="Rb5750e8f13d043a2"/>
    <p:sldId xmlns:r="http://schemas.openxmlformats.org/officeDocument/2006/relationships" id="266" r:id="R966ff71767d94e3c"/>
    <p:sldId xmlns:r="http://schemas.openxmlformats.org/officeDocument/2006/relationships" id="267" r:id="Raea7f093b193427e"/>
    <p:sldId xmlns:r="http://schemas.openxmlformats.org/officeDocument/2006/relationships" id="268" r:id="R283742a82b4c46b7"/>
    <p:sldId xmlns:r="http://schemas.openxmlformats.org/officeDocument/2006/relationships" id="269" r:id="R205c54c220614e95"/>
    <p:sldId xmlns:r="http://schemas.openxmlformats.org/officeDocument/2006/relationships" id="270" r:id="R339e0579688d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251266c4ef42fc" /><Relationship Type="http://schemas.openxmlformats.org/officeDocument/2006/relationships/slideMaster" Target="/ppt/slideMasters/slideMaster1.xml" Id="Raf9aeff9330b4d0c" /><Relationship Type="http://schemas.openxmlformats.org/officeDocument/2006/relationships/notesMaster" Target="/ppt/notesMasters/notesMaster1.xml" Id="R01810e8ef9f542e7" /><Relationship Type="http://schemas.openxmlformats.org/officeDocument/2006/relationships/presProps" Target="/ppt/presProps.xml" Id="R5aa6849c5d00411f" /><Relationship Type="http://schemas.openxmlformats.org/officeDocument/2006/relationships/viewProps" Target="/ppt/viewProps.xml" Id="R4d7b4f8d6eb4487c" /><Relationship Type="http://schemas.openxmlformats.org/officeDocument/2006/relationships/tableStyles" Target="/ppt/tableStyles.xml" Id="Rd7a04695b07f49a0" /><Relationship Type="http://schemas.openxmlformats.org/officeDocument/2006/relationships/slide" Target="/ppt/slides/slide1.xml" Id="Re427f422f36d4040" /><Relationship Type="http://schemas.openxmlformats.org/officeDocument/2006/relationships/slide" Target="/ppt/slides/slide2.xml" Id="R99a867b418d141bd" /><Relationship Type="http://schemas.openxmlformats.org/officeDocument/2006/relationships/slide" Target="/ppt/slides/slide3.xml" Id="Rd68d203d7e06441e" /><Relationship Type="http://schemas.openxmlformats.org/officeDocument/2006/relationships/slide" Target="/ppt/slides/slide4.xml" Id="R49cccc4501f44121" /><Relationship Type="http://schemas.openxmlformats.org/officeDocument/2006/relationships/slide" Target="/ppt/slides/slide5.xml" Id="Rfae6c13c9daf407d" /><Relationship Type="http://schemas.openxmlformats.org/officeDocument/2006/relationships/slide" Target="/ppt/slides/slide6.xml" Id="R9ddbb5d124f94024" /><Relationship Type="http://schemas.openxmlformats.org/officeDocument/2006/relationships/slide" Target="/ppt/slides/slide7.xml" Id="R3b1b2c9b6c7c4980" /><Relationship Type="http://schemas.openxmlformats.org/officeDocument/2006/relationships/slide" Target="/ppt/slides/slide8.xml" Id="Rd019759f674c47eb" /><Relationship Type="http://schemas.openxmlformats.org/officeDocument/2006/relationships/slide" Target="/ppt/slides/slide9.xml" Id="R9fb06ff6a4934d72" /><Relationship Type="http://schemas.openxmlformats.org/officeDocument/2006/relationships/slide" Target="/ppt/slides/slide10.xml" Id="Rb5750e8f13d043a2" /><Relationship Type="http://schemas.openxmlformats.org/officeDocument/2006/relationships/slide" Target="/ppt/slides/slide11.xml" Id="R966ff71767d94e3c" /><Relationship Type="http://schemas.openxmlformats.org/officeDocument/2006/relationships/slide" Target="/ppt/slides/slide12.xml" Id="Raea7f093b193427e" /><Relationship Type="http://schemas.openxmlformats.org/officeDocument/2006/relationships/slide" Target="/ppt/slides/slide13.xml" Id="R283742a82b4c46b7" /><Relationship Type="http://schemas.openxmlformats.org/officeDocument/2006/relationships/slide" Target="/ppt/slides/slide14.xml" Id="R205c54c220614e95" /><Relationship Type="http://schemas.openxmlformats.org/officeDocument/2006/relationships/slide" Target="/ppt/slides/slide15.xml" Id="R339e0579688d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00471fb6984c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b0186527e64070" /><Relationship Type="http://schemas.openxmlformats.org/officeDocument/2006/relationships/notesMaster" Target="/ppt/notesMasters/notesMaster1.xml" Id="Rf147df9a410047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e5334d26242f8" /><Relationship Type="http://schemas.openxmlformats.org/officeDocument/2006/relationships/notesMaster" Target="/ppt/notesMasters/notesMaster1.xml" Id="Rc643e993d5d7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a3457a0e4463a" /><Relationship Type="http://schemas.openxmlformats.org/officeDocument/2006/relationships/notesMaster" Target="/ppt/notesMasters/notesMaster1.xml" Id="R3956d99ced1645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084e730db408d" /><Relationship Type="http://schemas.openxmlformats.org/officeDocument/2006/relationships/notesMaster" Target="/ppt/notesMasters/notesMaster1.xml" Id="Rca22da814094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0e1ef9a553402f" /><Relationship Type="http://schemas.openxmlformats.org/officeDocument/2006/relationships/notesMaster" Target="/ppt/notesMasters/notesMaster1.xml" Id="R1785223033474e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6189e611514861" /><Relationship Type="http://schemas.openxmlformats.org/officeDocument/2006/relationships/notesMaster" Target="/ppt/notesMasters/notesMaster1.xml" Id="R83e7bceafe6c4a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62f5fd511e4b14" /><Relationship Type="http://schemas.openxmlformats.org/officeDocument/2006/relationships/notesMaster" Target="/ppt/notesMasters/notesMaster1.xml" Id="Rcaba06b2527942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950e8c6d824f80" /><Relationship Type="http://schemas.openxmlformats.org/officeDocument/2006/relationships/notesMaster" Target="/ppt/notesMasters/notesMaster1.xml" Id="R49f3fa29123d40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ad66ee5ec04cac" /><Relationship Type="http://schemas.openxmlformats.org/officeDocument/2006/relationships/notesMaster" Target="/ppt/notesMasters/notesMaster1.xml" Id="R9d79d1c6c2b24e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4b9c1f9e4846bd" /><Relationship Type="http://schemas.openxmlformats.org/officeDocument/2006/relationships/notesMaster" Target="/ppt/notesMasters/notesMaster1.xml" Id="Rdf11990ad47f45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e2a5acc4b54358" /><Relationship Type="http://schemas.openxmlformats.org/officeDocument/2006/relationships/notesMaster" Target="/ppt/notesMasters/notesMaster1.xml" Id="R590a7e773dbc40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a5c9d5b8e74d7f" /><Relationship Type="http://schemas.openxmlformats.org/officeDocument/2006/relationships/notesMaster" Target="/ppt/notesMasters/notesMaster1.xml" Id="R12574e4b74454e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679044fbc04984" /><Relationship Type="http://schemas.openxmlformats.org/officeDocument/2006/relationships/notesMaster" Target="/ppt/notesMasters/notesMaster1.xml" Id="R694efac5dfdc4c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6cdad52314234" /><Relationship Type="http://schemas.openxmlformats.org/officeDocument/2006/relationships/notesMaster" Target="/ppt/notesMasters/notesMaster1.xml" Id="R6d9e083f66fb41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0bc27e91e64e83" /><Relationship Type="http://schemas.openxmlformats.org/officeDocument/2006/relationships/notesMaster" Target="/ppt/notesMasters/notesMaster1.xml" Id="Ra2ea5206e3a1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luận điểm: đây là hệ sinh thái bán lẻ đa nền tảng, không phải website CRUD.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ngắn vai trò nhóm; không đọc lần lượt quá lâu.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bài toán và định vị giải pháp theo hành trình vận hành thật.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ba nhóm dùng chung một nguồn dữ liệu và phân quyền.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giảng viên thấy giao diện thật và tính nhất quán.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Kể customer journey từ khám phá đến đánh giá sau mua.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cơ chế giữ chân: Xu, voucher, affiliate, gamification.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kiến trúc một backend phục vụ web, mobile và realtime.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bốn miền dữ liệu thay vì đi sâu từng bảng.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dữ liệu đi từ khách hàng sang quản trị và dịch vụ nền.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ba khác biệt mạnh nhất của đồ 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bằng chứng: 112 test, 338 assertions, 100% đạt.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số liệu quy mô để chứng minh phạm vi triển khai.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Chuyển ngay sang demo theo đúng thứ tự trên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bằng giá trị hệ thống, sau đó mời câu hỏi.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d48abe8f84a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93ad73b7149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351915e9a40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a07e8e72a4a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6a75f0e3f49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d7e68762a4e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619e0a5f745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be215132244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323d77c8149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e421f2e8541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3e32df4b74b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1ADCAD-46CD-493B-AF1F-895D1D9407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1470E13-E783-4863-973C-1095563BC1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502E3E-1F8A-4A18-AFF1-3149F2044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9FE2F5-A83C-469F-81A3-69F402B6AF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257DF-530A-419A-B415-E6144E8F1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E28F71-EC84-41C6-A1CD-6258E466C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922FD7-C0E9-46BA-94D8-69134BB270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964F24-BA4B-436D-B030-296696A157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A6A346-AF0C-4117-8023-3BEBCA6416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0D9B95-012C-4468-A87D-60DE6CAF3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33B884-64C9-4719-A40B-8AD8FEB1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772EBD-74E1-4FBA-8911-48E392B108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4D1B20-AE5C-4B6D-90C7-EBAE608C72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D9033F-DBA6-4539-8E78-25BB55B896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CFB498-1A0F-4B05-9380-008D478A3D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18D4B-51E6-450C-896D-02A5E61F3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0074E1-D5C4-456B-AD34-D2DDE4A40B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F159F6-0F0C-4D02-A554-A9E5EB2DB2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62A990-8FBF-450C-B73B-37990AE168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2B4570-AEED-4C20-A850-7DCA9B840F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8FCCA8-47FC-4312-BCD9-42994C899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8156BA-0B3B-4AD1-9D48-A49150943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30053F-257D-4386-BB0E-5F3743987D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0FB4DA-E75B-40BB-AD60-88387E7798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5193DB-E7D5-4A1B-A65E-1A9C66BD5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C04187-6236-43C9-8A1F-EFF3A067ED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24D1EF9-32A2-4825-8F1B-5C49E6B2F0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3B8C5A-2678-4C4E-A712-5D28BF1ED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DF7DAAF-635A-43C5-A0F9-AB45F2A36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A53A27-997C-4D70-BDC8-D67D84D6A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0324C1-2141-491D-8330-C763C12C19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D1F7A1-CA83-4E79-BF21-CBAFF60F4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84E328-1E96-4FB1-B847-838467142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25272F-5193-4E9F-99DE-713499E4B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E2230E-D325-44B6-B3BC-682E89DFEF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49D9AA-2327-41A5-B618-ABB9F136DC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500F5-F7C4-4285-8D5C-606E9106D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E221C-4A16-4EE5-AFF4-2BBA054806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B0587C-EE8B-433C-BAAE-57BB946D32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540B40-FCC2-4D09-9417-0F9E1B0847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7954A1-4371-48E3-AD8A-84244C75B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2DFC9D-12AF-42E3-9814-C237D72C2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D3573-45F2-46CD-BD46-98429B1D6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BA4EED3-3FCF-4829-90D0-CEBFDD7397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68DCCB-D8CC-4984-83C2-1C0CBEAF59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04E90D-8BF6-4B6F-BF08-593D70D6E6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E7C8647-0D60-49CC-B949-A4A78C654F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9B38BB-23F6-47BA-B35B-C5118BA07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E9C6E0-8D85-4C6E-801C-CE63DD1CC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794A1E-F36F-4E55-A124-E7F64C258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273A8-943B-495B-8F8E-2EDAF8C18E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B4DECE-1259-42C3-9C55-0FE690DBE3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D9B312-6E91-4764-AC55-7780BCB9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A05214D-CE73-402C-8C2E-104F1F485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87F0E5-C568-4DAF-8A3D-F01536BEB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957EF-791E-4980-97D0-D960526A57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780ED7-0CBF-494A-AA63-413E06B91B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DB0CDB-498D-4519-8D6B-505EDB5F8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76f30b483e4225" /><Relationship Type="http://schemas.openxmlformats.org/officeDocument/2006/relationships/slideLayout" Target="/ppt/slideLayouts/slideLayout1.xml" Id="Ra5dc4e0ab2b84d04" /><Relationship Type="http://schemas.openxmlformats.org/officeDocument/2006/relationships/slideLayout" Target="/ppt/slideLayouts/slideLayout2.xml" Id="R7a7b970b735c444b" /><Relationship Type="http://schemas.openxmlformats.org/officeDocument/2006/relationships/slideLayout" Target="/ppt/slideLayouts/slideLayout3.xml" Id="R3f1c9771ac9f487d" /><Relationship Type="http://schemas.openxmlformats.org/officeDocument/2006/relationships/slideLayout" Target="/ppt/slideLayouts/slideLayout4.xml" Id="R95a4829f40574e46" /><Relationship Type="http://schemas.openxmlformats.org/officeDocument/2006/relationships/slideLayout" Target="/ppt/slideLayouts/slideLayout5.xml" Id="Rf0a699e375d04ca9" /><Relationship Type="http://schemas.openxmlformats.org/officeDocument/2006/relationships/slideLayout" Target="/ppt/slideLayouts/slideLayout6.xml" Id="R2338c7c410e74522" /><Relationship Type="http://schemas.openxmlformats.org/officeDocument/2006/relationships/slideLayout" Target="/ppt/slideLayouts/slideLayout7.xml" Id="R639116db699e47ba" /><Relationship Type="http://schemas.openxmlformats.org/officeDocument/2006/relationships/slideLayout" Target="/ppt/slideLayouts/slideLayout8.xml" Id="R5dad3eb738494a3b" /><Relationship Type="http://schemas.openxmlformats.org/officeDocument/2006/relationships/slideLayout" Target="/ppt/slideLayouts/slideLayout9.xml" Id="R2d5f5221f17247c2" /><Relationship Type="http://schemas.openxmlformats.org/officeDocument/2006/relationships/slideLayout" Target="/ppt/slideLayouts/slideLayout10.xml" Id="R6be3bb3f016b42f7" /><Relationship Type="http://schemas.openxmlformats.org/officeDocument/2006/relationships/slideLayout" Target="/ppt/slideLayouts/slideLayout11.xml" Id="Rbd6ea5e7f1504f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393039-CF78-45D3-B304-ED3A6B071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2B8D0C-6440-4343-9F71-6E02B2CCF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9249CE-B1E0-479A-9BD9-0F064AD010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24FC5-75D4-49EF-9BFD-155667C7C9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221216-61FA-448B-B806-6D4A820F1E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c4e0ab2b84d04"/>
    <p:sldLayoutId xmlns:r="http://schemas.openxmlformats.org/officeDocument/2006/relationships" id="2147483650" r:id="R7a7b970b735c444b"/>
    <p:sldLayoutId xmlns:r="http://schemas.openxmlformats.org/officeDocument/2006/relationships" id="2147483651" r:id="R3f1c9771ac9f487d"/>
    <p:sldLayoutId xmlns:r="http://schemas.openxmlformats.org/officeDocument/2006/relationships" id="2147483652" r:id="R95a4829f40574e46"/>
    <p:sldLayoutId xmlns:r="http://schemas.openxmlformats.org/officeDocument/2006/relationships" id="2147483653" r:id="Rf0a699e375d04ca9"/>
    <p:sldLayoutId xmlns:r="http://schemas.openxmlformats.org/officeDocument/2006/relationships" id="2147483654" r:id="R2338c7c410e74522"/>
    <p:sldLayoutId xmlns:r="http://schemas.openxmlformats.org/officeDocument/2006/relationships" id="2147483655" r:id="R639116db699e47ba"/>
    <p:sldLayoutId xmlns:r="http://schemas.openxmlformats.org/officeDocument/2006/relationships" id="2147483656" r:id="R5dad3eb738494a3b"/>
    <p:sldLayoutId xmlns:r="http://schemas.openxmlformats.org/officeDocument/2006/relationships" id="2147483657" r:id="R2d5f5221f17247c2"/>
    <p:sldLayoutId xmlns:r="http://schemas.openxmlformats.org/officeDocument/2006/relationships" id="2147483658" r:id="R6be3bb3f016b42f7"/>
    <p:sldLayoutId xmlns:r="http://schemas.openxmlformats.org/officeDocument/2006/relationships" id="2147483659" r:id="Rbd6ea5e7f1504fa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10fe4a40a84abc" /><Relationship Type="http://schemas.openxmlformats.org/officeDocument/2006/relationships/image" Target="/ppt/media/image.png" Id="R927c0c51ef404d6a" /><Relationship Type="http://schemas.openxmlformats.org/officeDocument/2006/relationships/image" Target="/ppt/media/image2.png" Id="Rb2f65f3c4a204adc" /><Relationship Type="http://schemas.openxmlformats.org/officeDocument/2006/relationships/notesSlide" Target="/ppt/notesSlides/notesSlide1.xml" Id="Ra9cc552aecdd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8929a701544203" /><Relationship Type="http://schemas.openxmlformats.org/officeDocument/2006/relationships/image" Target="/ppt/media/image2.png" Id="R2c88bb02308945ea" /><Relationship Type="http://schemas.openxmlformats.org/officeDocument/2006/relationships/notesSlide" Target="/ppt/notesSlides/notesSlide2.xml" Id="R4a56f3705a4c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5231f4dba249a5" /><Relationship Type="http://schemas.openxmlformats.org/officeDocument/2006/relationships/image" Target="/ppt/media/image2.png" Id="R3410aa61771f450d" /><Relationship Type="http://schemas.openxmlformats.org/officeDocument/2006/relationships/notesSlide" Target="/ppt/notesSlides/notesSlide3.xml" Id="Rf53b439e2d2e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7bddd44dc34b6f" /><Relationship Type="http://schemas.openxmlformats.org/officeDocument/2006/relationships/image" Target="/ppt/media/image2.png" Id="R20e76e5c75db4288" /><Relationship Type="http://schemas.openxmlformats.org/officeDocument/2006/relationships/notesSlide" Target="/ppt/notesSlides/notesSlide4.xml" Id="Raae301aec005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07ed4fc0914a88" /><Relationship Type="http://schemas.openxmlformats.org/officeDocument/2006/relationships/image" Target="/ppt/media/image.jpeg" Id="R4aa8728ec0b54cff" /><Relationship Type="http://schemas.openxmlformats.org/officeDocument/2006/relationships/image" Target="/ppt/media/image2.jpeg" Id="R38a359b304ab4ac9" /><Relationship Type="http://schemas.openxmlformats.org/officeDocument/2006/relationships/image" Target="/ppt/media/image3.jpeg" Id="R9e734532bd2245d1" /><Relationship Type="http://schemas.openxmlformats.org/officeDocument/2006/relationships/image" Target="/ppt/media/image2.png" Id="Rbe3cbb0771fb4ef0" /><Relationship Type="http://schemas.openxmlformats.org/officeDocument/2006/relationships/notesSlide" Target="/ppt/notesSlides/notesSlide5.xml" Id="Raa8786d9222444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c480624541400c" /><Relationship Type="http://schemas.openxmlformats.org/officeDocument/2006/relationships/image" Target="/ppt/media/image2.png" Id="Ree2152e2292947ad" /><Relationship Type="http://schemas.openxmlformats.org/officeDocument/2006/relationships/notesSlide" Target="/ppt/notesSlides/notesSlide6.xml" Id="Rd169dbdf1e71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c1b8a6abb34a94" /><Relationship Type="http://schemas.openxmlformats.org/officeDocument/2006/relationships/image" Target="/ppt/media/image2.png" Id="R6de08a172a3c4d08" /><Relationship Type="http://schemas.openxmlformats.org/officeDocument/2006/relationships/notesSlide" Target="/ppt/notesSlides/notesSlide7.xml" Id="R48beaea8bab2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9b3a135fec4d93" /><Relationship Type="http://schemas.openxmlformats.org/officeDocument/2006/relationships/image" Target="/ppt/media/image3.png" Id="Rbf88f3b5022c4d79" /><Relationship Type="http://schemas.openxmlformats.org/officeDocument/2006/relationships/image" Target="/ppt/media/image4.png" Id="R3ec74b3b37cc4715" /><Relationship Type="http://schemas.openxmlformats.org/officeDocument/2006/relationships/image" Target="/ppt/media/image5.png" Id="Rd45300859b444000" /><Relationship Type="http://schemas.openxmlformats.org/officeDocument/2006/relationships/image" Target="/ppt/media/image6.png" Id="Rf3bcc6c2a34d4860" /><Relationship Type="http://schemas.openxmlformats.org/officeDocument/2006/relationships/image" Target="/ppt/media/image7.png" Id="R089d30d82a4e4aa5" /><Relationship Type="http://schemas.openxmlformats.org/officeDocument/2006/relationships/image" Target="/ppt/media/image8.png" Id="R897c5255111642f2" /><Relationship Type="http://schemas.openxmlformats.org/officeDocument/2006/relationships/image" Target="/ppt/media/image2.png" Id="R1f3907f3b94f44c0" /><Relationship Type="http://schemas.openxmlformats.org/officeDocument/2006/relationships/notesSlide" Target="/ppt/notesSlides/notesSlide8.xml" Id="Rdff61bdab1bf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623737b02249c2" /><Relationship Type="http://schemas.openxmlformats.org/officeDocument/2006/relationships/image" Target="/ppt/media/image9.png" Id="R2b7d7e48be8d4cdb" /><Relationship Type="http://schemas.openxmlformats.org/officeDocument/2006/relationships/image" Target="/ppt/media/image2.png" Id="Rb6d1f9110ddb47b9" /><Relationship Type="http://schemas.openxmlformats.org/officeDocument/2006/relationships/notesSlide" Target="/ppt/notesSlides/notesSlide9.xml" Id="R8138a80416d447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f1a5920d64675" /><Relationship Type="http://schemas.openxmlformats.org/officeDocument/2006/relationships/image" Target="/ppt/media/image2.png" Id="Ra196b95d21bf4d23" /><Relationship Type="http://schemas.openxmlformats.org/officeDocument/2006/relationships/notesSlide" Target="/ppt/notesSlides/notesSlide10.xml" Id="Rf2276004000349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325556cdd44ccd" /><Relationship Type="http://schemas.openxmlformats.org/officeDocument/2006/relationships/image" Target="/ppt/media/image2.png" Id="Rb5ae8e2762d74ac7" /><Relationship Type="http://schemas.openxmlformats.org/officeDocument/2006/relationships/notesSlide" Target="/ppt/notesSlides/notesSlide11.xml" Id="Refd2789748fd45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2dbd6195594853" /><Relationship Type="http://schemas.openxmlformats.org/officeDocument/2006/relationships/chart" Target="/ppt/slides/charts/chart1.xml" Id="R59e6cb2d012346c0" /><Relationship Type="http://schemas.openxmlformats.org/officeDocument/2006/relationships/chart" Target="/ppt/slides/charts/chart2.xml" Id="R655349578be346a1" /><Relationship Type="http://schemas.openxmlformats.org/officeDocument/2006/relationships/image" Target="/ppt/media/image2.png" Id="R5982c2a1237849dc" /><Relationship Type="http://schemas.openxmlformats.org/officeDocument/2006/relationships/notesSlide" Target="/ppt/notesSlides/notesSlide12.xml" Id="Ra340aeaf4e9048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24a35dedd94b8a" /><Relationship Type="http://schemas.openxmlformats.org/officeDocument/2006/relationships/image" Target="/ppt/media/image2.png" Id="R35c26ccfd12c4237" /><Relationship Type="http://schemas.openxmlformats.org/officeDocument/2006/relationships/notesSlide" Target="/ppt/notesSlides/notesSlide13.xml" Id="R669232e271f346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9efc22b7964714" /><Relationship Type="http://schemas.openxmlformats.org/officeDocument/2006/relationships/image" Target="/ppt/media/image4.jpeg" Id="R248a654cac8a4216" /><Relationship Type="http://schemas.openxmlformats.org/officeDocument/2006/relationships/image" Target="/ppt/media/image2.png" Id="Rf60fae88ef4e4aba" /><Relationship Type="http://schemas.openxmlformats.org/officeDocument/2006/relationships/notesSlide" Target="/ppt/notesSlides/notesSlide14.xml" Id="Ref48a5a6d0a04d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f0e86e470f47e6" /><Relationship Type="http://schemas.openxmlformats.org/officeDocument/2006/relationships/image" Target="/ppt/media/image2.png" Id="Ref8a70d7fc904a74" /><Relationship Type="http://schemas.openxmlformats.org/officeDocument/2006/relationships/notesSlide" Target="/ppt/notesSlides/notesSlide15.xml" Id="R2d8795981eef455e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32B25C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Test case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1964E1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Pt>
            <c:idx val="2"/>
            <c:spPr>
              <a:solidFill xmlns:a="http://schemas.openxmlformats.org/drawingml/2006/main">
                <a:srgbClr val="FFB80C"/>
              </a:solidFill>
            </c:spPr>
          </c:dPt>
          <c:dPt>
            <c:idx val="3"/>
            <c:spPr>
              <a:solidFill xmlns:a="http://schemas.openxmlformats.org/drawingml/2006/main">
                <a:srgbClr val="32B25C"/>
              </a:solidFill>
            </c:spPr>
          </c:dPt>
          <c:dPt>
            <c:idx val="4"/>
            <c:spPr>
              <a:solidFill xmlns:a="http://schemas.openxmlformats.org/drawingml/2006/main">
                <a:srgbClr val="FF7000"/>
              </a:solidFill>
            </c:spPr>
          </c:dPt>
          <c:dPt>
            <c:idx val="5"/>
            <c:spPr>
              <a:solidFill xmlns:a="http://schemas.openxmlformats.org/drawingml/2006/main">
                <a:srgbClr val="44B8BF"/>
              </a:solidFill>
            </c:spPr>
          </c:dPt>
          <c:dPt>
            <c:idx val="6"/>
            <c:spPr>
              <a:solidFill xmlns:a="http://schemas.openxmlformats.org/drawingml/2006/main">
                <a:srgbClr val="709F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Admin &amp; bảo mật</c:v>
                </c:pt>
                <c:pt idx="1">
                  <c:v>Xác thực tài khoản</c:v>
                </c:pt>
                <c:pt idx="2">
                  <c:v>Affiliate &amp; ví</c:v>
                </c:pt>
                <c:pt idx="3">
                  <c:v>Marketing &amp; nội dung</c:v>
                </c:pt>
                <c:pt idx="4">
                  <c:v>Mua hàng &amp; đánh giá</c:v>
                </c:pt>
                <c:pt idx="5">
                  <c:v>Core UI</c:v>
                </c:pt>
                <c:pt idx="6">
                  <c:v>Bảo vệ file hoàn tiền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</c:v>
                </c:pt>
                <c:pt idx="1">
                  <c:v>27</c:v>
                </c:pt>
                <c:pt idx="2">
                  <c:v>13</c:v>
                </c:pt>
                <c:pt idx="3">
                  <c:v>20</c:v>
                </c:pt>
                <c:pt idx="4">
                  <c:v>11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3415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05C022EE-BC50-47F4-9822-B7ED8FB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939" y="597477"/>
            <a:ext cx="6583680" cy="585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CEE02F-AD71-40AA-AC11-D0E678DB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21808"/>
            <a:ext cx="457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09C321-B820-4CA2-BC44-2FA242B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01EE0C4-0716-4BC0-BA2F-28A412A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04C3BAAC-359B-46CB-BFD9-8FEBC04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7955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120C2086-04D8-4507-8206-C13C2D57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595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381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5D026059-7829-4A86-90B1-7F52E96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14400"/>
            <a:ext cx="731520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BE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28AADE26-8D0B-4FBD-853A-CF5FC01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1" y="105156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 w="38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6EC7527-CDA5-4635-AAD0-3026082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5760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4FE8B07B-C1FC-4BD7-9C76-6C19B8F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188" y="63550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254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C0B06E3D-4C48-4F09-B28A-9BE126D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65208" y="566928"/>
            <a:ext cx="1033272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1627646B-917A-4097-A9F7-AA895E86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4805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152B5284-A745-43DD-8BAE-88E4E33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21792"/>
            <a:ext cx="59436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20F734A-211F-442E-8D16-950439F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1014983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32F55E09-6967-4573-B07A-D84B3FA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288" y="1143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1016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BD3946-09BA-4E0F-ADDC-6A4FBCD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124358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2540">
            <a:solidFill>
              <a:srgbClr val="E2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8A81CF6-E0B0-46F2-B664-F9EC9E1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095" y="1337455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A89E0"/>
                </a:solidFill>
                <a:latin typeface="Arial"/>
                <a:ea typeface="Arial"/>
                <a:cs typeface="Arial"/>
              </a:rPr>
              <a:t>ĐỒ ÁN TỐT NGHIỆP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FF7EF7D-A9AB-4D23-ABEA-F6DC249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12508"/>
            <a:ext cx="5294376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NEXTGEN — HỆ SINH THÁI BÁN LẺ LAPTOP ĐA NỀN TẢNG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0692B0DE-AB3B-4E59-9B33-C943E3C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31920"/>
            <a:ext cx="1143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C1362D6-DC8B-4007-B30A-A0C456E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2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 • Mobile • Realtime • Loyalty • Affiliate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AAE5B1A3-D003-4ACB-ACB7-81D65B0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388" y="4723537"/>
            <a:ext cx="21488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9D90A6F3-00BC-4481-80C1-5039421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739E9B7-F6BC-430D-8417-815CB0A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8188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NHÓM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295B5B06-5108-4337-94BC-2EFCBED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992734"/>
            <a:ext cx="149306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Predator Group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9289165E-442D-4CD0-A161-BCF7296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709160"/>
            <a:ext cx="274320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406FEA9-D021-4817-B102-CD06F65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8BD7B07C-579C-4EFB-8C79-C1D6362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8888"/>
            <a:ext cx="187451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GV HƯỚNG DẪN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2789E0D-81CD-4E04-8B9E-76FE27E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912"/>
            <a:ext cx="1874519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Lê Hồng Sơn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1315D13-308F-43C4-8F76-32FCF02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989320"/>
            <a:ext cx="50749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8A8A0BD-A22A-4936-89CC-5BC36DF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60990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WEBSITE LAPTOP &amp; ACCESSORIES — 2026</a:t>
            </a:r>
          </a:p>
        </p:txBody>
      </p:sp>
      <p:pic>
        <p:nvPicPr>
          <p:cNvPr id="96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c0c51ef40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8124" y="493667"/>
            <a:ext cx="9408488" cy="6272325"/>
          </a:xfrm>
          <a:prstGeom xmlns:a="http://schemas.openxmlformats.org/drawingml/2006/main" prst="rect">
            <a:avLst/>
          </a:prstGeom>
        </p:spPr>
      </p:pic>
      <p:pic>
        <p:nvPicPr>
          <p:cNvPr id="97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65f3c4a204a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24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4A025605-F0B3-41B8-B5F3-51F2F2C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411D2B-898E-4C39-BECB-BC7A9F1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A801330-5569-4F13-83CB-45A6151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6015FF0-77EC-4478-8A39-3D911EA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3DC8A6D-6CFF-4770-A5C8-2A5E7AB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BB76386-E112-4770-A214-A11729C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0BF5E27-D525-4AC4-9662-EDC85BD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3043E73-ACEB-4293-88F2-7C545B3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9022519-C90A-4471-B8EC-57DCE3B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D326B92-7238-4125-81E4-47DF4C3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FEC2790-F002-4361-8BB6-7A7DEA0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70EFFD2-4F32-45C8-9E32-FC8AE3B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7920AA0-0F35-4BA0-A59B-DFC1F3D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0EA6D6A-3B8A-4771-953F-95BE5AC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3D3E3E4-428A-47C6-B303-43FDFED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783B5B46-4682-4578-BD30-AAE918D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EFC74F3-2798-4136-BB9A-A5155D2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B403AB6-5E06-4636-B915-4131949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7E36FED-A4A1-4075-8826-B630C89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B581CD0-2ACD-443D-96A2-FBF01A3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EBD716A3-A608-4F57-9C17-35D2EE9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9F82653-738C-4E48-9EDE-BE8D954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F14494B-4C75-471B-826E-B54B0D1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76DCE626-952B-409F-8BCD-C9CF4B8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D70FC067-C73B-4082-A57D-AB0CB31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307F995-F8CD-421A-A2A9-25A430F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D00EA78-0ACF-4329-A5BE-D19191B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EEB4C182-D82D-4F9A-B7BA-7184D09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C467A3FB-59EA-4BAB-9FE6-751C16F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84024D1F-DEDC-4CC6-8FF7-C992729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D4B50B5-5ADB-441F-9160-8A85524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06FAE3BE-C8B0-49F5-8A38-7B7CFC0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0484D58-8F20-41FE-9024-72D3D3E7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B8C5C28-EC4F-46F4-9A51-D53C54C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23A5724A-AB74-4FF7-9A0D-92482F0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E6D21730-744D-4023-8163-E2C86C0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B02E72A2-5B5E-4844-9459-414EB666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9D16E7-EBE5-4F8C-B76A-75183A9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240FB6F-4B94-4DB1-BB36-B42CE03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D3D1FC6-CF05-42E5-86FD-9D3E9B9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74CFEE07-ABB5-469E-A17C-051EB41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41933C2-E68A-452C-A31C-F98AD2EE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0AAB9B5F-CF91-4A50-B791-97E96EC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031628FB-7837-42FD-AF4F-4885508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EE701BE-7A09-42FA-BB09-8026ECB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FDA7EAD-9778-4D6E-830B-AB4446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F410B8C7-49AE-4E11-B3EC-DD4BD5A2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35CA3F-B4E8-4A61-9B8B-ABC64186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2F08AFF-6942-4224-96AB-3A55D5E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ECFEBA03-F1E6-4E2A-8ED4-BC6222F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2AA74424-4AEB-4C28-8780-CFEA464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9CAB9071-2E2A-4C8E-A00D-F9BD580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DC937E78-6ED8-459A-B33C-090AC42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09D84CD5-39A9-4C80-9942-EA53AA5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4E3D79B9-1F2C-44E1-AD30-4F01698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AAF61AA2-CC04-4BD8-9107-2AF0430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2327B75C-B161-4093-9BA4-CDBAFFF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5EB06989-2F27-4FCD-9FEA-392BB35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BCBBC43F-8C01-40BE-81D4-6C1446A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AA0E56B9-CECC-4D63-8AB6-0A00C67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D69DDD3-708D-4350-85B2-EE24744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82902ECD-A090-4B86-8133-B1BED56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3CA12D43-C5C3-4934-B68D-50B77F4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47DF6157-CB06-4746-9784-43F69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843CE5CD-3F90-4A07-9EE3-A8DABB2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4AF2F932-E264-4EE0-81FD-E4090E4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B0F9A42A-68A2-44E6-B433-805688A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9B3693D9-1E86-4460-A976-00F7948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6E647349-2D8D-4BEB-B290-68242D3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1B3BE540-20EB-497E-927E-1FF0FDDA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9CE9E9C2-AA3D-41BC-8468-12B4008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40F3DA12-9704-447B-932E-8C2427B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197DF63D-FF00-4E16-9E4F-AA60272F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E68299BC-7C3A-46C7-82D9-5F7493D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1205AE50-6220-405A-A7BA-797CA4F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1CE57B86-7539-4752-AAD3-A87E855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8482EFB2-649C-4DA6-92F8-25DC70B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E12C6D0D-BE16-4D7D-811B-FA3C331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BFC176D6-48DA-4E61-BA2B-533B9AB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160709FC-5436-4AD5-935A-5525C26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E3629B00-FEE5-4382-8257-DDF8A14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F3ABE733-B8DB-4DDE-BCC4-0276581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933DE847-BB85-45F6-93EC-C8234DD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E39C11CF-928B-4F2E-B954-4F8AC7A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47E69115-6F80-4A07-8E1F-C3B28A20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4713922F-366E-48C7-AD63-943BA2FC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EDD833AE-5B2F-4433-BF57-9C8FD01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CD25A5B-453C-40E8-A03E-2D25AE0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ACCE2938-7B17-4ECF-8FB0-057ED91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Oval 90">
            <a:extLst xmlns:a="http://schemas.openxmlformats.org/drawingml/2006/main">
              <a:ext uri="{FF2B5EF4-FFF2-40B4-BE49-F238E27FC236}">
                <a16:creationId xmlns:a16="http://schemas.microsoft.com/office/drawing/2014/main" id="{C8C34BFE-518E-4F4B-85E5-D7F3D9E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Oval 91">
            <a:extLst xmlns:a="http://schemas.openxmlformats.org/drawingml/2006/main">
              <a:ext uri="{FF2B5EF4-FFF2-40B4-BE49-F238E27FC236}">
                <a16:creationId xmlns:a16="http://schemas.microsoft.com/office/drawing/2014/main" id="{9016540A-3256-472B-9A5C-B5F781A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0934BFD8-4769-4B13-AF08-11ED68E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B1061CC6-CB3E-4350-AA80-FB36130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7DED6BF6-9F3B-4127-B159-154222C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156D3DA9-20EE-49AB-AC45-13E599A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DD5F60AC-EFEF-4B94-B82E-27785AE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4736582B-08DA-4702-856E-3BA3897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BAB344A1-439B-4BD2-B159-E8BAC2A2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31752AC3-7166-4D9F-9B54-BCBD2BA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775881B8-F9C4-44B9-9F12-90CE370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F96446E4-FA57-465D-898D-3CB1C8D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B95D46C5-F9A3-4C9C-B305-5013D95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8ACB94B6-7D0A-44AB-82D3-13520F8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3F89CEBD-6FEE-4BC6-B759-B5BAEF1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07BD8640-5B5D-4257-9199-62064B3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93B8725B-6A43-4E12-BB14-06D0566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84C7E0A8-C0D6-4081-A8D5-B53C0FA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F0CD7E6E-B50E-4FF5-97ED-357DD80A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F3B2352D-9E5B-419C-B6FE-0DF1B9D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C7A0DF60-1F3F-4154-B338-3D1BCF6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6C8FBD95-0771-4CFB-8D93-3C32D90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3159DCF6-916D-434F-A563-EE3A6F0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BE40E5B-3C97-499F-B30D-4D7D7C8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7704FB83-BB22-4903-B6DA-9382DBA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8085C537-AD50-453A-BC42-EBB0EF2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D1634B62-CCB1-47EB-9F9C-72C706D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7032598B-8886-4AD9-ADDD-9B78987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9" name="Oval 118">
            <a:extLst xmlns:a="http://schemas.openxmlformats.org/drawingml/2006/main">
              <a:ext uri="{FF2B5EF4-FFF2-40B4-BE49-F238E27FC236}">
                <a16:creationId xmlns:a16="http://schemas.microsoft.com/office/drawing/2014/main" id="{DE23874F-D6D2-4A06-8FD7-5239C66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Oval 119">
            <a:extLst xmlns:a="http://schemas.openxmlformats.org/drawingml/2006/main">
              <a:ext uri="{FF2B5EF4-FFF2-40B4-BE49-F238E27FC236}">
                <a16:creationId xmlns:a16="http://schemas.microsoft.com/office/drawing/2014/main" id="{1CFB6FE3-412E-4267-BD02-7B28B4B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1" name="Oval 120">
            <a:extLst xmlns:a="http://schemas.openxmlformats.org/drawingml/2006/main">
              <a:ext uri="{FF2B5EF4-FFF2-40B4-BE49-F238E27FC236}">
                <a16:creationId xmlns:a16="http://schemas.microsoft.com/office/drawing/2014/main" id="{BF0EA00B-2AF5-417D-9DC2-86BA76E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2" name="Oval 121">
            <a:extLst xmlns:a="http://schemas.openxmlformats.org/drawingml/2006/main">
              <a:ext uri="{FF2B5EF4-FFF2-40B4-BE49-F238E27FC236}">
                <a16:creationId xmlns:a16="http://schemas.microsoft.com/office/drawing/2014/main" id="{A611D7C9-75E1-4422-9BEE-F338A41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3" name="Oval 122">
            <a:extLst xmlns:a="http://schemas.openxmlformats.org/drawingml/2006/main">
              <a:ext uri="{FF2B5EF4-FFF2-40B4-BE49-F238E27FC236}">
                <a16:creationId xmlns:a16="http://schemas.microsoft.com/office/drawing/2014/main" id="{1CF01169-D229-4E3F-BBF9-538423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4" name="Oval 123">
            <a:extLst xmlns:a="http://schemas.openxmlformats.org/drawingml/2006/main">
              <a:ext uri="{FF2B5EF4-FFF2-40B4-BE49-F238E27FC236}">
                <a16:creationId xmlns:a16="http://schemas.microsoft.com/office/drawing/2014/main" id="{046D5971-9675-4D39-BD50-0CA32A0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5" name="Oval 124">
            <a:extLst xmlns:a="http://schemas.openxmlformats.org/drawingml/2006/main">
              <a:ext uri="{FF2B5EF4-FFF2-40B4-BE49-F238E27FC236}">
                <a16:creationId xmlns:a16="http://schemas.microsoft.com/office/drawing/2014/main" id="{8645645E-05DA-46C3-8631-1CB4A1F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6" name="Oval 125">
            <a:extLst xmlns:a="http://schemas.openxmlformats.org/drawingml/2006/main">
              <a:ext uri="{FF2B5EF4-FFF2-40B4-BE49-F238E27FC236}">
                <a16:creationId xmlns:a16="http://schemas.microsoft.com/office/drawing/2014/main" id="{8E41924B-BEB3-46F4-B17A-0D94893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7" name="Oval 126">
            <a:extLst xmlns:a="http://schemas.openxmlformats.org/drawingml/2006/main">
              <a:ext uri="{FF2B5EF4-FFF2-40B4-BE49-F238E27FC236}">
                <a16:creationId xmlns:a16="http://schemas.microsoft.com/office/drawing/2014/main" id="{CA7A1DA1-D39C-42E4-BBFF-23A15B1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8" name="Oval 127">
            <a:extLst xmlns:a="http://schemas.openxmlformats.org/drawingml/2006/main">
              <a:ext uri="{FF2B5EF4-FFF2-40B4-BE49-F238E27FC236}">
                <a16:creationId xmlns:a16="http://schemas.microsoft.com/office/drawing/2014/main" id="{6788949F-CB35-42B4-A016-827C142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9" name="Oval 128">
            <a:extLst xmlns:a="http://schemas.openxmlformats.org/drawingml/2006/main">
              <a:ext uri="{FF2B5EF4-FFF2-40B4-BE49-F238E27FC236}">
                <a16:creationId xmlns:a16="http://schemas.microsoft.com/office/drawing/2014/main" id="{C47302D0-F13D-4A59-89A2-FBE4AE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0" name="Oval 129">
            <a:extLst xmlns:a="http://schemas.openxmlformats.org/drawingml/2006/main">
              <a:ext uri="{FF2B5EF4-FFF2-40B4-BE49-F238E27FC236}">
                <a16:creationId xmlns:a16="http://schemas.microsoft.com/office/drawing/2014/main" id="{E3186F40-0BF9-4A36-A44F-3B6258D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1" name="Oval 130">
            <a:extLst xmlns:a="http://schemas.openxmlformats.org/drawingml/2006/main">
              <a:ext uri="{FF2B5EF4-FFF2-40B4-BE49-F238E27FC236}">
                <a16:creationId xmlns:a16="http://schemas.microsoft.com/office/drawing/2014/main" id="{0A964AFB-D9C5-44C6-8354-47682CE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2" name="Oval 131">
            <a:extLst xmlns:a="http://schemas.openxmlformats.org/drawingml/2006/main">
              <a:ext uri="{FF2B5EF4-FFF2-40B4-BE49-F238E27FC236}">
                <a16:creationId xmlns:a16="http://schemas.microsoft.com/office/drawing/2014/main" id="{4FC951E4-47B0-44D8-B93A-DAE941B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3" name="Oval 132">
            <a:extLst xmlns:a="http://schemas.openxmlformats.org/drawingml/2006/main">
              <a:ext uri="{FF2B5EF4-FFF2-40B4-BE49-F238E27FC236}">
                <a16:creationId xmlns:a16="http://schemas.microsoft.com/office/drawing/2014/main" id="{D715BF52-F3B4-4D80-B421-006F74C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4" name="Oval 133">
            <a:extLst xmlns:a="http://schemas.openxmlformats.org/drawingml/2006/main">
              <a:ext uri="{FF2B5EF4-FFF2-40B4-BE49-F238E27FC236}">
                <a16:creationId xmlns:a16="http://schemas.microsoft.com/office/drawing/2014/main" id="{DC5252E5-9812-4617-926D-A6C4E98A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5" name="Oval 134">
            <a:extLst xmlns:a="http://schemas.openxmlformats.org/drawingml/2006/main">
              <a:ext uri="{FF2B5EF4-FFF2-40B4-BE49-F238E27FC236}">
                <a16:creationId xmlns:a16="http://schemas.microsoft.com/office/drawing/2014/main" id="{7AB6939C-1F46-4CFA-8EEE-FCD6C29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6" name="Oval 135">
            <a:extLst xmlns:a="http://schemas.openxmlformats.org/drawingml/2006/main">
              <a:ext uri="{FF2B5EF4-FFF2-40B4-BE49-F238E27FC236}">
                <a16:creationId xmlns:a16="http://schemas.microsoft.com/office/drawing/2014/main" id="{B6C717F7-873E-4A1E-9B02-39B4B22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F5130E84-62C1-4652-99B5-4241D6B3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84048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9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THÀNH VIÊN NHÓM</a:t>
            </a:r>
          </a:p>
        </p:txBody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106EB42F-60F6-4FD1-B5AB-0278158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161288"/>
            <a:ext cx="212140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9" name="Oval 138">
            <a:extLst xmlns:a="http://schemas.openxmlformats.org/drawingml/2006/main">
              <a:ext uri="{FF2B5EF4-FFF2-40B4-BE49-F238E27FC236}">
                <a16:creationId xmlns:a16="http://schemas.microsoft.com/office/drawing/2014/main" id="{358B0E5E-3223-4EB5-8CBA-AA5B6050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11099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635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7230E6E6-D6D4-4572-9B47-C8EC54E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161288"/>
            <a:ext cx="212140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C9A7EC07-F3A4-4B18-B91B-84C495E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80160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067D2"/>
                </a:solidFill>
                <a:latin typeface="Arial"/>
                <a:ea typeface="Arial"/>
                <a:cs typeface="Arial"/>
              </a:rPr>
              <a:t>Một sản phẩm hoàn chỉnh được tạo nên từ sự phối hợp của 7 thành viên</a:t>
            </a:r>
          </a:p>
        </p:txBody>
      </p:sp>
      <p:sp>
        <p:nvSpPr>
          <p:cNvPr id="142" name="Oval 141">
            <a:extLst xmlns:a="http://schemas.openxmlformats.org/drawingml/2006/main">
              <a:ext uri="{FF2B5EF4-FFF2-40B4-BE49-F238E27FC236}">
                <a16:creationId xmlns:a16="http://schemas.microsoft.com/office/drawing/2014/main" id="{9FD08BAD-38D1-4575-8DD3-7584C1C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8346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3" name="Oval 142">
            <a:extLst xmlns:a="http://schemas.openxmlformats.org/drawingml/2006/main">
              <a:ext uri="{FF2B5EF4-FFF2-40B4-BE49-F238E27FC236}">
                <a16:creationId xmlns:a16="http://schemas.microsoft.com/office/drawing/2014/main" id="{7B0BFA73-4A78-44FA-8EFA-CFC7BF9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3749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45F62C4C-C5DD-4C38-AD1A-FCA44CE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38912"/>
            <a:ext cx="804672" cy="33832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5" name="Oval 144">
            <a:extLst xmlns:a="http://schemas.openxmlformats.org/drawingml/2006/main">
              <a:ext uri="{FF2B5EF4-FFF2-40B4-BE49-F238E27FC236}">
                <a16:creationId xmlns:a16="http://schemas.microsoft.com/office/drawing/2014/main" id="{3D2036D0-7672-4B8B-8682-6BCD881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566928"/>
            <a:ext cx="877824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6" name="Oval 145">
            <a:extLst xmlns:a="http://schemas.openxmlformats.org/drawingml/2006/main">
              <a:ext uri="{FF2B5EF4-FFF2-40B4-BE49-F238E27FC236}">
                <a16:creationId xmlns:a16="http://schemas.microsoft.com/office/drawing/2014/main" id="{DAC33E7A-7D43-49B6-8AC5-4D51626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072" y="7589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96E1"/>
          </a:solidFill>
          <a:ln xmlns:a="http://schemas.openxmlformats.org/drawingml/2006/main" w="6350">
            <a:solidFill>
              <a:srgbClr val="5596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7" name="Oval 146">
            <a:extLst xmlns:a="http://schemas.openxmlformats.org/drawingml/2006/main">
              <a:ext uri="{FF2B5EF4-FFF2-40B4-BE49-F238E27FC236}">
                <a16:creationId xmlns:a16="http://schemas.microsoft.com/office/drawing/2014/main" id="{64B310AF-D226-4EE7-8BA8-62EE307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877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FE2E05A8-50D7-4364-900F-19DF915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72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9" name="Rounded Rectangle 148">
            <a:extLst xmlns:a="http://schemas.openxmlformats.org/drawingml/2006/main">
              <a:ext uri="{FF2B5EF4-FFF2-40B4-BE49-F238E27FC236}">
                <a16:creationId xmlns:a16="http://schemas.microsoft.com/office/drawing/2014/main" id="{8ED4F02D-D718-46AB-8DEF-71DF2A53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0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CE7A7E8B-670C-4241-ADF3-375E4B2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21F94E00-C478-4DBF-99AB-ADAF776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216121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2" name="Rounded Rectangle 151">
            <a:extLst xmlns:a="http://schemas.openxmlformats.org/drawingml/2006/main">
              <a:ext uri="{FF2B5EF4-FFF2-40B4-BE49-F238E27FC236}">
                <a16:creationId xmlns:a16="http://schemas.microsoft.com/office/drawing/2014/main" id="{720EC04F-EFC7-4943-8952-4628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" name="Oval 152">
            <a:extLst xmlns:a="http://schemas.openxmlformats.org/drawingml/2006/main">
              <a:ext uri="{FF2B5EF4-FFF2-40B4-BE49-F238E27FC236}">
                <a16:creationId xmlns:a16="http://schemas.microsoft.com/office/drawing/2014/main" id="{C64B3566-3128-4F06-A217-1616C6B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4" name="Oval 153">
            <a:extLst xmlns:a="http://schemas.openxmlformats.org/drawingml/2006/main">
              <a:ext uri="{FF2B5EF4-FFF2-40B4-BE49-F238E27FC236}">
                <a16:creationId xmlns:a16="http://schemas.microsoft.com/office/drawing/2014/main" id="{3F25DA9F-C693-4992-99A0-148A08DF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5" name="Isosceles Triangle 154">
            <a:extLst xmlns:a="http://schemas.openxmlformats.org/drawingml/2006/main">
              <a:ext uri="{FF2B5EF4-FFF2-40B4-BE49-F238E27FC236}">
                <a16:creationId xmlns:a16="http://schemas.microsoft.com/office/drawing/2014/main" id="{A1ADFF5A-A08F-4EE6-BB61-280B7AA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254683D4-9F4F-4061-90CA-B9D0A2FC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Trần Quốc Phong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C881F6B1-377A-44F4-940D-54CCAC9F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Nhóm trưởng</a:t>
            </a:r>
          </a:p>
        </p:txBody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9BD72133-C402-4EF1-A502-08883D6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AA2E0F64-7C0B-4F38-967F-5BB5C3D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0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ADC76707-94FF-47E8-8612-55D0551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78D194D1-78C1-462B-A2C4-4F2DA34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161" y="2172417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2" name="Rounded Rectangle 161">
            <a:extLst xmlns:a="http://schemas.openxmlformats.org/drawingml/2006/main">
              <a:ext uri="{FF2B5EF4-FFF2-40B4-BE49-F238E27FC236}">
                <a16:creationId xmlns:a16="http://schemas.microsoft.com/office/drawing/2014/main" id="{C15E1641-9CE5-45CA-AF79-DE4C6B5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3" name="Oval 162">
            <a:extLst xmlns:a="http://schemas.openxmlformats.org/drawingml/2006/main">
              <a:ext uri="{FF2B5EF4-FFF2-40B4-BE49-F238E27FC236}">
                <a16:creationId xmlns:a16="http://schemas.microsoft.com/office/drawing/2014/main" id="{A33629B9-C538-4B87-AA22-31C9146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4" name="Oval 163">
            <a:extLst xmlns:a="http://schemas.openxmlformats.org/drawingml/2006/main">
              <a:ext uri="{FF2B5EF4-FFF2-40B4-BE49-F238E27FC236}">
                <a16:creationId xmlns:a16="http://schemas.microsoft.com/office/drawing/2014/main" id="{B385E6C7-F3AE-435D-8060-81B41606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Isosceles Triangle 164">
            <a:extLst xmlns:a="http://schemas.openxmlformats.org/drawingml/2006/main">
              <a:ext uri="{FF2B5EF4-FFF2-40B4-BE49-F238E27FC236}">
                <a16:creationId xmlns:a16="http://schemas.microsoft.com/office/drawing/2014/main" id="{B591AFC5-CCAC-4B62-8C1E-2AAA6D7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6" name="TextBox 165">
            <a:extLst xmlns:a="http://schemas.openxmlformats.org/drawingml/2006/main">
              <a:ext uri="{FF2B5EF4-FFF2-40B4-BE49-F238E27FC236}">
                <a16:creationId xmlns:a16="http://schemas.microsoft.com/office/drawing/2014/main" id="{6E47F85D-61E2-46BB-8D58-9AA28DE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Lê Ngọc Tài</a:t>
            </a:r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FA7B65B3-81B7-4ECD-9F43-0721941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05F6D561-E627-4B98-9855-DE5B976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6828191-8213-4C8C-9BD5-4CEC9BC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Rounded Rectangle 169">
            <a:extLst xmlns:a="http://schemas.openxmlformats.org/drawingml/2006/main">
              <a:ext uri="{FF2B5EF4-FFF2-40B4-BE49-F238E27FC236}">
                <a16:creationId xmlns:a16="http://schemas.microsoft.com/office/drawing/2014/main" id="{FB5A113D-AB8F-4E33-A6A8-9D72103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TextBox 170">
            <a:extLst xmlns:a="http://schemas.openxmlformats.org/drawingml/2006/main">
              <a:ext uri="{FF2B5EF4-FFF2-40B4-BE49-F238E27FC236}">
                <a16:creationId xmlns:a16="http://schemas.microsoft.com/office/drawing/2014/main" id="{6CDF256E-FE67-43CC-A14A-E7C020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325140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2" name="Rounded Rectangle 171">
            <a:extLst xmlns:a="http://schemas.openxmlformats.org/drawingml/2006/main">
              <a:ext uri="{FF2B5EF4-FFF2-40B4-BE49-F238E27FC236}">
                <a16:creationId xmlns:a16="http://schemas.microsoft.com/office/drawing/2014/main" id="{508B0100-F2C6-4289-8EE7-6AEA83D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3" name="Oval 172">
            <a:extLst xmlns:a="http://schemas.openxmlformats.org/drawingml/2006/main">
              <a:ext uri="{FF2B5EF4-FFF2-40B4-BE49-F238E27FC236}">
                <a16:creationId xmlns:a16="http://schemas.microsoft.com/office/drawing/2014/main" id="{86FA0B7C-B458-4535-9F6A-92EBC949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4" name="Oval 173">
            <a:extLst xmlns:a="http://schemas.openxmlformats.org/drawingml/2006/main">
              <a:ext uri="{FF2B5EF4-FFF2-40B4-BE49-F238E27FC236}">
                <a16:creationId xmlns:a16="http://schemas.microsoft.com/office/drawing/2014/main" id="{DD624336-5C6F-43A1-A973-B951CEF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5" name="Isosceles Triangle 174">
            <a:extLst xmlns:a="http://schemas.openxmlformats.org/drawingml/2006/main">
              <a:ext uri="{FF2B5EF4-FFF2-40B4-BE49-F238E27FC236}">
                <a16:creationId xmlns:a16="http://schemas.microsoft.com/office/drawing/2014/main" id="{C2BA6AD0-D23C-4334-A4E9-79577CD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TextBox 175">
            <a:extLst xmlns:a="http://schemas.openxmlformats.org/drawingml/2006/main">
              <a:ext uri="{FF2B5EF4-FFF2-40B4-BE49-F238E27FC236}">
                <a16:creationId xmlns:a16="http://schemas.microsoft.com/office/drawing/2014/main" id="{32BE607B-A020-4F6B-A94B-152B551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Lạc Mạnh Quân</a:t>
            </a:r>
          </a:p>
        </p:txBody>
      </p:sp>
      <p:sp>
        <p:nvSpPr>
          <p:cNvPr id="177" name="TextBox 176">
            <a:extLst xmlns:a="http://schemas.openxmlformats.org/drawingml/2006/main">
              <a:ext uri="{FF2B5EF4-FFF2-40B4-BE49-F238E27FC236}">
                <a16:creationId xmlns:a16="http://schemas.microsoft.com/office/drawing/2014/main" id="{7A2B0273-7754-45B3-AC24-D5D5BF7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CB778DD6-C778-4EED-9875-968763C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Rounded Rectangle 178">
            <a:extLst xmlns:a="http://schemas.openxmlformats.org/drawingml/2006/main">
              <a:ext uri="{FF2B5EF4-FFF2-40B4-BE49-F238E27FC236}">
                <a16:creationId xmlns:a16="http://schemas.microsoft.com/office/drawing/2014/main" id="{B7F16549-C725-41D5-AC6A-EADA26E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0" name="Rounded Rectangle 179">
            <a:extLst xmlns:a="http://schemas.openxmlformats.org/drawingml/2006/main">
              <a:ext uri="{FF2B5EF4-FFF2-40B4-BE49-F238E27FC236}">
                <a16:creationId xmlns:a16="http://schemas.microsoft.com/office/drawing/2014/main" id="{0BDCA736-7423-40DE-B82E-5A36341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1" name="TextBox 180">
            <a:extLst xmlns:a="http://schemas.openxmlformats.org/drawingml/2006/main">
              <a:ext uri="{FF2B5EF4-FFF2-40B4-BE49-F238E27FC236}">
                <a16:creationId xmlns:a16="http://schemas.microsoft.com/office/drawing/2014/main" id="{B92994DD-ABF2-4173-9EB0-1101642E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324020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603BEF38-CE3D-4D3A-8ABA-F3555F2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Oval 182">
            <a:extLst xmlns:a="http://schemas.openxmlformats.org/drawingml/2006/main">
              <a:ext uri="{FF2B5EF4-FFF2-40B4-BE49-F238E27FC236}">
                <a16:creationId xmlns:a16="http://schemas.microsoft.com/office/drawing/2014/main" id="{84581774-8D30-4695-A1CC-308A2D9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Oval 183">
            <a:extLst xmlns:a="http://schemas.openxmlformats.org/drawingml/2006/main">
              <a:ext uri="{FF2B5EF4-FFF2-40B4-BE49-F238E27FC236}">
                <a16:creationId xmlns:a16="http://schemas.microsoft.com/office/drawing/2014/main" id="{2AC0E24A-A0EB-4E2A-907D-1472E731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Isosceles Triangle 184">
            <a:extLst xmlns:a="http://schemas.openxmlformats.org/drawingml/2006/main">
              <a:ext uri="{FF2B5EF4-FFF2-40B4-BE49-F238E27FC236}">
                <a16:creationId xmlns:a16="http://schemas.microsoft.com/office/drawing/2014/main" id="{620A5EC7-C1ED-494E-9EBA-29CFECE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6" name="TextBox 185">
            <a:extLst xmlns:a="http://schemas.openxmlformats.org/drawingml/2006/main">
              <a:ext uri="{FF2B5EF4-FFF2-40B4-BE49-F238E27FC236}">
                <a16:creationId xmlns:a16="http://schemas.microsoft.com/office/drawing/2014/main" id="{925DA788-56D1-44D8-BE4B-F27513B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Thiết Niê</a:t>
            </a: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CEA09F45-122A-4C9D-B2BE-00E49AB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CA1BB213-D475-4D9D-885F-71D7507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9" name="Rounded Rectangle 188">
            <a:extLst xmlns:a="http://schemas.openxmlformats.org/drawingml/2006/main">
              <a:ext uri="{FF2B5EF4-FFF2-40B4-BE49-F238E27FC236}">
                <a16:creationId xmlns:a16="http://schemas.microsoft.com/office/drawing/2014/main" id="{CCA9CF20-996A-455C-A626-53786B4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Rounded Rectangle 189">
            <a:extLst xmlns:a="http://schemas.openxmlformats.org/drawingml/2006/main">
              <a:ext uri="{FF2B5EF4-FFF2-40B4-BE49-F238E27FC236}">
                <a16:creationId xmlns:a16="http://schemas.microsoft.com/office/drawing/2014/main" id="{148358EF-5E24-4FDA-893A-1B537EB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BC402D71-C4A7-48B3-AEF6-4A4E3D8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433040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2" name="Rounded Rectangle 191">
            <a:extLst xmlns:a="http://schemas.openxmlformats.org/drawingml/2006/main">
              <a:ext uri="{FF2B5EF4-FFF2-40B4-BE49-F238E27FC236}">
                <a16:creationId xmlns:a16="http://schemas.microsoft.com/office/drawing/2014/main" id="{0DD20917-6A81-4C61-BEB0-80474BD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3" name="Oval 192">
            <a:extLst xmlns:a="http://schemas.openxmlformats.org/drawingml/2006/main">
              <a:ext uri="{FF2B5EF4-FFF2-40B4-BE49-F238E27FC236}">
                <a16:creationId xmlns:a16="http://schemas.microsoft.com/office/drawing/2014/main" id="{59510AD1-D98E-49B3-BF63-890EB49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8C4EBE8F-29C6-456B-82D3-C242B968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Isosceles Triangle 194">
            <a:extLst xmlns:a="http://schemas.openxmlformats.org/drawingml/2006/main">
              <a:ext uri="{FF2B5EF4-FFF2-40B4-BE49-F238E27FC236}">
                <a16:creationId xmlns:a16="http://schemas.microsoft.com/office/drawing/2014/main" id="{320E81AD-00DA-4774-92D4-E11596A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TextBox 195">
            <a:extLst xmlns:a="http://schemas.openxmlformats.org/drawingml/2006/main">
              <a:ext uri="{FF2B5EF4-FFF2-40B4-BE49-F238E27FC236}">
                <a16:creationId xmlns:a16="http://schemas.microsoft.com/office/drawing/2014/main" id="{6CCAD4E5-73A7-4348-959E-BF61974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181818"/>
            <a:ext cx="105804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8306F"/>
                </a:solidFill>
              </a:rPr>
              <a:t>Y Pak </a:t>
            </a:r>
            <a:r>
              <a:rPr sz="1500" b="1">
                <a:solidFill>
                  <a:srgbClr val="08306F"/>
                </a:solidFill>
              </a:rPr>
              <a:t>Ayŭn</a:t>
            </a:r>
            <a:endParaRPr b="1"/>
          </a:p>
        </p:txBody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8D1B1D75-B7E0-4B5A-8BC3-0915BA9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D35D01A6-4390-4D95-863E-51604D2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9" name="Rounded Rectangle 198">
            <a:extLst xmlns:a="http://schemas.openxmlformats.org/drawingml/2006/main">
              <a:ext uri="{FF2B5EF4-FFF2-40B4-BE49-F238E27FC236}">
                <a16:creationId xmlns:a16="http://schemas.microsoft.com/office/drawing/2014/main" id="{80FA8127-8358-4A1A-88DE-EB23A5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" name="Rounded Rectangle 199">
            <a:extLst xmlns:a="http://schemas.openxmlformats.org/drawingml/2006/main">
              <a:ext uri="{FF2B5EF4-FFF2-40B4-BE49-F238E27FC236}">
                <a16:creationId xmlns:a16="http://schemas.microsoft.com/office/drawing/2014/main" id="{011A3F4E-F853-41B9-A7C7-216A2AAB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A16C5A01-26F9-416F-8C51-F417C9C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430798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2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21F17367-5C7A-43ED-ACCE-77C5B92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3" name="Oval 202">
            <a:extLst xmlns:a="http://schemas.openxmlformats.org/drawingml/2006/main">
              <a:ext uri="{FF2B5EF4-FFF2-40B4-BE49-F238E27FC236}">
                <a16:creationId xmlns:a16="http://schemas.microsoft.com/office/drawing/2014/main" id="{BFDC66B6-1C00-405D-84E9-B75B0ED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4" name="Oval 203">
            <a:extLst xmlns:a="http://schemas.openxmlformats.org/drawingml/2006/main">
              <a:ext uri="{FF2B5EF4-FFF2-40B4-BE49-F238E27FC236}">
                <a16:creationId xmlns:a16="http://schemas.microsoft.com/office/drawing/2014/main" id="{44DF5F0F-AF31-4A9D-B48D-9A0BDF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5" name="Isosceles Triangle 204">
            <a:extLst xmlns:a="http://schemas.openxmlformats.org/drawingml/2006/main">
              <a:ext uri="{FF2B5EF4-FFF2-40B4-BE49-F238E27FC236}">
                <a16:creationId xmlns:a16="http://schemas.microsoft.com/office/drawing/2014/main" id="{5C6DFDA7-3A90-4390-A174-C4888DF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6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17C7A4C-7D54-40D7-BDA9-EBDEAC7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62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Quách Đức Thành</a:t>
            </a:r>
          </a:p>
        </p:txBody>
      </p:sp>
      <p:sp>
        <p:nvSpPr>
          <p:cNvPr id="207" name="TextBox 206">
            <a:extLst xmlns:a="http://schemas.openxmlformats.org/drawingml/2006/main">
              <a:ext uri="{FF2B5EF4-FFF2-40B4-BE49-F238E27FC236}">
                <a16:creationId xmlns:a16="http://schemas.microsoft.com/office/drawing/2014/main" id="{F37321C1-1B70-4FF6-BC78-F9DC813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2DD0AF8A-93B5-4DDE-B507-6AFDE5C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9" name="Rounded Rectangle 208">
            <a:extLst xmlns:a="http://schemas.openxmlformats.org/drawingml/2006/main">
              <a:ext uri="{FF2B5EF4-FFF2-40B4-BE49-F238E27FC236}">
                <a16:creationId xmlns:a16="http://schemas.microsoft.com/office/drawing/2014/main" id="{5EEA47A1-37D7-42AC-87E5-E5B635F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5285231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0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CB5898F1-22EB-4E4D-BC22-3092EEA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23036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1" name="TextBox 210">
            <a:extLst xmlns:a="http://schemas.openxmlformats.org/drawingml/2006/main">
              <a:ext uri="{FF2B5EF4-FFF2-40B4-BE49-F238E27FC236}">
                <a16:creationId xmlns:a16="http://schemas.microsoft.com/office/drawing/2014/main" id="{FFF3B694-D4BB-4D68-A2DB-0CFF375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5" y="547546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2" name="Rounded Rectangle 211">
            <a:extLst xmlns:a="http://schemas.openxmlformats.org/drawingml/2006/main">
              <a:ext uri="{FF2B5EF4-FFF2-40B4-BE49-F238E27FC236}">
                <a16:creationId xmlns:a16="http://schemas.microsoft.com/office/drawing/2014/main" id="{61BB4162-ABEF-42A8-B7F3-4240D0E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23036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3" name="Oval 212">
            <a:extLst xmlns:a="http://schemas.openxmlformats.org/drawingml/2006/main">
              <a:ext uri="{FF2B5EF4-FFF2-40B4-BE49-F238E27FC236}">
                <a16:creationId xmlns:a16="http://schemas.microsoft.com/office/drawing/2014/main" id="{E5652509-1638-40A6-857D-1CE8875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321807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4" name="Oval 213">
            <a:extLst xmlns:a="http://schemas.openxmlformats.org/drawingml/2006/main">
              <a:ext uri="{FF2B5EF4-FFF2-40B4-BE49-F238E27FC236}">
                <a16:creationId xmlns:a16="http://schemas.microsoft.com/office/drawing/2014/main" id="{C1BBCDBD-737D-42E8-8464-CE97649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547268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5" name="Isosceles Triangle 214">
            <a:extLst xmlns:a="http://schemas.openxmlformats.org/drawingml/2006/main">
              <a:ext uri="{FF2B5EF4-FFF2-40B4-BE49-F238E27FC236}">
                <a16:creationId xmlns:a16="http://schemas.microsoft.com/office/drawing/2014/main" id="{9B98EC10-28EF-4897-B20F-8A5B62E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64184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6" name="TextBox 215">
            <a:extLst xmlns:a="http://schemas.openxmlformats.org/drawingml/2006/main">
              <a:ext uri="{FF2B5EF4-FFF2-40B4-BE49-F238E27FC236}">
                <a16:creationId xmlns:a16="http://schemas.microsoft.com/office/drawing/2014/main" id="{77C2A372-29D4-47D6-9F86-CE39957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34009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Đăng Niê</a:t>
            </a:r>
          </a:p>
        </p:txBody>
      </p:sp>
      <p:sp>
        <p:nvSpPr>
          <p:cNvPr id="217" name="TextBox 216">
            <a:extLst xmlns:a="http://schemas.openxmlformats.org/drawingml/2006/main">
              <a:ext uri="{FF2B5EF4-FFF2-40B4-BE49-F238E27FC236}">
                <a16:creationId xmlns:a16="http://schemas.microsoft.com/office/drawing/2014/main" id="{4B144930-85E9-4CF3-A085-224E5BB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66013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18" name="Connector 217">
            <a:extLst xmlns:a="http://schemas.openxmlformats.org/drawingml/2006/main">
              <a:ext uri="{FF2B5EF4-FFF2-40B4-BE49-F238E27FC236}">
                <a16:creationId xmlns:a16="http://schemas.microsoft.com/office/drawing/2014/main" id="{780C38BC-E13B-43FD-99D2-AD977D8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538581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9" name="Rectangle 218">
            <a:extLst xmlns:a="http://schemas.openxmlformats.org/drawingml/2006/main">
              <a:ext uri="{FF2B5EF4-FFF2-40B4-BE49-F238E27FC236}">
                <a16:creationId xmlns:a16="http://schemas.microsoft.com/office/drawing/2014/main" id="{16ED010A-691E-4F75-A4B7-0DDDC22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9199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59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8CE3D2DB-BE80-4425-A83F-AB727E2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999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C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1" name="Oval 220">
            <a:extLst xmlns:a="http://schemas.openxmlformats.org/drawingml/2006/main">
              <a:ext uri="{FF2B5EF4-FFF2-40B4-BE49-F238E27FC236}">
                <a16:creationId xmlns:a16="http://schemas.microsoft.com/office/drawing/2014/main" id="{56E93756-A44D-45C1-AFA7-A5E99A6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5623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2" name="Oval 221">
            <a:extLst xmlns:a="http://schemas.openxmlformats.org/drawingml/2006/main">
              <a:ext uri="{FF2B5EF4-FFF2-40B4-BE49-F238E27FC236}">
                <a16:creationId xmlns:a16="http://schemas.microsoft.com/office/drawing/2014/main" id="{6D3F9651-DFDE-4C8D-833F-1EB8148B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3" y="5769864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3" name="Oval 222">
            <a:extLst xmlns:a="http://schemas.openxmlformats.org/drawingml/2006/main">
              <a:ext uri="{FF2B5EF4-FFF2-40B4-BE49-F238E27FC236}">
                <a16:creationId xmlns:a16="http://schemas.microsoft.com/office/drawing/2014/main" id="{6156FA50-5BDA-4162-B538-B137C0F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4" name="Oval 223">
            <a:extLst xmlns:a="http://schemas.openxmlformats.org/drawingml/2006/main">
              <a:ext uri="{FF2B5EF4-FFF2-40B4-BE49-F238E27FC236}">
                <a16:creationId xmlns:a16="http://schemas.microsoft.com/office/drawing/2014/main" id="{D7A6598C-E608-4447-8B86-301B163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59893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5" name="Connector 224">
            <a:extLst xmlns:a="http://schemas.openxmlformats.org/drawingml/2006/main">
              <a:ext uri="{FF2B5EF4-FFF2-40B4-BE49-F238E27FC236}">
                <a16:creationId xmlns:a16="http://schemas.microsoft.com/office/drawing/2014/main" id="{9755A56A-A48E-4D68-BDF3-8D12293B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6080760"/>
            <a:ext cx="850392" cy="30175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6" name="Oval 225">
            <a:extLst xmlns:a="http://schemas.openxmlformats.org/drawingml/2006/main">
              <a:ext uri="{FF2B5EF4-FFF2-40B4-BE49-F238E27FC236}">
                <a16:creationId xmlns:a16="http://schemas.microsoft.com/office/drawing/2014/main" id="{94AD9125-3931-4EC5-86F0-11F405B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6345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3" name="Picture 2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8bb023089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EBF8EAC3-F37E-432A-ACE0-0804099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389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0BCE686-2A3D-4587-91CD-49D0CDA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" y="498347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191E061-71B0-4BDF-8369-806CF2C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8640"/>
            <a:ext cx="713232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AB924C6-33FF-47D9-92FE-D7A64AF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028" y="68122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 w="25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1EC4FBE-3A6F-4475-8050-80CB4A4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5029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A350504-E010-4DA8-8B3B-6780B80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85800"/>
            <a:ext cx="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1C47ECC-199F-48CF-9D96-0305874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112471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BFF79F-7200-4078-AE21-A9F2240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234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380CDD-3BFC-4E20-B47D-15A3537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9728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DDD03F5-A162-4D97-BF98-23F1062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47672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F50537-99DF-4C05-A75F-C9080F2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BÀI TOÁN &amp; GIẢI PHÁP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CBFFFF-9969-4072-AFD4-002B798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25880"/>
            <a:ext cx="6858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Không chỉ là một website bán hàng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C86125-D7B1-46B9-A689-95AB942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011680"/>
            <a:ext cx="7040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626C78"/>
                </a:solidFill>
                <a:latin typeface="Arial"/>
                <a:ea typeface="Arial"/>
                <a:cs typeface="Arial"/>
              </a:rPr>
              <a:t>NextGen kết nối toàn bộ hành trình khách hàng và vận hành doanh nghiệp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8479639-1BB9-4C77-B7A7-C076C9B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71780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E6F6E33-899D-491A-A59C-25C27AC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82296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56C815-1B2C-4219-9E7E-484507F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05409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GIẢI PHÁP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D3504D-6150-4EBF-8648-F894C8C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430893"/>
            <a:ext cx="6660798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Một nền tảng đa kênh kết nối mua sắm, thanh toán, chăm sóc và vận hành.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85003F1-7ABE-4157-859A-2597B99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4C85BBF-D8DF-4314-B809-2BAA380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72" y="4419801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5E953C-DAC2-495C-A427-5BF63F7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9" y="4434179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4A7E2E-7992-44B7-B4B7-A809809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Đa nền tảng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FB15EC2-E045-403E-A00A-A0E04FD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4ECAE6C4-68BA-42BD-9E4E-26DACD8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42" y="4434179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C06D4F-DB28-4CCC-85BD-F862369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986" y="4456377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B5B48DA-8566-4F1E-A23D-917FB09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7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Dữ liệu thật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228A53F-B972-459D-9D42-3AF2C286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C848635C-52A1-4844-B05B-73799EB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56" y="44485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AF5933-7AA4-4CFD-8E81-1D01420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4466844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BCADBC9-3A7C-433D-A64A-066CB3D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Vận hành thật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39AECD-8A7D-4D8B-923F-9514789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504688"/>
            <a:ext cx="7223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WEB • MOBILE • API • REALTIME</a:t>
            </a: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3A5F542-E642-4BE5-81AB-1F38762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925312"/>
            <a:ext cx="71780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1A6C02F-E952-4BF2-91DB-6F4BFB4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8371C234-CE69-4069-8648-3872ABD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FEBEBA9-5383-4998-A526-FC39B15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FEF4D023-4DE4-4959-8F75-BC3430A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0420FA1E-99B6-4960-89C7-6F660295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E8E5ED5-7B45-4B72-9F16-4909E38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40DB7F30-9019-4452-8FC3-9DEE521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0BDA9B51-B030-490E-B9C4-B9BFE97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2E38FBE-1DEE-41CD-9BE3-C13B7C4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0C6D6760-0CAD-485B-8416-BA2C4A11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E60E427B-F8E7-4846-BD4F-BFD1E02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EE077CFE-E52A-4D45-8CCF-B4B368B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F5EFDAF4-9A72-40A3-8B0E-81F2661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3D20607-3EFF-4E17-B9A0-14A4E68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C5C2D79-4261-4849-81AF-995B5E5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0F0D622D-55AC-435F-9A1E-2AA8960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CA61CDDD-E387-4809-94E0-42915CD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C4ABFB9E-A985-4641-B4D3-AF9BFCE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1240765B-782F-4537-B198-5D4E0CA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8AFFB6FA-92EF-4B98-A314-012D270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21FFF894-5208-4C66-AE8A-57B7794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7005F318-A7AF-42A7-935F-07DDE847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AC583EDE-B388-4A1F-9B57-92C54B5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2A22DB2B-76B9-45A2-B98B-45EB8C61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E5DD3D1-FFAA-465B-9A70-FFDCD4C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F327E711-BAB6-46FF-84C9-81ECB6F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EDA75EFA-8DC1-4CD7-858C-AA6C4BC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6FE81839-D1CF-4D18-904F-1B4F3E69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23A5629B-61E9-47BF-AC89-3390E68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A4F0631-34C2-4C02-A68B-0A8E6C5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AF266603-8A3D-41D7-99EE-0050F90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7566E464-790B-42B6-A779-4BA0767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CBD9BCC7-06ED-47F5-A6D4-F91971E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EB14DFEC-9FB5-4907-BCC4-53F4E98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34B560FB-E1C3-4077-B80B-81C886F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FEFC9A8F-FA16-4BA0-812A-1954591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2899A81D-80C6-47E9-85B0-8159691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406D32F9-EECD-4474-A5F9-1595D73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05328AB3-4833-48AC-9109-157B833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4EBD0E6E-CCB5-4510-8109-51CBA64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EFAB01BA-077C-4C78-9FD4-347F839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7E69F098-B23D-4C03-BB9F-08BE8FE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35C7CD7A-5FC2-4D8B-975D-96B2E75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0EBB1A5C-7417-4C30-9495-5866ED9B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F343975-ED4C-4066-86F8-EEEEC1C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5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0aa61771f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386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4265119-F50D-4B81-82BC-7E55EC9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54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89D94B6-3DEE-4191-8836-3A762E6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" y="539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3CDB7481-D6A5-4553-8E85-5974BBB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"/>
            <a:ext cx="704088" cy="15544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1A325A22-6AFA-4480-94D0-1BC1310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51206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FEEEA85-04B8-4B17-832D-E144073F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76656"/>
            <a:ext cx="0" cy="55778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E5439EA-D2F8-410C-81CE-B77DB22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14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F6A8D86-B32E-472A-AB6F-A33C7838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243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0BF41-7165-4FFD-934B-A7102C5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90A93E-8A7C-4D33-99D6-A8B4DDF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435608"/>
            <a:ext cx="5943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9D138E-06B5-44C7-BCE8-B9F8D3E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841248"/>
            <a:ext cx="868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Ba nhóm người dùng — một luồng dữ liệu thống nhất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29FAEF-4DEF-48A0-B63E-152140E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444752"/>
            <a:ext cx="79552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D6977"/>
                </a:solidFill>
                <a:latin typeface="Arial"/>
                <a:ea typeface="Arial"/>
                <a:cs typeface="Arial"/>
              </a:rPr>
              <a:t>Thiết kế theo vai trò giúp mỗi người nhìn đúng chức năng cần thiết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F2E6084-7C7E-442C-94B9-CF1BF7E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D7D2C47-19D6-44FE-882A-5D5D6589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329187B-0304-4227-88D1-C5F4CC4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323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4F2E4A-1A92-43E2-B462-8F54CB6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0545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A75219-A411-4F90-B9A1-930D13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30428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F1A25F-0257-427D-87A4-823E2E9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56946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Tìm kiếm, so sánh, mua hàng, thanh toán, theo dõi đơn, đánh giá và nhận ưu đãi trên web hoặc mobile.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12553C3-E7D0-4068-A010-B9637C0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1EBD778-A651-4FD2-9A68-2AE590D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E1FA5A6-CB7D-4ED1-B95B-B5F2785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37124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EB4731-8A6C-4FF0-9A49-5736E3C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3785615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95915E-4C6E-423B-84FE-24F884E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58444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8AF4731-3506-476E-A5DD-CE6C7A4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849624"/>
            <a:ext cx="6903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Xử lý đơn, tư vấn realtime, chấm công khuôn mặt, theo dõi lịch làm và gửi đơn nghỉ phép.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F0EF156-6A7E-44E0-B535-B31E0D7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97FDC45-C0D2-4EEC-AE23-9803FFF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D73645A-41BC-4F78-9A72-22122A2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49926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C4065B7-648E-4C68-ACA8-3F2C438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06577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448ADB4-0A2C-463C-8772-346ACC6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6460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F1CCE4F-1EB8-425B-B677-C71AA6E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512978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Điều hành sản phẩm, tồn kho, marketing, affiliate, tài chính và nhân sự theo hệ thống phân quyền chi tiết.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286C26B-7988-4D45-B9A3-CF2C387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108192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3B8FB5-4398-4FC6-BD59-96BDE1D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2179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5D6977"/>
                </a:solidFill>
                <a:latin typeface="Arial"/>
                <a:ea typeface="Arial"/>
                <a:cs typeface="Arial"/>
              </a:rPr>
              <a:t>NEXTGEN — ROLE-BASED EXPERIENCE</a:t>
            </a:r>
          </a:p>
        </p:txBody>
      </p:sp>
      <p:pic>
        <p:nvPicPr>
          <p:cNvPr id="6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6e5c75db4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97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1B37433-EE8E-4E6E-A592-CECF89E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966" y="245623"/>
            <a:ext cx="786384" cy="786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317A-2DBA-4C22-BC6D-CBA452A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352" y="390132"/>
            <a:ext cx="600859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35E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0921D-1222-4BF0-B8C3-8803CD5A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867" y="175059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35EE1"/>
                </a:solidFill>
                <a:latin typeface="Arial"/>
                <a:ea typeface="Arial"/>
                <a:cs typeface="Arial"/>
              </a:rPr>
              <a:t>SẢN PHẨM THỰC TẾ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F1C924-F292-4BA4-AC63-0161EA1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395" y="420624"/>
            <a:ext cx="630936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GIAO DIỆN NEXTGEN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E797BA-2A88-4B03-B2CC-F9CA5D9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867" y="870003"/>
            <a:ext cx="6766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Thiết kế premium, responsive và đồng nhất xuyên suốt hành trình mua sắm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A238C-2D16-4EBC-9E57-8D49225D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286BA9B-4993-4B39-A92E-A85E6366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7F89EA-6163-478A-82C2-B79F2A6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" y="1419103"/>
            <a:ext cx="3520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FD7448-DF14-4F43-B621-F0B2723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TRANG CHỦ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3063568-6690-46D6-B32E-CAE3941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40864"/>
            <a:ext cx="2048256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TRẢI NGHIỆM PREMIUM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8271D06A-3E02-4F2A-A8C7-22AE9BF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02" y="4720498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23A1FD48-4F75-45F7-90C7-BFCD7A9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0435E334-1A5A-4155-9C26-C0A60B9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824C309-BF9F-4830-9E14-980D368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06" y="1419103"/>
            <a:ext cx="448055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9FB67FF-BAD0-4230-A840-24F952C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DANH SÁCH SẢN PHẨM</a:t>
            </a:r>
          </a:p>
        </p:txBody>
      </p:sp>
      <p:sp>
        <p:nvSpPr>
          <p:cNvPr id="104" name="Rounded Rectangle 103">
            <a:extLst xmlns:a="http://schemas.openxmlformats.org/drawingml/2006/main">
              <a:ext uri="{FF2B5EF4-FFF2-40B4-BE49-F238E27FC236}">
                <a16:creationId xmlns:a16="http://schemas.microsoft.com/office/drawing/2014/main" id="{32BB3CE3-48EB-4DA1-86A4-D402568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5F46C83D-C159-4B92-8634-ACF7C4E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04A94D7-5FEB-4586-83D3-1B50012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188" y="1445199"/>
            <a:ext cx="38396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1F6F6E87-933E-4566-9D79-70663AF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KHUYẾN MÃI &amp; LOYALTY</a:t>
            </a:r>
          </a:p>
        </p:txBody>
      </p:sp>
      <p:sp>
        <p:nvSpPr>
          <p:cNvPr id="143" name="Rounded Rectangle 142">
            <a:extLst xmlns:a="http://schemas.openxmlformats.org/drawingml/2006/main">
              <a:ext uri="{FF2B5EF4-FFF2-40B4-BE49-F238E27FC236}">
                <a16:creationId xmlns:a16="http://schemas.microsoft.com/office/drawing/2014/main" id="{4D0A4469-EC7F-456E-8FD1-602033E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Oval 143">
            <a:extLst xmlns:a="http://schemas.openxmlformats.org/drawingml/2006/main">
              <a:ext uri="{FF2B5EF4-FFF2-40B4-BE49-F238E27FC236}">
                <a16:creationId xmlns:a16="http://schemas.microsoft.com/office/drawing/2014/main" id="{5E789363-1843-419B-B641-68DB014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5" name="TextBox 144">
            <a:extLst xmlns:a="http://schemas.openxmlformats.org/drawingml/2006/main">
              <a:ext uri="{FF2B5EF4-FFF2-40B4-BE49-F238E27FC236}">
                <a16:creationId xmlns:a16="http://schemas.microsoft.com/office/drawing/2014/main" id="{007B6D32-F4A7-4BF5-887F-55B856C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268" y="1425170"/>
            <a:ext cx="415278" cy="2599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6" name="TextBox 145">
            <a:extLst xmlns:a="http://schemas.openxmlformats.org/drawingml/2006/main">
              <a:ext uri="{FF2B5EF4-FFF2-40B4-BE49-F238E27FC236}">
                <a16:creationId xmlns:a16="http://schemas.microsoft.com/office/drawing/2014/main" id="{D55BB533-69FA-42C1-A3E3-2006732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LIÊN HỆ &amp; BẢN ĐỒ</a:t>
            </a:r>
          </a:p>
        </p:txBody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CE0400DC-50FC-45B6-80E7-DC51460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215384"/>
            <a:ext cx="2231136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TƯ VẤN ĐA KÊNH</a:t>
            </a:r>
          </a:p>
        </p:txBody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B128FA1-AA7B-41C9-BC02-2F9D1424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5230368"/>
            <a:ext cx="11475720" cy="104241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Oval 169">
            <a:extLst xmlns:a="http://schemas.openxmlformats.org/drawingml/2006/main">
              <a:ext uri="{FF2B5EF4-FFF2-40B4-BE49-F238E27FC236}">
                <a16:creationId xmlns:a16="http://schemas.microsoft.com/office/drawing/2014/main" id="{FD8DD1F7-CD78-4352-B976-4958D25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" y="54406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254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Oval 170">
            <a:extLst xmlns:a="http://schemas.openxmlformats.org/drawingml/2006/main">
              <a:ext uri="{FF2B5EF4-FFF2-40B4-BE49-F238E27FC236}">
                <a16:creationId xmlns:a16="http://schemas.microsoft.com/office/drawing/2014/main" id="{CA218B08-F351-42FF-8E16-C1C4D9B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7" y="5582412"/>
            <a:ext cx="251460" cy="25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96872343-2EBC-4D39-92F0-39CAF4A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88" y="5778347"/>
            <a:ext cx="137159" cy="137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3" name="TextBox 172">
            <a:extLst xmlns:a="http://schemas.openxmlformats.org/drawingml/2006/main">
              <a:ext uri="{FF2B5EF4-FFF2-40B4-BE49-F238E27FC236}">
                <a16:creationId xmlns:a16="http://schemas.microsoft.com/office/drawing/2014/main" id="{076EB113-4BBD-4C29-A78C-6D201F6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9824"/>
            <a:ext cx="128016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ĐIỂM NỔI BẬT</a:t>
            </a:r>
          </a:p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CỦA GIAO DIỆN</a:t>
            </a:r>
          </a:p>
        </p:txBody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48269E1C-CA5D-4FAA-964B-2C138EF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94960"/>
            <a:ext cx="0" cy="7132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5" name="Oval 174">
            <a:extLst xmlns:a="http://schemas.openxmlformats.org/drawingml/2006/main">
              <a:ext uri="{FF2B5EF4-FFF2-40B4-BE49-F238E27FC236}">
                <a16:creationId xmlns:a16="http://schemas.microsoft.com/office/drawing/2014/main" id="{BF99655F-37C0-4DD1-AFC1-7DBA5E33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Rounded Rectangle 175">
            <a:extLst xmlns:a="http://schemas.openxmlformats.org/drawingml/2006/main">
              <a:ext uri="{FF2B5EF4-FFF2-40B4-BE49-F238E27FC236}">
                <a16:creationId xmlns:a16="http://schemas.microsoft.com/office/drawing/2014/main" id="{81B7AFBD-ECFD-4F96-BBFE-274F2CD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5608563"/>
            <a:ext cx="219456" cy="1294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Rectangle 176">
            <a:extLst xmlns:a="http://schemas.openxmlformats.org/drawingml/2006/main">
              <a:ext uri="{FF2B5EF4-FFF2-40B4-BE49-F238E27FC236}">
                <a16:creationId xmlns:a16="http://schemas.microsoft.com/office/drawing/2014/main" id="{A817AD5A-4802-487E-AACC-5797840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594" y="5744626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6893300B-1B98-4279-B4C0-DE11F47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179" name="TextBox 178">
            <a:extLst xmlns:a="http://schemas.openxmlformats.org/drawingml/2006/main">
              <a:ext uri="{FF2B5EF4-FFF2-40B4-BE49-F238E27FC236}">
                <a16:creationId xmlns:a16="http://schemas.microsoft.com/office/drawing/2014/main" id="{4DECA040-5CED-476A-84CD-65065E7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Tối ưu desktop, tablet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và thiết bị di động.</a:t>
            </a:r>
          </a:p>
        </p:txBody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1C5260E0-727C-4559-9B53-87E324D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1" name="Oval 180">
            <a:extLst xmlns:a="http://schemas.openxmlformats.org/drawingml/2006/main">
              <a:ext uri="{FF2B5EF4-FFF2-40B4-BE49-F238E27FC236}">
                <a16:creationId xmlns:a16="http://schemas.microsoft.com/office/drawing/2014/main" id="{B0F6864F-A165-4683-A243-2BB4890F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32AF9EE7-A95E-424F-B9DB-52710528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627217"/>
            <a:ext cx="219456" cy="1261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Rounded Rectangle 182">
            <a:extLst xmlns:a="http://schemas.openxmlformats.org/drawingml/2006/main">
              <a:ext uri="{FF2B5EF4-FFF2-40B4-BE49-F238E27FC236}">
                <a16:creationId xmlns:a16="http://schemas.microsoft.com/office/drawing/2014/main" id="{4F524B43-46D4-4FA6-AFC6-DAED96F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788" y="5608563"/>
            <a:ext cx="82296" cy="307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TextBox 183">
            <a:extLst xmlns:a="http://schemas.openxmlformats.org/drawingml/2006/main">
              <a:ext uri="{FF2B5EF4-FFF2-40B4-BE49-F238E27FC236}">
                <a16:creationId xmlns:a16="http://schemas.microsoft.com/office/drawing/2014/main" id="{88FD0C74-1969-4A56-ABA8-BC6FFE6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Tải theo nhu cầu</a:t>
            </a:r>
          </a:p>
        </p:txBody>
      </p:sp>
      <p:sp>
        <p:nvSpPr>
          <p:cNvPr id="185" name="TextBox 184">
            <a:extLst xmlns:a="http://schemas.openxmlformats.org/drawingml/2006/main">
              <a:ext uri="{FF2B5EF4-FFF2-40B4-BE49-F238E27FC236}">
                <a16:creationId xmlns:a16="http://schemas.microsoft.com/office/drawing/2014/main" id="{053768BB-DBB3-4605-8DDC-B7F3650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Lazy loading cho từng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module chức năng.</a:t>
            </a:r>
          </a:p>
        </p:txBody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2078386E-5953-46C9-ACF9-FFC02CF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7" name="Oval 186">
            <a:extLst xmlns:a="http://schemas.openxmlformats.org/drawingml/2006/main">
              <a:ext uri="{FF2B5EF4-FFF2-40B4-BE49-F238E27FC236}">
                <a16:creationId xmlns:a16="http://schemas.microsoft.com/office/drawing/2014/main" id="{F00C2992-0FB4-4164-8967-FB676130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1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8" name="Rounded Rectangle 187">
            <a:extLst xmlns:a="http://schemas.openxmlformats.org/drawingml/2006/main">
              <a:ext uri="{FF2B5EF4-FFF2-40B4-BE49-F238E27FC236}">
                <a16:creationId xmlns:a16="http://schemas.microsoft.com/office/drawing/2014/main" id="{71ED4860-7FB7-471B-9195-97F05E3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48" y="5660136"/>
            <a:ext cx="115214" cy="60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9" name="Oval 188">
            <a:extLst xmlns:a="http://schemas.openxmlformats.org/drawingml/2006/main">
              <a:ext uri="{FF2B5EF4-FFF2-40B4-BE49-F238E27FC236}">
                <a16:creationId xmlns:a16="http://schemas.microsoft.com/office/drawing/2014/main" id="{BD6021A6-2759-4270-8604-7F4312F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7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Oval 189">
            <a:extLst xmlns:a="http://schemas.openxmlformats.org/drawingml/2006/main">
              <a:ext uri="{FF2B5EF4-FFF2-40B4-BE49-F238E27FC236}">
                <a16:creationId xmlns:a16="http://schemas.microsoft.com/office/drawing/2014/main" id="{654E8983-2FC1-4025-B77C-60F6684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336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039E4F31-3AB5-4124-900F-1E90C34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Dữ liệu realtime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B002C142-0EC6-422D-A506-B167A46E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Đơn hàng, chat và trạng thái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được cập nhật tức thời.</a:t>
            </a:r>
          </a:p>
        </p:txBody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3E3F345D-896E-4AED-ADFA-27370E3D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773D0471-9DDA-40FF-A0DE-F498EF16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Oval 194">
            <a:extLst xmlns:a="http://schemas.openxmlformats.org/drawingml/2006/main">
              <a:ext uri="{FF2B5EF4-FFF2-40B4-BE49-F238E27FC236}">
                <a16:creationId xmlns:a16="http://schemas.microsoft.com/office/drawing/2014/main" id="{58E4C2F0-FB0E-4ECB-AB8F-A783F88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5610758"/>
            <a:ext cx="120700" cy="12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D9A0D14F-4EEA-48DA-97EC-68325B1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19" y="5711708"/>
            <a:ext cx="65836" cy="6583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15904884-58A5-4DB1-81D5-BA0422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Trải nghiệm liền mạch</a:t>
            </a:r>
          </a:p>
        </p:txBody>
      </p:sp>
      <p:sp>
        <p:nvSpPr>
          <p:cNvPr id="198" name="TextBox 197">
            <a:extLst xmlns:a="http://schemas.openxmlformats.org/drawingml/2006/main">
              <a:ext uri="{FF2B5EF4-FFF2-40B4-BE49-F238E27FC236}">
                <a16:creationId xmlns:a16="http://schemas.microsoft.com/office/drawing/2014/main" id="{378837D2-9C40-421B-A8FB-2BC62D1D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Từ khám phá đến hậu mãi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trên cùng hệ sinh thái.</a:t>
            </a:r>
          </a:p>
        </p:txBody>
      </p:sp>
      <p:sp>
        <p:nvSpPr>
          <p:cNvPr id="199" name="TextBox 198">
            <a:extLst xmlns:a="http://schemas.openxmlformats.org/drawingml/2006/main">
              <a:ext uri="{FF2B5EF4-FFF2-40B4-BE49-F238E27FC236}">
                <a16:creationId xmlns:a16="http://schemas.microsoft.com/office/drawing/2014/main" id="{10AD9BE9-E388-4390-A642-2E833F6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428232"/>
            <a:ext cx="1874519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04235B"/>
                </a:solidFill>
                <a:latin typeface="Arial"/>
                <a:ea typeface="Arial"/>
                <a:cs typeface="Arial"/>
              </a:rPr>
              <a:t>NEXTGEN LAPTOP ECOSYSTEM</a:t>
            </a:r>
          </a:p>
        </p:txBody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9C2103AD-7060-4F29-8D6E-73EB22C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01384"/>
            <a:ext cx="598932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70A1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39B29033-CCE7-4C94-A232-764A649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409944"/>
            <a:ext cx="242316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>
                <a:solidFill>
                  <a:srgbClr val="5E91DC"/>
                </a:solidFill>
                <a:latin typeface="Arial"/>
                <a:ea typeface="Arial"/>
                <a:cs typeface="Arial"/>
              </a:rPr>
              <a:t>GIAO DIỆN THẬT • DỮ LIỆU THẬT • LUỒNG THẬT</a:t>
            </a:r>
          </a:p>
        </p:txBody>
      </p:sp>
      <p:pic>
        <p:nvPicPr>
          <p:cNvPr id="2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8728ec0b54cff"/>
          <a:srcRect xmlns:a="http://schemas.openxmlformats.org/drawingml/2006/main" l="23968" t="0" r="239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608" y="1909314"/>
            <a:ext cx="2580132" cy="2789240"/>
          </a:xfrm>
          <a:prstGeom xmlns:a="http://schemas.openxmlformats.org/drawingml/2006/main" prst="rect">
            <a:avLst/>
          </a:prstGeom>
        </p:spPr>
      </p:pic>
      <p:pic>
        <p:nvPicPr>
          <p:cNvPr id="2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8728ec0b54cff"/>
          <a:srcRect xmlns:a="http://schemas.openxmlformats.org/drawingml/2006/main" l="23932" t="0" r="239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5118" y="1909314"/>
            <a:ext cx="2583702" cy="2789240"/>
          </a:xfrm>
          <a:prstGeom xmlns:a="http://schemas.openxmlformats.org/drawingml/2006/main" prst="rect">
            <a:avLst/>
          </a:prstGeom>
        </p:spPr>
      </p:pic>
      <p:pic>
        <p:nvPicPr>
          <p:cNvPr id="2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359b304ab4ac9"/>
          <a:srcRect xmlns:a="http://schemas.openxmlformats.org/drawingml/2006/main" l="24129" t="0" r="24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5443" y="1938528"/>
            <a:ext cx="2537256" cy="2760026"/>
          </a:xfrm>
          <a:prstGeom xmlns:a="http://schemas.openxmlformats.org/drawingml/2006/main" prst="rect">
            <a:avLst/>
          </a:prstGeom>
        </p:spPr>
      </p:pic>
      <p:pic>
        <p:nvPicPr>
          <p:cNvPr id="2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34532bd2245d1"/>
          <a:srcRect xmlns:a="http://schemas.openxmlformats.org/drawingml/2006/main" l="32787" t="0" r="327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038" y="1864558"/>
            <a:ext cx="1824228" cy="2982579"/>
          </a:xfrm>
          <a:prstGeom xmlns:a="http://schemas.openxmlformats.org/drawingml/2006/main" prst="rect">
            <a:avLst/>
          </a:prstGeom>
        </p:spPr>
      </p:pic>
      <p:pic>
        <p:nvPicPr>
          <p:cNvPr id="26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bb0771fb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17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F0EF8DF-823D-488E-8619-493A5FA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CBEE19-2835-42FC-916A-08B2B92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2918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32C084-E856-4840-890B-D5C37A6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64592"/>
            <a:ext cx="2286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CUSTOMER JOURNEY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B9C0D6-037F-48DA-B027-67B93CE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7200"/>
            <a:ext cx="62179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Một hành trình mua hàng khép kín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25AFF0-C038-4593-87CE-26F819B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905256"/>
            <a:ext cx="694944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Từ nhu cầu ban đầu đến đánh giá sau mua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7398F9FF-C7DD-42AD-A6C3-F1EEA8E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640080"/>
            <a:ext cx="914401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E3697CD-9C31-451A-8C79-E800947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076" y="608075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A82011A-A3EF-4E5B-8B10-3A92963D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512" y="429768"/>
            <a:ext cx="493776" cy="21031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E74B6E4-DC06-45F8-AF86-4912339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931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60E054-6000-4B98-BF17-85B855B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356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6D203AE-EC68-4412-8E83-2C34F61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914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748BD321-14EC-4075-AE01-F4102C06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099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2AD8FC-88D4-4E08-9870-C9338CC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792224"/>
            <a:ext cx="3108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F64ED46-647C-4354-A5D4-22D02EA6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609344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HÀNH TRÌNH CỐT LÕI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BCEA44-513D-4E7D-A18A-6D32F2C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865376"/>
            <a:ext cx="923544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sản phẩm → chọn biến thể → giỏ hàng → voucher/combo → thanh toán → theo dõi đơn → đánh giá.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6366A73-51A5-4C2E-ABCA-A047B48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EE4B0F5-A395-41C5-B6D8-2522C1E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1BC9587-5C57-48F9-8E42-EB77D55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9323A0-2231-47FA-AC65-300B324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thông minh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3E03A13-922C-4766-9F67-C31417B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Lọc, tìm kiếm, sản phẩm đã xem và danh sách yêu thích giúp rút ngắn quyết định mua.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6C15586-39E6-469A-BC8B-F5CE559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632C4D1-7DE9-4356-BC76-9AD7F94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39748B-2B2E-4126-996B-E0BE8A1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BF4EF7-50A8-40A7-8905-C8DE634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Thanh toán linh hoạt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276E507-F9EA-492E-9C46-6911FC3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Hỗ trợ COD, SePay, MoMo và VNPAY với kiểm tra trạng thái giao dịch.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39BC323-B4CE-492C-9655-ACA32A9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9E5DC14-A107-4814-8BBE-163DB58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790BDA7-F337-44DD-93C3-2CA6AB1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A812CC0-B62B-4E39-AA76-0032F1C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Hậu mãi đầy đủ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7CCC8CA-1CE6-410E-94BC-75CE6D5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đơn, đặt lại, hủy, hoàn tiền, tải bằng chứng và đánh giá sau hoàn tất.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22B2442-DC9E-4AD5-BF6A-A513176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098D2FB-B296-422A-B8E7-B2EA44F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9534134-BE0D-4936-8C75-2F3D71C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1561FE8-DE9C-4454-9A83-9D2B6E0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Trải nghiệm realtime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226A5EC-3AE5-43F3-928A-6AE153A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Chat tư vấn và trạng thái đơn hàng được đồng bộ tức thời giữa khách hàng và quản trị.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E08EF3A0-7F22-4EE0-95C3-82813E2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356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26FD544-FFBF-4464-9309-9811F0E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78424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GIÁ TRỊ MANG LẠI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F28E2F8-18AA-4CC7-A526-1C3CCD2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5623560"/>
            <a:ext cx="8549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Ít thao tác hơn  •  Minh bạch hơn  •  Chăm sóc tốt hơn  •  Dễ vận hành hơn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15D3C92D-8B3C-4808-9FD4-07D55C0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2512"/>
            <a:ext cx="108356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BA2251C-A3B7-4754-A764-E45926B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CUSTOMER JOURNEY</a:t>
            </a:r>
          </a:p>
        </p:txBody>
      </p:sp>
      <p:pic>
        <p:nvPicPr>
          <p:cNvPr id="8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52e22929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16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FAF6D3C-A413-4490-8CAC-DA1E57F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89E716-CCC8-4830-9487-B011540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20040"/>
            <a:ext cx="5852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A06A5A-F73F-40E8-8DF7-577DF6B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4592"/>
            <a:ext cx="27432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969E1"/>
                </a:solidFill>
                <a:latin typeface="Arial"/>
                <a:ea typeface="Arial"/>
                <a:cs typeface="Arial"/>
              </a:rPr>
              <a:t>GROWTH ENGINE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5D095C-CBF3-4BC0-8211-3CBDABA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9768"/>
            <a:ext cx="896112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Tăng trưởng không dừng ở một đơn hàng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54780A-B0FA-4ED7-BCD9-9DB006C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859536"/>
            <a:ext cx="76809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Bốn cơ chế kéo khách hàng quay lại và tạo doanh thu mới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709EF8A-F4BC-40A2-8972-28276F7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21792"/>
            <a:ext cx="8686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1044E1-81A4-4888-9FC1-53AB038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876" y="5897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86A306AF-9770-44B8-BC0D-9F2CE718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97312" y="365760"/>
            <a:ext cx="521208" cy="2560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08E0ADB-99DE-4515-A36A-BFE684C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3291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23BFF-B5AA-47C9-947D-9BA0533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67ED80-4C94-4A96-98F5-EE3350C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753C01-73EE-4F59-878B-EDF2406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996842-6AD4-489F-8027-1C43E9F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Loyalty &amp; Xu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357C4B-BDF7-42D8-B10B-283E063E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Điểm danh và tích Xu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8EBF34-FCBC-4E8B-9A92-ECC0617B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Khách hàng nhận Xu, xem lịch sử và sử dụng phần thưởng trong hệ sinh thái.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5E92730B-0528-426B-BFBA-496030DD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D689AE-610E-49B4-9FE7-5D4FD80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F83D0-949C-4740-8F54-2BAB3F2B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763AFF8-DE34-4988-A9A4-638BDA6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193B0C-592C-4C86-B57F-B792913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68FC940-071F-4A2E-9E75-2533F59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Voucher thông minh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F09B35-6A48-4EB9-A94B-67DC6B2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Theo sự kiện &amp; sinh nhật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14B5F6-8DBF-4322-87B6-5A412BA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Tự động cấp và gửi voucher đúng thời điểm, đồng thời ngăn gửi trùng trong cùng năm.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EFB9550-C08B-4082-A9B6-F381B87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491289-68D9-477A-849A-82C9420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CD32C87-D511-4EFD-9606-A4B5AFB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AD73380-A510-4843-8985-A292954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E22C56D-FBDF-4D67-9BD3-0B2FB00B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7B786D8-6FB3-4EE2-B463-9104547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Affiliate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0638C90-EEAD-42E4-B151-3E82D0B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Đo lường đến chuyển đổi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230838A-9491-4079-9BFD-0C4EF7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referral/video, chỉ ghi hoa hồng khi đơn đã thanh toán và hoàn tất.</a:t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BC67D5FE-408A-48B1-90F1-B886E2E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5AE76D4-7FE1-4179-B61F-F62EE72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8094AEF-8FFB-444E-BD52-5859D45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99CDE1E9-A3B4-4C72-9118-964F044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8C1F4CE-8CF2-4508-8C98-1DDA70D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15D79EF-5BF2-455F-868C-2A6A7AC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Gamification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9CFA67A-9625-4E1A-B89E-0AE58A2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Vòng quay may mắn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05683B8-7876-4D01-87A1-B9E0407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Lượt quay hằng ngày và phần thưởng tạo động lực quay lại thường xuyên.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CCD15CBE-DDF3-43AB-9476-1B0512D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BFF7CD9-2DF0-4140-9B70-1845741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0A9A24A-2292-4CB9-AD69-77EA7BF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78992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36AA6D1-EB8F-462F-9734-F412F6E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9592"/>
            <a:ext cx="196596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KẾT QUẢ HƯỚNG TỚI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BFB5E8B-209A-4AFA-B7A2-2D728DA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852160"/>
            <a:ext cx="8275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Giữ chân khách hàng  •  Tăng chuyển đổi  •  Mở rộng kênh bán  •  Đo lường minh bạch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0A22B484-7B83-4D8D-8D20-74D65AC8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8232"/>
            <a:ext cx="10789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D9B6D97A-F879-4C78-8063-0C03185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0528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GROWTH ECOSYSTEM</a:t>
            </a:r>
          </a:p>
        </p:txBody>
      </p:sp>
      <p:pic>
        <p:nvPicPr>
          <p:cNvPr id="95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08a172a3c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1690CE41-AED6-49C7-B0E8-DB55F49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541378-E786-4A8C-992B-E73AF1F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29184"/>
            <a:ext cx="64008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625031-980D-4406-891C-501EAF5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"/>
            <a:ext cx="22860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2AAC8D-3B41-447B-BFDB-785DCC8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"/>
            <a:ext cx="5303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Một backend cho mọi nền tảng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A4740-4CF6-493B-BECC-CAC6FFD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59536"/>
            <a:ext cx="67665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Web, mobile và realtime dùng chung nghiệp vụ</a:t>
            </a:r>
            <a:endParaRPr sz="1050" b="0">
              <a:solidFill>
                <a:srgbClr val="5465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81588EE-224A-428D-B59E-0F396A2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18873C-CAC5-4541-8D28-243B9A0A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EEE295-6BD5-436C-AED2-11F0020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BDCC801-460F-4171-9C9F-B7B6BBE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765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AD57584-9A3C-4680-AA4D-6055DD8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5F355F6-F052-40EC-95C6-9EC17A0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F8628FA8-8431-441C-93D1-29B83EA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CA87B31-A63C-44AB-8AF4-B1AB2C5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920CB68A-8C90-44B2-AB20-5378661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96F4B263-9339-4ACA-99F0-5EFACB9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94A358DE-F40C-457F-BC2B-26D0625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55A4D961-D823-45C7-BA4E-144FCBD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404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0E1A7553-7503-4006-B981-892FC753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9976104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7A5EF1E-C915-4197-9490-D3EA6AB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88736"/>
            <a:ext cx="1280160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KIẾN TRÚC: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15F7291F-6242-46F4-9FFF-D699EEB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852160"/>
            <a:ext cx="813816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Vue 3 Web  +  React Native Mobile  →  Laravel 12 REST API  →  MySQL</a:t>
            </a:r>
          </a:p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Sanctum • Reverb • Queue • Cache • Vite • Expo</a:t>
            </a:r>
          </a:p>
        </p:txBody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2EB3EA97-0F13-4C15-B3DE-2429692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19088"/>
            <a:ext cx="1081735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9B82D1D6-EBB4-4EC3-BC03-D17EE6B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01384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MULTI-PLATFORM ARCHITECTURE</a:t>
            </a:r>
          </a:p>
        </p:txBody>
      </p:sp>
      <p:pic>
        <p:nvPicPr>
          <p:cNvPr id="10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8f3b5022c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5" y="1664208"/>
            <a:ext cx="2691385" cy="1518217"/>
          </a:xfrm>
          <a:prstGeom xmlns:a="http://schemas.openxmlformats.org/drawingml/2006/main" prst="rect">
            <a:avLst/>
          </a:prstGeom>
        </p:spPr>
      </p:pic>
      <p:pic>
        <p:nvPicPr>
          <p:cNvPr id="10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74b3b37cc4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8965" y="1664208"/>
            <a:ext cx="2643816" cy="1518217"/>
          </a:xfrm>
          <a:prstGeom xmlns:a="http://schemas.openxmlformats.org/drawingml/2006/main" prst="rect">
            <a:avLst/>
          </a:prstGeom>
        </p:spPr>
      </p:pic>
      <p:pic>
        <p:nvPicPr>
          <p:cNvPr id="10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300859b44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8171" y="1664208"/>
            <a:ext cx="2711930" cy="1518217"/>
          </a:xfrm>
          <a:prstGeom xmlns:a="http://schemas.openxmlformats.org/drawingml/2006/main" prst="rect">
            <a:avLst/>
          </a:prstGeom>
        </p:spPr>
      </p:pic>
      <p:pic>
        <p:nvPicPr>
          <p:cNvPr id="10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cc6c2a34d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3867912"/>
            <a:ext cx="2643592" cy="1484827"/>
          </a:xfrm>
          <a:prstGeom xmlns:a="http://schemas.openxmlformats.org/drawingml/2006/main" prst="rect">
            <a:avLst/>
          </a:prstGeom>
        </p:spPr>
      </p:pic>
      <p:pic>
        <p:nvPicPr>
          <p:cNvPr id="10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d30d82a4e4a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2116" y="3867912"/>
            <a:ext cx="2491415" cy="1528476"/>
          </a:xfrm>
          <a:prstGeom xmlns:a="http://schemas.openxmlformats.org/drawingml/2006/main" prst="rect">
            <a:avLst/>
          </a:prstGeom>
        </p:spPr>
      </p:pic>
      <p:pic>
        <p:nvPicPr>
          <p:cNvPr id="11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c5255111642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1451" y="3956943"/>
            <a:ext cx="2786303" cy="1395796"/>
          </a:xfrm>
          <a:prstGeom xmlns:a="http://schemas.openxmlformats.org/drawingml/2006/main" prst="rect">
            <a:avLst/>
          </a:prstGeom>
        </p:spPr>
      </p:pic>
      <p:pic>
        <p:nvPicPr>
          <p:cNvPr id="1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907f3b94f44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715564B-004C-4E5A-BFBD-D4AC78A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CDE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54B539-4CA5-480E-A1AE-505B26E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84048"/>
            <a:ext cx="658368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ED5F62-3616-4FBA-8CE4-582D2FD0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9456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C70DC"/>
                </a:solidFill>
                <a:latin typeface="Arial"/>
                <a:ea typeface="Arial"/>
                <a:cs typeface="Arial"/>
              </a:rPr>
              <a:t>DATA &amp; DOMAIN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43E7EA-0FAE-4343-99A3-9BB724F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7200"/>
            <a:ext cx="3657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Dữ liệu được thiết kế quanh nghiệp vụ thực tế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2FAD55-C68E-4437-80D4-9D15618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841248"/>
            <a:ext cx="6400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53 model và 74 migration bao phủ bán hàng, marketing, affiliate và nhân sự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F698C09-D880-41E6-9075-2E8F91B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264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7E46FAA8-8212-48D0-BF15-F224F45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96" y="1738820"/>
            <a:ext cx="155448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BỐN MIỀN DỮ LIỆU</a:t>
            </a:r>
          </a:p>
        </p:txBody>
      </p:sp>
      <p:sp>
        <p:nvSpPr>
          <p:cNvPr id="164" name="Rounded Rectangle 163">
            <a:extLst xmlns:a="http://schemas.openxmlformats.org/drawingml/2006/main">
              <a:ext uri="{FF2B5EF4-FFF2-40B4-BE49-F238E27FC236}">
                <a16:creationId xmlns:a16="http://schemas.microsoft.com/office/drawing/2014/main" id="{EF51B4DE-11A7-4649-9E0C-41A2460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94560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FD2"/>
          </a:solidFill>
          <a:ln xmlns:a="http://schemas.openxmlformats.org/drawingml/2006/main" w="8890">
            <a:solidFill>
              <a:srgbClr val="F0A13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TextBox 164">
            <a:extLst xmlns:a="http://schemas.openxmlformats.org/drawingml/2006/main">
              <a:ext uri="{FF2B5EF4-FFF2-40B4-BE49-F238E27FC236}">
                <a16:creationId xmlns:a16="http://schemas.microsoft.com/office/drawing/2014/main" id="{0BCE45AE-2473-460F-BD8B-790DF70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19456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66" name="Oval 165">
            <a:extLst xmlns:a="http://schemas.openxmlformats.org/drawingml/2006/main">
              <a:ext uri="{FF2B5EF4-FFF2-40B4-BE49-F238E27FC236}">
                <a16:creationId xmlns:a16="http://schemas.microsoft.com/office/drawing/2014/main" id="{3EF71885-4F90-46F2-9348-D608393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560320"/>
            <a:ext cx="566928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4BAB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3C5F7538-6FB9-4DD9-B552-5CE9E914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56032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68" name="Diamond 167">
            <a:extLst xmlns:a="http://schemas.openxmlformats.org/drawingml/2006/main">
              <a:ext uri="{FF2B5EF4-FFF2-40B4-BE49-F238E27FC236}">
                <a16:creationId xmlns:a16="http://schemas.microsoft.com/office/drawing/2014/main" id="{6DE7FA84-9951-49CD-AF7B-F9EDDB1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26080"/>
            <a:ext cx="566928" cy="2743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AEF"/>
          </a:solidFill>
          <a:ln xmlns:a="http://schemas.openxmlformats.org/drawingml/2006/main" w="8890">
            <a:solidFill>
              <a:srgbClr val="62B8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9" name="TextBox 168">
            <a:extLst xmlns:a="http://schemas.openxmlformats.org/drawingml/2006/main">
              <a:ext uri="{FF2B5EF4-FFF2-40B4-BE49-F238E27FC236}">
                <a16:creationId xmlns:a16="http://schemas.microsoft.com/office/drawing/2014/main" id="{99495C88-8E83-4369-952D-6355D00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92608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70" name="TextBox 169">
            <a:extLst xmlns:a="http://schemas.openxmlformats.org/drawingml/2006/main">
              <a:ext uri="{FF2B5EF4-FFF2-40B4-BE49-F238E27FC236}">
                <a16:creationId xmlns:a16="http://schemas.microsoft.com/office/drawing/2014/main" id="{58F0B9A8-8261-4832-BC6A-740D6C1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NEXTGEN DOMAIN-DRIVEN DATA MODEL</a:t>
            </a:r>
          </a:p>
        </p:txBody>
      </p:sp>
      <p:pic>
        <p:nvPicPr>
          <p:cNvPr id="187" name="Picture 1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d7e48be8d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120" y="1276415"/>
            <a:ext cx="7930732" cy="4968935"/>
          </a:xfrm>
          <a:prstGeom xmlns:a="http://schemas.openxmlformats.org/drawingml/2006/main" prst="rect">
            <a:avLst/>
          </a:prstGeom>
        </p:spPr>
      </p:pic>
      <p:pic>
        <p:nvPicPr>
          <p:cNvPr id="18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1f9110ddb47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757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4900DA54-9E76-48F1-98B9-5093862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0" cy="187451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93A6859-6782-4D72-9351-2749CF45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1" y="466344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52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A6A92DF-1441-47F1-8F9F-DEC3899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" y="576071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7C86AB1B-47F6-43AF-B1B7-9C922C28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99" y="6675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E59D9F5-FA9F-41CC-ADFB-5FFF4BA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" y="149961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DB58FCC5-7A13-4A37-B87E-4EE551A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84048"/>
            <a:ext cx="868680" cy="32918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05DE9243-8318-4E83-95C9-062C5CAF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97280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B010DA1-12AF-4FA9-8700-E7F9AB63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743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D0D08A6-4D76-4675-A8BA-3A66C51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572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327A283-BDE2-4B2F-8882-FD347E0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1371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7B2E5E-8A91-43D5-BA55-926859D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6576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837C7E-571D-4C84-80F3-7B268EB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3192"/>
            <a:ext cx="4572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Từ thao tác người dùng đến vận hành doanh nghiệp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A04A0A44-C877-4022-97F0-23580A0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5156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2C5A496-7A0E-4D3C-B79C-BEF509F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A1AFD32-179D-407D-B384-D5148C1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227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DDF653-9952-4B43-A7AA-2BFC0EE4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F4168C9-4F76-491C-863B-5A5C92B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C002CD-C52B-4A8D-8A5B-C181BCD0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44752"/>
            <a:ext cx="13716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717AC-9B45-431B-AC38-00E1AC7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81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3F032F6-9713-4615-8FEA-F71DFF2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44752"/>
            <a:ext cx="15727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E58E40-9874-4B49-A745-A2D8933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96AEADF7-0129-49E7-BED0-7801B5D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1" y="32095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D409FDAA-7D6A-4DFC-9D8A-416CC5C4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00E525AE-093B-44A8-A589-8BFE818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3593592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05835AF-B339-4F98-8C02-254F642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308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51A64392-5FD0-4BF1-9A49-B7DB03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58F2D5C-75A7-4C0E-954E-C6FE6C6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078224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80EDAA4-5125-4A52-8B43-80390B4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3192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BF5A9D75-E815-49EC-A13E-8E4A8FE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38728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F30332C-245D-4B59-AF1E-F22BAA4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70332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638A9EAA-112F-4F4B-A493-2562996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1228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267FDDFF-AAC0-4516-8E72-36BF262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AA5F92F-0D69-4AB0-A752-64589D0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187952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D05FE94A-6722-4FF7-A038-85FBBC6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199339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Sản phẩm &amp; biến thể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EC1179AF-FDF8-49D7-9D36-096ED88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148840"/>
            <a:ext cx="1499615" cy="15361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50256E00-93A0-474D-9176-F0AF07BA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39572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Tồn kho &amp; đơn hàng</a:t>
            </a:r>
          </a:p>
        </p:txBody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6D6E94A1-234F-4AAA-B0F6-2E3D247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551176"/>
            <a:ext cx="1499615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5D3826-CB4D-4F48-A60D-FA8FE9A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79806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Khuyến mãi &amp; voucher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B35D573F-A825-4E25-8393-C24A1BF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953512"/>
            <a:ext cx="1499615" cy="73152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A966EAD8-8914-4BA5-A87C-4A42325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20040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&amp; hoa hồng</a:t>
            </a:r>
          </a:p>
        </p:txBody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249C15E5-869D-486E-A770-A40CF1A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3355848"/>
            <a:ext cx="1499615" cy="32918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1F926E1-0B74-4FCD-AC06-ABB2309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602736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Tin tức &amp; SEO</a:t>
            </a:r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F9EEA570-4F7E-4B4F-B77F-A54906F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7315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A4BE9B85-69AC-4F9F-88F8-DEDD44A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00507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&amp; hỗ trợ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E4E934E1-B828-45EA-80BD-CC50637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47548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6D73EAA-7902-4D88-B7DB-7E5AA3B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40740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Nhân sự &amp; chấm công</a:t>
            </a:r>
          </a:p>
        </p:txBody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79F4BFA8-98E7-4DA7-BEA8-225906F7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87782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BD87EBA7-D9A0-48E1-969A-7DD4172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80974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Báo cáo &amp; nhật ký</a:t>
            </a: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30D71EA5-59DE-4DC6-8085-F00DD2F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28016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B500E3E6-5B96-4975-92BF-C545012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521208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Phân quyền chi tiết</a:t>
            </a: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FE55968A-4A4B-42A1-858E-BF1C55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68249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61AE6E3-E54E-4985-A25E-57C48D5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5001768"/>
            <a:ext cx="96012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cxnSp>
        <p:nvCxnSpPr>
          <p:cNvPr id="206" name="Connector 53"/>
          <p:cNvCxnSpPr>
            <a:stCxn xmlns:a="http://schemas.openxmlformats.org/drawingml/2006/main" id="28" idx="2"/>
          </p:cNvCxnSpPr>
          <p:nvPr/>
        </p:nvCxnSpPr>
        <p:spPr>
          <a:xfrm xmlns:a="http://schemas.openxmlformats.org/drawingml/2006/main">
            <a:off x="1965960" y="4279392"/>
            <a:ext cx="0" cy="722376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77FFA683-6B9B-4D46-83BF-F91B8FC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13969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Yêu thích &amp; đã xem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EF2E4A3-8E11-4A68-89D2-B63138F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295144"/>
            <a:ext cx="1664208" cy="149961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7D16021-3CD8-47AE-B2CB-85B52901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57860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Giỏ hàng &amp; combo</a:t>
            </a:r>
          </a:p>
        </p:txBody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1C836C77-8D81-4192-AC12-BE9386E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734056"/>
            <a:ext cx="1664208" cy="106070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049863E4-A3A1-4964-AE0B-9295E35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01752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Thanh toán đa kênh</a:t>
            </a:r>
          </a:p>
        </p:txBody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537494ED-9919-41B0-8777-8A829AD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172968"/>
            <a:ext cx="1664208" cy="6217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C62A7952-DBD2-44C4-B69B-EC8425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456432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Theo dõi đơn hàng</a:t>
            </a:r>
          </a:p>
        </p:txBody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F02FFA82-D01C-4D0B-B1DB-0B4544B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611879"/>
            <a:ext cx="1664208" cy="18288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348C915F-0ADB-4CCF-ACD2-57A2FCFA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895344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Xu &amp; vòng quay</a:t>
            </a:r>
          </a:p>
        </p:txBody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F36E0CB9-2357-4D90-8498-F5C1C52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25603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659881C4-A567-4BAD-A355-B888E5B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3425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center</a:t>
            </a:r>
          </a:p>
        </p:txBody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3C40F2E8-5DB0-4D68-B5EB-B957DDE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69494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629B1D6A-B2A6-494D-AF20-04E568A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77316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realtime</a:t>
            </a:r>
          </a:p>
        </p:txBody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0151DB8C-7B2C-4A6F-85A6-E0CE537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BD5214BE-9E12-46C6-9A0C-4C60D74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21208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Đánh giá sau mua</a:t>
            </a:r>
          </a:p>
        </p:txBody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5EA524B8-6C6B-4383-BD84-8F607D3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57276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C15D50FB-494B-48E5-B8B7-AF87038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83480"/>
            <a:ext cx="86868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Web &amp; Mobile</a:t>
            </a:r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22DB4FD1-CD28-4251-BAAB-8ABE628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983480"/>
            <a:ext cx="82296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Sanctum + Reverb</a:t>
            </a:r>
          </a:p>
        </p:txBody>
      </p:sp>
      <p:cxnSp>
        <p:nvCxnSpPr>
          <p:cNvPr id="225" name="Connector 72"/>
          <p:cNvCxnSpPr>
            <a:stCxn xmlns:a="http://schemas.openxmlformats.org/drawingml/2006/main" id="34" idx="2"/>
          </p:cNvCxnSpPr>
          <p:nvPr/>
        </p:nvCxnSpPr>
        <p:spPr>
          <a:xfrm xmlns:a="http://schemas.openxmlformats.org/drawingml/2006/main" flipH="1">
            <a:off x="6748272" y="4389120"/>
            <a:ext cx="246888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98FDA816-77BE-4363-BB57-6FEC02A4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89120"/>
            <a:ext cx="640080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61D229D7-DC28-45A3-9ACD-E4DE855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6032" y="6446520"/>
            <a:ext cx="402336" cy="4114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E07CAB4F-5A78-435F-88CD-8578C5A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46520"/>
            <a:ext cx="576072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2D8BC9A8-2D59-470F-98B5-C9790CE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36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65B73FD3-9D73-4B2C-915D-A46E3C76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66202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D3F56D3-14F0-4675-B7E0-87B7AF8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44768"/>
            <a:ext cx="685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</p:txBody>
      </p:sp>
      <p:pic>
        <p:nvPicPr>
          <p:cNvPr id="232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6b95d21bf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117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7B1636-80BB-4FF5-8404-F2320BA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75" y="309890"/>
            <a:ext cx="5806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BA ĐIỂM TẠO KHÁC BIỆT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56B2D4C6-A5EA-4C60-BACF-45D79B1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6012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9063F39-CF58-40F0-AA10-06DEFA0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627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8D3C22F-C75D-492B-9A59-F579274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750A9E-6AC8-468B-BBA2-5A29180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72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DB33A-6A66-4BBF-B940-7493C6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72768"/>
            <a:ext cx="0" cy="32278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1A6C3E7-0A25-4220-B551-5034611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8366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2C99924-F11A-440B-ACAB-E6603EF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23359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F349A2B-601F-470C-AA4F-75A55C2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87000" y="731520"/>
            <a:ext cx="521208" cy="126187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5364E58-780B-4FBF-8745-F0F4BB7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93392"/>
            <a:ext cx="411480" cy="182879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EB9DAD4-C69B-48B3-B035-215FAC0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630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91645C2-2BE2-4260-85F1-6BC0A9B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7190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397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ECB1C17-2E04-4535-A6DA-6DD6304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12463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9E3AF0-56D8-4591-B7EA-604BFBC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35331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0F092F4-C413-486D-9003-1173EDE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1732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80F0952E-4DAC-4A03-BA5B-7C64CD7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60020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29B237F-86B4-4F26-8028-D45DD87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92224"/>
            <a:ext cx="47548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EBE0982C-20E4-45EE-98D1-A5E2719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86537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ADE38A4-FF75-430F-9ED2-9DA54AA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19456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8C14B753-6323-4A5C-9F1A-F359EF2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0020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066316A-57E2-46AA-9B60-45930B7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56362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Chấm công bằng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nhận diện khuôn mặt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3E9676B-7670-4CE0-AA3E-0BC7750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04825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Đăng ký khuôn mặt, check-in/check-out, ca làm, lịch sử và đơn nghỉ trên cùng hệ thống.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535E3A-B4FF-49F6-8C17-01DA161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56362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EA110E4-AB4F-4BA1-8D63-5169C6E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84EEB41-B6F1-4E6F-9C48-F61CCA0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AE56357-7302-4132-B601-5A3468B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8512B5A0-0C43-4CA4-98CF-B457E1D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36343F5C-3A98-4161-B499-F29697A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EF08E3C4-C100-4FD4-A520-6F8381B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E9F97034-BF54-4428-AD34-4E62386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56DDB9B1-29F8-45FF-8FE0-0ACB502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2C53D80-6DD3-4BC2-A885-5FECAAE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CFA9F49C-0B00-4837-BBB0-0A5A853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1D040BD1-F753-4BD2-8418-C6737C9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A3A9AC2-010B-4B0C-BA7D-4C75299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358152D7-10CD-4F30-8038-FDF13B1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246A344-32F3-4DAE-8051-16BBFE1B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27CA9E7-45F4-4782-951E-6525E27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14CD6BC9-8012-47A6-9471-1034A88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A65152E4-33C4-44A3-91FD-A2D8A08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99923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7CE7A9DB-2B02-4FB6-B64D-51C7C23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063239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63F7A669-2095-42D9-B313-4A39B0C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24612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1178E44-981A-43EA-A20F-E052EBF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79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✚</a:t>
            </a:r>
          </a:p>
        </p:txBody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BF1BBA05-ACE6-4AB6-B789-4BADB1F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4612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7853843-87DA-48EE-BDF2-74340DF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20954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Affiliate có ví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quy tắc tài chính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26B90F-FFEA-4B97-AD95-0335F66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69417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Hoa hồng theo trạng thái đơn, số dư khả dụng, giữ tiền, rút tiền và chống gửi trùng.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140FB69-9011-463E-9D6C-F9F2166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20954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05AB16E-F417-4240-ADAD-E16EF90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1DE4B419-77AE-4731-9F84-AD3630B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D0A02CE0-7DEF-4E73-836D-761F0EF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CEE2365A-DC28-4170-A3E2-017CC19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0F18A8B-F983-4E23-9FC5-96C8089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1D5142FD-EFAE-4219-9AB7-12F83D8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4BC11A70-DF2D-4C40-904B-4985539C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CAB0150E-046E-4FE8-92D5-ADBEF4A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8582F96A-38F0-4D21-8CD2-9F50095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490BAA3E-4483-4C87-B106-03246B1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3342C78-0C7F-4706-8840-7022204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A11DF172-39AE-4DAD-B103-5A97925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091A74BE-D069-41C6-80DA-6A93530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1D990E35-85A2-4EEF-9D5D-2D10A5E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04DC8D79-91A4-4011-9D8C-7136756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C315F227-3E91-4EAB-B479-F7D4166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46EE6FFB-2AB9-4A7A-8B49-03FDE06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64515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403E56AC-67AC-48EB-B808-4AA0B0B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0916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24844996-342D-479B-90C1-CC1DBBC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EE3F15BC-02D2-46D5-8903-2E78002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193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B8093B4E-7C62-4650-B962-4EAE17F2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056632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8701FEA0-E465-4918-B838-331634D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056632"/>
            <a:ext cx="347472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FCB78246-DDCB-4555-BB9C-A473992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89204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C58182E1-9780-41FC-A6D1-B44ED49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85546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Offline sync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realtime operations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F938E5D6-CB18-40D0-83F1-18A7418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34009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Hàng đợi thao tác khi mất mạng kết hợp chat và cập nhật trạng thái đơn theo thời gian thực.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4D1C18CF-5656-404B-B5E6-D0024E3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85546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159C6C7F-3277-4FD2-AD36-51AAA45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97297138-457F-4D98-9D12-716FE12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ECF2E05-D9FB-4A4E-8D90-C7624C2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520196F5-79D6-4FF0-A772-B3241ED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4F98D4E1-C319-438E-92A7-3535DF7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6CF2B7F3-F68E-449D-BD98-3AAD218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7558B3F3-AB3D-404C-8CAD-9784F262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03F4A494-EC73-4257-B61E-D9AF2B6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E4BB14D1-4980-43ED-96E3-29D8944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BC23DEFE-DCAA-4CD6-99EA-30F299E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4CAA87C7-77B5-4D7A-B8CC-07E1A3D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0BD849D7-9248-4ACA-9628-47FA3FF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CF08964D-DEAB-47AB-9A89-337EE37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F1DC368B-410B-4521-A7DC-61CE89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978C66F-DB50-401C-B052-A5B4AF6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35271E6B-31BE-4A37-B2F9-D783FDF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Arc 90">
            <a:extLst xmlns:a="http://schemas.openxmlformats.org/drawingml/2006/main">
              <a:ext uri="{FF2B5EF4-FFF2-40B4-BE49-F238E27FC236}">
                <a16:creationId xmlns:a16="http://schemas.microsoft.com/office/drawing/2014/main" id="{C607D8EB-03AF-425B-8D40-687217A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606247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CDE2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Arc 91">
            <a:extLst xmlns:a="http://schemas.openxmlformats.org/drawingml/2006/main">
              <a:ext uri="{FF2B5EF4-FFF2-40B4-BE49-F238E27FC236}">
                <a16:creationId xmlns:a16="http://schemas.microsoft.com/office/drawing/2014/main" id="{F488332F-F425-4887-B9B4-66646FD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5448" y="610819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7800">
            <a:solidFill>
              <a:srgbClr val="D7E7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Arc 92">
            <a:extLst xmlns:a="http://schemas.openxmlformats.org/drawingml/2006/main">
              <a:ext uri="{FF2B5EF4-FFF2-40B4-BE49-F238E27FC236}">
                <a16:creationId xmlns:a16="http://schemas.microsoft.com/office/drawing/2014/main" id="{14D8B7FC-8BBB-49B1-89BE-79D3A56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" y="615391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E1EC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FFF98C48-359E-432C-9DC4-1DF8146B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18374281-8F08-432D-AEB9-5EAF483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78E03EEE-4E5E-4147-B4DF-68D0DB71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8B8A8072-51DC-4900-90B2-9F872BE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9C20D83E-C3C4-4F98-844D-270F146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8F97EF5A-0CC4-4DA5-B027-EAA19B93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886D554D-F489-438B-8506-7EA19AC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83D0E46D-04F6-42EE-9548-A0C14FD1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071A4919-7D65-4F1E-9916-750D1D1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2EAB9B86-2514-448C-AACA-B543B6E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40125F95-105D-401F-AA20-5D905E5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B2314CB3-43D9-426C-8645-29013A4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11DBA07E-2130-4495-967B-C6BF9C4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A6832A51-42B7-4C0A-82E6-69465FD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2D0D61E9-274D-406E-8BA4-483E562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E5F2DC73-C23B-4AAB-9FF4-68B0A77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9" name="Picture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e8e2762d7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358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FBA5FA-8F57-4799-99AE-658201D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100% TEST ĐẠT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4959B8EA-08D4-49B0-BB40-11CCC76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859536"/>
            <a:ext cx="493776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D169271-E54E-4242-B18F-6B0689F1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542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7B5DE59-CC60-487F-BDD2-F3FBBE4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14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D62722B-32C0-41AF-94B7-EB895E7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286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E1E2855E-2AB7-4120-89FA-EC6050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438912"/>
            <a:ext cx="749808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EB081D24-46CE-4824-9D45-BC60D62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8912"/>
            <a:ext cx="1764792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0F46A5-910F-4FDD-8611-3104669D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" y="301751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0DEC758-11DC-46C4-80D5-E3A4D4A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" y="379476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2C4B3C54-4E9E-4981-9050-50E3727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8961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4AFCF0D-D5CF-4E1B-8824-C7771C4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601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0B6E74F-3E40-4B90-BE23-0DA639B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38912"/>
            <a:ext cx="77724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2D89874-1450-4AC8-B165-6D485F9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18520" y="182880"/>
            <a:ext cx="1170432" cy="5303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47BCB03-6916-4C77-B8D4-C0CCB6A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92607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5653F1A-2376-4887-9D47-4414D9D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6217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E2B27D-BB71-4ADB-A42D-472DED5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470916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8D55616-94C1-43B7-95F4-937949D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08760"/>
            <a:ext cx="589788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D6E6C6-ACB3-4DA4-A46F-AFF9795C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99032"/>
            <a:ext cx="15544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4FD71AC-D4CA-4E52-8C1E-353D048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426464"/>
            <a:ext cx="1554480" cy="231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 TEST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F4A92E6-64F7-4C70-99C6-1C396F6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399032"/>
            <a:ext cx="34290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8E5A-953D-43F9-B7A0-7A6D9DC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426464"/>
            <a:ext cx="342900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PHẠM VI KIỂM THỬ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3C25ED-6C6D-49CD-A6D8-93CA427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112 TEST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BDFB6E2-8004-4CAA-99D2-F5CC5C3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338</a:t>
            </a:r>
          </a:p>
        </p:txBody>
      </p:sp>
      <p:graphicFrame>
        <p:nvGraphicFramePr>
          <p:cNvPr id="92" name="Chart 24"/>
          <p:cNvGraphicFramePr/>
          <p:nvPr/>
        </p:nvGraphicFramePr>
        <p:xfrm>
          <a:off xmlns:a="http://schemas.openxmlformats.org/drawingml/2006/main" x="1572768" y="2212848"/>
          <a:ext xmlns:a="http://schemas.openxmlformats.org/drawingml/2006/main" cx="2971800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e6cb2d012346c0"/>
          </a:graphicData>
        </a:graphic>
      </p:graphicFrame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E005F22-0FF7-4225-85B1-7AF45D9F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8BE5DF-F1B3-469C-9880-6F2F189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6FBE46E-9DD2-4A43-8B36-AEE8B22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2B25C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5AD16D7E-2BD1-46CA-9DCD-093C3E8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0EEB92-2DBB-4D64-A892-191B14A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2519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876AAC-EC96-4D9D-BD8B-E0F5ACD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43B3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graphicFrame>
        <p:nvGraphicFramePr>
          <p:cNvPr id="99" name="Chart 31"/>
          <p:cNvGraphicFramePr/>
          <p:nvPr/>
        </p:nvGraphicFramePr>
        <p:xfrm>
          <a:off xmlns:a="http://schemas.openxmlformats.org/drawingml/2006/main" x="5943600" y="2240280"/>
          <a:ext xmlns:a="http://schemas.openxmlformats.org/drawingml/2006/main" cx="2880360" cy="1965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5349578be346a1"/>
          </a:graphicData>
        </a:graphic>
      </p:graphicFrame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FBF1093-2C75-497F-90F7-725BD56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1988819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4869383-817A-46FF-AA0F-A4F70C7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38528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Admin &amp; bảo mật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ACB68C9-7603-4E8C-8F9E-2248677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1938528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1EBBE216-2846-4EF6-AD4A-1AAAA99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34543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0CD53AA-501A-4720-A4B2-97BDFD6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9514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Xác thực tài khoản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CB31214-7865-47AD-BC7C-47863B5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29514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9F55BBD4-A276-49E2-BE26-6BB3511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7020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C"/>
          </a:solidFill>
          <a:ln xmlns:a="http://schemas.openxmlformats.org/drawingml/2006/main" w="2540">
            <a:solidFill>
              <a:srgbClr val="FFB80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220D3E3-76DB-4D2B-94EA-B400330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65176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Affiliate &amp; ví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821BE2-C535-4B29-9114-7711E78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651760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9E0E111B-DDEA-40E9-9304-F84827A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05866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D7F9BC1-F183-4569-A81C-0199BDC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08376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Marketing &amp; nội dung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D91EE693-EE8E-4107-99E9-84CF557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08376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26B5B549-00B0-4DFF-B3B1-A8AD6BB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41528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000"/>
          </a:solidFill>
          <a:ln xmlns:a="http://schemas.openxmlformats.org/drawingml/2006/main" w="2540">
            <a:solidFill>
              <a:srgbClr val="FF7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2529E74-11F9-469F-B734-1BEB02C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36499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Mua hàng &amp; đánh giá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7F15711-9056-4835-83BC-18E0661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64992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544F8F52-A357-490D-83E4-B9D4EA6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77190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8BF"/>
          </a:solidFill>
          <a:ln xmlns:a="http://schemas.openxmlformats.org/drawingml/2006/main" w="2540">
            <a:solidFill>
              <a:srgbClr val="44B8B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9F82D81F-60A9-488A-8957-506ACD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21607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Core UI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D752B72-6C35-4A4C-AFF0-43E11C8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21607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AC8AB12C-91FD-4FEF-B144-F26D38A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412851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9FEB"/>
          </a:solidFill>
          <a:ln xmlns:a="http://schemas.openxmlformats.org/drawingml/2006/main" w="2540">
            <a:solidFill>
              <a:srgbClr val="709F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E854AFA-5C0F-453E-9858-CAC4AD8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7822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Bảo vệ file hoàn tiền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063AE40-481C-4143-818C-D70FF15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7822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B24E8F0B-26D3-495E-84E2-F791BB8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7716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DF22B85E-F506-4EE1-98F4-F0BB5BF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27608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8E258E2-8430-4D62-8B56-5EBF50E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03520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98E75218-2C04-47DE-837F-F4F597A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212080"/>
            <a:ext cx="109728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B87FE1B-8662-4808-B13C-A4E8ED3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468112"/>
            <a:ext cx="4069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112/112 test đạt với 338 assertions. Frontend production build thành công hơn 2.000 module.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2D30EFFD-D56C-4C54-8C10-4D6DD4E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3036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CDC67927-8BE2-482E-BCDC-54D177A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85232"/>
            <a:ext cx="1700784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TỶ LỆ ĐẠT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007AA0E0-D8E6-4A10-BE81-A52DB76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468112"/>
            <a:ext cx="1700784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964E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726AF74F-B7CE-4A7F-AF00-6247135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230368"/>
            <a:ext cx="2267712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845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2C5691D7-F94D-4C53-8039-2A0084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285232"/>
            <a:ext cx="2048256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NGÀY KIỂM TRA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6B141E7-58C8-4241-B300-E98D8C8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468112"/>
            <a:ext cx="2048256" cy="28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29 / 08 / 2026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6B25F9D-7242-400B-8271-ACFAE87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245352"/>
            <a:ext cx="292608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AUTOMATED QUALITY GATE</a:t>
            </a:r>
          </a:p>
        </p:txBody>
      </p:sp>
      <p:pic>
        <p:nvPicPr>
          <p:cNvPr id="133" name="Picture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2c2a12378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84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2FEFFEF9-EA7A-4F2D-BE6B-27A472D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685800" cy="12161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2116E5-7845-4D09-9D9A-A47AFF4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6FAD35F-80FB-417C-9C9B-23DBE420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3DED1B5-6B93-401B-BB11-A379E14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502920"/>
            <a:ext cx="914400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6635AC9-3E75-40CC-AB25-495C0F4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9F463-DEDE-4909-9AD8-A777A355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"/>
            <a:ext cx="1371600" cy="3657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996BB4-BF07-4CFA-A18A-0D3B9BC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7498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F0CF10D-94E9-46C4-B3D4-0D856197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897880"/>
            <a:ext cx="868680" cy="7315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7B1A2A7-F9C7-4D71-BF34-381D724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6509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1ABCE5-9F19-4E7A-A629-0E854E79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200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QUY MÔ SẢN PHẨM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33CF17C-AEEF-404C-8E3E-D74F501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804672"/>
            <a:ext cx="4572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Không đo bằng số slide — đo bằng phạm vi nghiệp vụ đã triển khai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638FFA9-580C-4B3E-9B04-3D75A7A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D69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9A4BEB-D0DF-429E-8DBB-FB7CC20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81328"/>
            <a:ext cx="10012680" cy="4407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2" name="Table 14"/>
          <p:cNvGraphicFramePr/>
          <p:nvPr/>
        </p:nvGraphicFramePr>
        <p:xfrm>
          <a:off xmlns:a="http://schemas.openxmlformats.org/drawingml/2006/main" x="1417320" y="1847088"/>
          <a:ext xmlns:a="http://schemas.openxmlformats.org/drawingml/2006/main" cx="8092440" cy="3429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23160"/>
                <a:gridCol w="1143000"/>
                <a:gridCol w="914400"/>
                <a:gridCol w="914400"/>
                <a:gridCol w="91440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STT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Mobile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Xử lý nghiệp vụ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Miền dữ liệu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Migration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Tiến hóa CSDL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khách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web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admin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Vận hành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mobile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di động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Automated test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Độ tin cậy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Assertions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338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Bằng chứng kiểm thử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2FE6B26-C67D-4EAC-8E07-D5583E8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847088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17AA10-222D-4E0C-8897-064656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965960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D69DC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21F66B-B327-4E7F-9209-DF5C412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212848"/>
            <a:ext cx="91440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10B9D58-EA21-4EBB-B87E-053E4EF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108960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0160">
            <a:solidFill>
              <a:srgbClr val="23A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7766858-355A-414B-8963-8081420B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227832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TEST PASS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CF8B5D-5E94-420F-891E-64CEAE2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4747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972FD81-A045-4895-B7EE-7BD4771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370832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AA8F5A-95BE-4004-B8E4-5738714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489704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526074"/>
                </a:solidFill>
                <a:latin typeface="Arial"/>
                <a:ea typeface="Arial"/>
                <a:cs typeface="Arial"/>
              </a:rPr>
              <a:t>NỀN TẢNG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CFF6AA1-1721-4C70-A302-737CE3F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736592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Mobile • API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1C1979-6712-41BD-BAA9-3D7F67E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96128"/>
            <a:ext cx="768096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Hệ thống gồm 50 controller, 53 model, 74 migration, 26 màn hình web, 37 màn hình quản trị và 23 màn hình mobile.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18879D9-F33B-4D69-97C1-1F04AE0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473952"/>
            <a:ext cx="292608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NEXTGEN PROJECT SCALE</a:t>
            </a:r>
          </a:p>
        </p:txBody>
      </p:sp>
      <p:pic>
        <p:nvPicPr>
          <p:cNvPr id="5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26ccfd12c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18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BD7044E-E063-4C13-9844-AF32642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87551"/>
            <a:ext cx="10744200" cy="47274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8FAB2ECF-BDEE-4BF1-B70A-A4A4F05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32588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C6F0417E-8C16-4A3B-91A5-E8C7919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31520"/>
            <a:ext cx="960120" cy="8686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BA3D640-A826-49DA-9996-E3B6882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38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6A1D4CC-DAEC-4783-9FE8-8D18F56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621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890961F-53B9-461F-A206-7DB769A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1344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08373B-8A03-450B-B358-99FD12AC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A3BE8A3-6C8F-442B-85AA-9AC234D8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960120" cy="6400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EF78883-E357-4946-94E9-80AB64A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5742432"/>
            <a:ext cx="1508760" cy="38404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37CABF9-3679-4047-9C2E-3E8C751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3949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6E5C20F-5ACE-4BC3-A51A-9FF7E03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58795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775FE47-67A0-4957-B042-FA2388E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56327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02E824-C22D-4F1B-BA18-83F7424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572768"/>
            <a:ext cx="141732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D83807-3B08-4406-82AF-0F44E31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618488"/>
            <a:ext cx="14173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42E18A-E3CE-4810-B895-D1BCACC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2" y="1983741"/>
            <a:ext cx="455371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Một hành trình xuyên suốt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thay vì trình diễn rời rạc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53BC0D-7E3B-4929-9A27-560E064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182112"/>
            <a:ext cx="6035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Demo chứng minh dữ liệu được liên kết từ khách hàng đến quản trị và tăng trưởng.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1A5C65-48F2-4324-9FF5-D052DD4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840480"/>
            <a:ext cx="2487168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GIAO DIỆN THỰC TẾ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5FEC5D1-58E2-4523-A31C-188A25C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96512"/>
            <a:ext cx="15727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6825E07C-8FF2-4EDE-939C-2444D09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448F5E2-09A3-42AB-8649-23D58F0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1C1039-A599-4B53-864E-8BA4081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169664"/>
            <a:ext cx="111556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0474125A-2ACC-44A0-9EC4-19E85C4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96512"/>
            <a:ext cx="19202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A7C90CC3-B1C6-4730-A1C6-91FEB76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E6054A8-190C-406B-A852-FB57ABF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56FA475-D6FE-48B7-8C4B-C965600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169664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Giỏ hàng &amp; voucher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F77DB4F-F567-49E3-BBF6-C548731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6512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B26C1C2-93E1-419A-9666-43B5712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FE24C76-173F-423A-942F-9C20DEC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5998E21-B05F-4254-8448-7381E1C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169664"/>
            <a:ext cx="141731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Thanh toán &amp; đơn hàng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E228C710-DA79-4E17-AE7A-767DA5F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45152"/>
            <a:ext cx="19385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8412D27-F3E1-4275-81B4-0F1E2D85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4850DCF-79F0-4311-9226-E52F261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F03319D-DB34-44D4-BB88-4C23A22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718304"/>
            <a:ext cx="1481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Admin xử lý đơn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4077358F-2231-4D67-B41C-44D097E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45152"/>
            <a:ext cx="2084831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9EFE09BA-EA7B-44A0-A861-BD820C5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47E8067-681A-4470-BDB9-C1CFA63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D635D0F8-A623-48CC-BCB0-7D8879D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9" y="4718304"/>
            <a:ext cx="162763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Affiliate &amp; loyalty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F1B1747-14C1-4395-A5CA-CAD3FB4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645152"/>
            <a:ext cx="19659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6A81E3C-858D-483F-B4FF-409E658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52B7A2F-845D-42DB-A2DD-C389BA0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0706BCC-51B3-421D-BE5A-EDBD6EBD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718304"/>
            <a:ext cx="1508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Chấm công khuôn mặt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F05975F-8CD5-4207-AFFD-B2EC850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30368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Luồng demo:  Mua hàng  →  Thanh toán  →  Realtime  →  Quản trị  →  Loyalty  →  Face ID</a:t>
            </a: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CA2A2FB-FA1B-44A5-B952-03454D9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053328"/>
            <a:ext cx="9985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ED9F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82671F33-0972-436F-AAB1-D2BEA5A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199632"/>
            <a:ext cx="30175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NEXTGEN END-TO-END DEMO</a:t>
            </a:r>
          </a:p>
        </p:txBody>
      </p:sp>
      <p:pic>
        <p:nvPicPr>
          <p:cNvPr id="10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a654cac8a4216"/>
          <a:srcRect xmlns:a="http://schemas.openxmlformats.org/drawingml/2006/main" l="0" t="7859" r="0" b="7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1796" y="1824228"/>
            <a:ext cx="4192444" cy="198882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fae88ef4e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78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026FF86-465C-43EA-A8AE-C8A58340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777240"/>
            <a:ext cx="836676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285FB9B2-D693-4405-A8F2-FF62589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1480"/>
            <a:ext cx="1554480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2E11B82-62B5-41D3-83AB-F7C1DF5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13232"/>
            <a:ext cx="1069848" cy="95097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15667223-94E1-411A-B9F8-94750A7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16768" y="530352"/>
            <a:ext cx="758952" cy="113385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24826EF-4166-48CF-8102-9BC030F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2926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C36D009-F9F8-4F2B-8D4A-2227FCA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6035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69D5B0A-93D3-445F-943F-C09192E3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3898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C8C4CE4-28FE-49C7-930C-979AE44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15361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628D8E4-DA98-438A-8037-3D62267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24" y="44805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8055B1-0F23-487B-BF8A-F9B421F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15544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07F63F6-101F-4B14-B368-AA3DA3C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577840"/>
            <a:ext cx="1097280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80F7608-8F6E-4754-B44D-729365F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7320" y="5687568"/>
            <a:ext cx="150876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A36BF51-4DD7-4E6F-B75E-4CCF1685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687568"/>
            <a:ext cx="141732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60B1B5-5949-423A-B95A-D348E0E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549554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CF30C42-5676-4B02-8013-CB794C1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88873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F37129-CCCC-4A58-A93D-C6D5745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2C1D540-ED71-4685-9D03-37DACC06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57784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D9EE10C-2978-4174-8F1F-9741711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FF5057-CE8C-4BD1-903D-B5CCE5C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61872"/>
            <a:ext cx="23774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36E5A0-FEE9-4F9A-9089-84137ED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98448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D1F03B6-1633-4F0F-95AC-EDD3B7C5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47088"/>
            <a:ext cx="6446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NEXTGEN ECOSYSTEM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B1980C-AD1F-44DD-A839-8BAC914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97480"/>
            <a:ext cx="67208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Kết nối khách hàng, vận hành và tăng trưởng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trên web, mobile và realtime.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706D5651-C22C-4D97-BC75-CD75820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93592"/>
            <a:ext cx="7315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969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C6783A7-E0EE-4F3F-9D79-903FF89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7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36BA97C-8E3D-4468-9806-2248D46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18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A52579D-EB75-4E00-A380-A6FC703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F65DEDE-6428-41CB-AEDF-5A417FD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77639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D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3C71372-13C4-41DA-84D3-3F193D6B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2245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9BEB82-4849-41C6-8D57-BF501D6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279392"/>
            <a:ext cx="4754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4F9F851-8B32-4F13-BEEA-966956EC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33087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Q&amp;A • THẢO LUẬN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53C9556-93C2-4CDB-81CC-4A15608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43984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Sẵn sàng trình diễn luồng nghiệp vụ thực tế.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A41F8C2-72EF-42BF-8244-A86E4CE4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85232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Predator Group  •  NextGen Laptop Ecosystem</a:t>
            </a:r>
          </a:p>
        </p:txBody>
      </p:sp>
      <p:pic>
        <p:nvPicPr>
          <p:cNvPr id="67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70d7fc90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11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2026-08-29T12:30:18.3280000Z</dcterms:created>
  <dcterms:modified xsi:type="dcterms:W3CDTF">2026-08-29T12:30:18.3280000Z</dcterms:modified>
</coreProperties>
</file>