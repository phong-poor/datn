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0a3c9044924d07" /><Relationship Type="http://schemas.openxmlformats.org/officeDocument/2006/relationships/extended-properties" Target="/docProps/app.xml" Id="R94b53a1c22c24291" /><Relationship Type="http://schemas.openxmlformats.org/officeDocument/2006/relationships/officeDocument" Target="/ppt/presentation.xml" Id="Re9dce21d621a48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0ab366fc3b48fa"/>
  </p:sldMasterIdLst>
  <p:notesMasterIdLst>
    <p:notesMasterId xmlns:r="http://schemas.openxmlformats.org/officeDocument/2006/relationships" r:id="R54934fe1db294187"/>
  </p:notesMasterIdLst>
  <p:sldIdLst>
    <p:sldId xmlns:r="http://schemas.openxmlformats.org/officeDocument/2006/relationships" id="256" r:id="R15ac566e3f094c1c"/>
    <p:sldId xmlns:r="http://schemas.openxmlformats.org/officeDocument/2006/relationships" id="257" r:id="R387d9104bab44afe"/>
    <p:sldId xmlns:r="http://schemas.openxmlformats.org/officeDocument/2006/relationships" id="258" r:id="Re61ee77ca3254514"/>
    <p:sldId xmlns:r="http://schemas.openxmlformats.org/officeDocument/2006/relationships" id="259" r:id="Re2fa881d20e0468e"/>
    <p:sldId xmlns:r="http://schemas.openxmlformats.org/officeDocument/2006/relationships" id="260" r:id="Rfe57602e23744793"/>
    <p:sldId xmlns:r="http://schemas.openxmlformats.org/officeDocument/2006/relationships" id="261" r:id="R09ccfe27e9d04191"/>
    <p:sldId xmlns:r="http://schemas.openxmlformats.org/officeDocument/2006/relationships" id="262" r:id="R2bf6786d4fe34f58"/>
    <p:sldId xmlns:r="http://schemas.openxmlformats.org/officeDocument/2006/relationships" id="263" r:id="Raac3a76d7f4645f5"/>
    <p:sldId xmlns:r="http://schemas.openxmlformats.org/officeDocument/2006/relationships" id="264" r:id="Rd08f6eeaf0154f16"/>
    <p:sldId xmlns:r="http://schemas.openxmlformats.org/officeDocument/2006/relationships" id="265" r:id="R26e61f732a10423b"/>
    <p:sldId xmlns:r="http://schemas.openxmlformats.org/officeDocument/2006/relationships" id="266" r:id="R6ce565ea71e04f8f"/>
    <p:sldId xmlns:r="http://schemas.openxmlformats.org/officeDocument/2006/relationships" id="267" r:id="Rfd5da5d2acf94e97"/>
    <p:sldId xmlns:r="http://schemas.openxmlformats.org/officeDocument/2006/relationships" id="268" r:id="Rbfb54fe6cda841ea"/>
    <p:sldId xmlns:r="http://schemas.openxmlformats.org/officeDocument/2006/relationships" id="269" r:id="R803f098f5cc94bac"/>
    <p:sldId xmlns:r="http://schemas.openxmlformats.org/officeDocument/2006/relationships" id="270" r:id="R3a8d1864a72346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1f845152744c14" /><Relationship Type="http://schemas.openxmlformats.org/officeDocument/2006/relationships/slideMaster" Target="/ppt/slideMasters/slideMaster1.xml" Id="R5c0ab366fc3b48fa" /><Relationship Type="http://schemas.openxmlformats.org/officeDocument/2006/relationships/notesMaster" Target="/ppt/notesMasters/notesMaster1.xml" Id="R54934fe1db294187" /><Relationship Type="http://schemas.openxmlformats.org/officeDocument/2006/relationships/presProps" Target="/ppt/presProps.xml" Id="R71cb8c94812d4a15" /><Relationship Type="http://schemas.openxmlformats.org/officeDocument/2006/relationships/viewProps" Target="/ppt/viewProps.xml" Id="R8c01b6bacf2b4413" /><Relationship Type="http://schemas.openxmlformats.org/officeDocument/2006/relationships/tableStyles" Target="/ppt/tableStyles.xml" Id="R9d692b918a91417b" /><Relationship Type="http://schemas.openxmlformats.org/officeDocument/2006/relationships/slide" Target="/ppt/slides/slide1.xml" Id="R15ac566e3f094c1c" /><Relationship Type="http://schemas.openxmlformats.org/officeDocument/2006/relationships/slide" Target="/ppt/slides/slide2.xml" Id="R387d9104bab44afe" /><Relationship Type="http://schemas.openxmlformats.org/officeDocument/2006/relationships/slide" Target="/ppt/slides/slide3.xml" Id="Re61ee77ca3254514" /><Relationship Type="http://schemas.openxmlformats.org/officeDocument/2006/relationships/slide" Target="/ppt/slides/slide4.xml" Id="Re2fa881d20e0468e" /><Relationship Type="http://schemas.openxmlformats.org/officeDocument/2006/relationships/slide" Target="/ppt/slides/slide5.xml" Id="Rfe57602e23744793" /><Relationship Type="http://schemas.openxmlformats.org/officeDocument/2006/relationships/slide" Target="/ppt/slides/slide6.xml" Id="R09ccfe27e9d04191" /><Relationship Type="http://schemas.openxmlformats.org/officeDocument/2006/relationships/slide" Target="/ppt/slides/slide7.xml" Id="R2bf6786d4fe34f58" /><Relationship Type="http://schemas.openxmlformats.org/officeDocument/2006/relationships/slide" Target="/ppt/slides/slide8.xml" Id="Raac3a76d7f4645f5" /><Relationship Type="http://schemas.openxmlformats.org/officeDocument/2006/relationships/slide" Target="/ppt/slides/slide9.xml" Id="Rd08f6eeaf0154f16" /><Relationship Type="http://schemas.openxmlformats.org/officeDocument/2006/relationships/slide" Target="/ppt/slides/slide10.xml" Id="R26e61f732a10423b" /><Relationship Type="http://schemas.openxmlformats.org/officeDocument/2006/relationships/slide" Target="/ppt/slides/slide11.xml" Id="R6ce565ea71e04f8f" /><Relationship Type="http://schemas.openxmlformats.org/officeDocument/2006/relationships/slide" Target="/ppt/slides/slide12.xml" Id="Rfd5da5d2acf94e97" /><Relationship Type="http://schemas.openxmlformats.org/officeDocument/2006/relationships/slide" Target="/ppt/slides/slide13.xml" Id="Rbfb54fe6cda841ea" /><Relationship Type="http://schemas.openxmlformats.org/officeDocument/2006/relationships/slide" Target="/ppt/slides/slide14.xml" Id="R803f098f5cc94bac" /><Relationship Type="http://schemas.openxmlformats.org/officeDocument/2006/relationships/slide" Target="/ppt/slides/slide15.xml" Id="R3a8d1864a72346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d596f2106e49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95bd97a211468a" /><Relationship Type="http://schemas.openxmlformats.org/officeDocument/2006/relationships/notesMaster" Target="/ppt/notesMasters/notesMaster1.xml" Id="Rd9a2aad93bf345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b64f1ba1324a73" /><Relationship Type="http://schemas.openxmlformats.org/officeDocument/2006/relationships/notesMaster" Target="/ppt/notesMasters/notesMaster1.xml" Id="R29d6a682424243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b6c2fde7634b70" /><Relationship Type="http://schemas.openxmlformats.org/officeDocument/2006/relationships/notesMaster" Target="/ppt/notesMasters/notesMaster1.xml" Id="Rb22405e060c84a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7af6e087f04b13" /><Relationship Type="http://schemas.openxmlformats.org/officeDocument/2006/relationships/notesMaster" Target="/ppt/notesMasters/notesMaster1.xml" Id="R64306023c97945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24b8c8f97c4769" /><Relationship Type="http://schemas.openxmlformats.org/officeDocument/2006/relationships/notesMaster" Target="/ppt/notesMasters/notesMaster1.xml" Id="R6c641e49f1f344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73d25e583f4489" /><Relationship Type="http://schemas.openxmlformats.org/officeDocument/2006/relationships/notesMaster" Target="/ppt/notesMasters/notesMaster1.xml" Id="Rd8f2d54de25848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d629333d8f4057" /><Relationship Type="http://schemas.openxmlformats.org/officeDocument/2006/relationships/notesMaster" Target="/ppt/notesMasters/notesMaster1.xml" Id="Recd0e6b133234d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accedd7f2042d4" /><Relationship Type="http://schemas.openxmlformats.org/officeDocument/2006/relationships/notesMaster" Target="/ppt/notesMasters/notesMaster1.xml" Id="R65b849d41eb642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ddca09d7944590" /><Relationship Type="http://schemas.openxmlformats.org/officeDocument/2006/relationships/notesMaster" Target="/ppt/notesMasters/notesMaster1.xml" Id="R6ba7a1d65bd144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f7dff4fa6c4920" /><Relationship Type="http://schemas.openxmlformats.org/officeDocument/2006/relationships/notesMaster" Target="/ppt/notesMasters/notesMaster1.xml" Id="Redb647ad1ff142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bd918f5d78446e" /><Relationship Type="http://schemas.openxmlformats.org/officeDocument/2006/relationships/notesMaster" Target="/ppt/notesMasters/notesMaster1.xml" Id="Rdebcf7d29aa448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3e616131234cf5" /><Relationship Type="http://schemas.openxmlformats.org/officeDocument/2006/relationships/notesMaster" Target="/ppt/notesMasters/notesMaster1.xml" Id="R49437650112f48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158972c74142f2" /><Relationship Type="http://schemas.openxmlformats.org/officeDocument/2006/relationships/notesMaster" Target="/ppt/notesMasters/notesMaster1.xml" Id="R05ac5483707c43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5fe7eda9bb4e50" /><Relationship Type="http://schemas.openxmlformats.org/officeDocument/2006/relationships/notesMaster" Target="/ppt/notesMasters/notesMaster1.xml" Id="R3b15121123fc49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906b52e77a4809" /><Relationship Type="http://schemas.openxmlformats.org/officeDocument/2006/relationships/notesMaster" Target="/ppt/notesMasters/notesMaster1.xml" Id="R83b9a5b8803749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luận điểm: đây là hệ sinh thái bán lẻ đa nền tảng, không phải website CRUD.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ngắn vai trò nhóm; không đọc lần lượt quá lâu.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bài toán và định vị giải pháp theo hành trình vận hành thật.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ba nhóm dùng chung một nguồn dữ liệu và phân quyền.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 giảng viên thấy giao diện thật và tính nhất quán.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Kể customer journey từ khám phá đến đánh giá sau mua.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cơ chế giữ chân: Xu, voucher, affiliate, gamification.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Trình bày kiến trúc một backend phục vụ web, mobile và realtime.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bốn miền dữ liệu thay vì đi sâu từng bảng.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dữ liệu đi từ khách hàng sang quản trị và dịch vụ nền.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Dừng lại ở ba khác biệt mạnh nhất của đồ án.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bằng chứng: 112 test, 338 assertions, 100% đạt.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số liệu quy mô để chứng minh phạm vi triển khai.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Chuyển ngay sang demo theo đúng thứ tự trên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luận bằng giá trị hệ thống, sau đó mời câu hỏi.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36876e7ef342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ea33b7c9a40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330f2807b45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4e114453184a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d803546954b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b96dd646a473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e09efe184459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b8ccbe222b4bc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7639f85864c0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a134931ab420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c3a436a08436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1ADCAD-46CD-493B-AF1F-895D1D94076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1470E13-E783-4863-973C-1095563BC1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D502E3E-1F8A-4A18-AFF1-3149F20445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9FE2F5-A83C-469F-81A3-69F402B6AF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9257DF-530A-419A-B415-E6144E8F19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E28F71-EC84-41C6-A1CD-6258E466C4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9922FD7-C0E9-46BA-94D8-69134BB270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964F24-BA4B-436D-B030-296696A157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A6A346-AF0C-4117-8023-3BEBCA6416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0D9B95-012C-4468-A87D-60DE6CAF30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33B884-64C9-4719-A40B-8AD8FEB105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D772EBD-74E1-4FBA-8911-48E392B108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04D1B20-AE5C-4B6D-90C7-EBAE608C72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DD9033F-DBA6-4539-8E78-25BB55B896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CFB498-1A0F-4B05-9380-008D478A3D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B18D4B-51E6-450C-896D-02A5E61F3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A0074E1-D5C4-456B-AD34-D2DDE4A40B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F159F6-0F0C-4D02-A554-A9E5EB2DB22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F62A990-8FBF-450C-B73B-37990AE168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D2B4570-AEED-4C20-A850-7DCA9B840F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8FCCA8-47FC-4312-BCD9-42994C899E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8156BA-0B3B-4AD1-9D48-A491509438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30053F-257D-4386-BB0E-5F3743987D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A0FB4DA-E75B-40BB-AD60-88387E77982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45193DB-E7D5-4A1B-A65E-1A9C66BD5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2C04187-6236-43C9-8A1F-EFF3A067ED7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24D1EF9-32A2-4825-8F1B-5C49E6B2F0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D3B8C5A-2678-4C4E-A712-5D28BF1ED5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DF7DAAF-635A-43C5-A0F9-AB45F2A363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A53A27-997C-4D70-BDC8-D67D84D6A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E0324C1-2141-491D-8330-C763C12C19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9D1F7A1-CA83-4E79-BF21-CBAFF60F46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84E328-1E96-4FB1-B847-8384671429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F25272F-5193-4E9F-99DE-713499E4BB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8E2230E-D325-44B6-B3BC-682E89DFEF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249D9AA-2327-41A5-B618-ABB9F136DC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D500F5-F7C4-4285-8D5C-606E9106D1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D4E221C-4A16-4EE5-AFF4-2BBA054806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DB0587C-EE8B-433C-BAAE-57BB946D320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3540B40-FCC2-4D09-9417-0F9E1B0847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97954A1-4371-48E3-AD8A-84244C75B9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52DFC9D-12AF-42E3-9814-C237D72C22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6D3573-45F2-46CD-BD46-98429B1D6C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BA4EED3-3FCF-4829-90D0-CEBFDD73978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468DCCB-D8CC-4984-83C2-1C0CBEAF59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D04E90D-8BF6-4B6F-BF08-593D70D6E6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E7C8647-0D60-49CC-B949-A4A78C654F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A9B38BB-23F6-47BA-B35B-C5118BA071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E9C6E0-8D85-4C6E-801C-CE63DD1CCE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2794A1E-F36F-4E55-A124-E7F64C2580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6273A8-943B-495B-8F8E-2EDAF8C18E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B4DECE-1259-42C3-9C55-0FE690DBE3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D9B312-6E91-4764-AC55-7780BCB9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A05214D-CE73-402C-8C2E-104F1F4856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87F0E5-C568-4DAF-8A3D-F01536BEB2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8957EF-791E-4980-97D0-D960526A57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780ED7-0CBF-494A-AA63-413E06B91B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6DB0CDB-498D-4519-8D6B-505EDB5F8E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8aaf6b6add4913" /><Relationship Type="http://schemas.openxmlformats.org/officeDocument/2006/relationships/slideLayout" Target="/ppt/slideLayouts/slideLayout1.xml" Id="Rf61671d3a93b4ce1" /><Relationship Type="http://schemas.openxmlformats.org/officeDocument/2006/relationships/slideLayout" Target="/ppt/slideLayouts/slideLayout2.xml" Id="R6c256320f96a4898" /><Relationship Type="http://schemas.openxmlformats.org/officeDocument/2006/relationships/slideLayout" Target="/ppt/slideLayouts/slideLayout3.xml" Id="R2efae20363a64433" /><Relationship Type="http://schemas.openxmlformats.org/officeDocument/2006/relationships/slideLayout" Target="/ppt/slideLayouts/slideLayout4.xml" Id="Rb78058835c954824" /><Relationship Type="http://schemas.openxmlformats.org/officeDocument/2006/relationships/slideLayout" Target="/ppt/slideLayouts/slideLayout5.xml" Id="Rf2e6662dc71a4c95" /><Relationship Type="http://schemas.openxmlformats.org/officeDocument/2006/relationships/slideLayout" Target="/ppt/slideLayouts/slideLayout6.xml" Id="R9c984e548334449e" /><Relationship Type="http://schemas.openxmlformats.org/officeDocument/2006/relationships/slideLayout" Target="/ppt/slideLayouts/slideLayout7.xml" Id="R0925c0771d8d428a" /><Relationship Type="http://schemas.openxmlformats.org/officeDocument/2006/relationships/slideLayout" Target="/ppt/slideLayouts/slideLayout8.xml" Id="Rcfa8629844db41d1" /><Relationship Type="http://schemas.openxmlformats.org/officeDocument/2006/relationships/slideLayout" Target="/ppt/slideLayouts/slideLayout9.xml" Id="Rf13dfb35731b4945" /><Relationship Type="http://schemas.openxmlformats.org/officeDocument/2006/relationships/slideLayout" Target="/ppt/slideLayouts/slideLayout10.xml" Id="R6ae2f613475a4565" /><Relationship Type="http://schemas.openxmlformats.org/officeDocument/2006/relationships/slideLayout" Target="/ppt/slideLayouts/slideLayout11.xml" Id="R074a840118bf45a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F393039-CF78-45D3-B304-ED3A6B0712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62B8D0C-6440-4343-9F71-6E02B2CCF9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9249CE-B1E0-479A-9BD9-0F064AD0108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B24FC5-75D4-49EF-9BFD-155667C7C9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221216-61FA-448B-B806-6D4A820F1E2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1671d3a93b4ce1"/>
    <p:sldLayoutId xmlns:r="http://schemas.openxmlformats.org/officeDocument/2006/relationships" id="2147483650" r:id="R6c256320f96a4898"/>
    <p:sldLayoutId xmlns:r="http://schemas.openxmlformats.org/officeDocument/2006/relationships" id="2147483651" r:id="R2efae20363a64433"/>
    <p:sldLayoutId xmlns:r="http://schemas.openxmlformats.org/officeDocument/2006/relationships" id="2147483652" r:id="Rb78058835c954824"/>
    <p:sldLayoutId xmlns:r="http://schemas.openxmlformats.org/officeDocument/2006/relationships" id="2147483653" r:id="Rf2e6662dc71a4c95"/>
    <p:sldLayoutId xmlns:r="http://schemas.openxmlformats.org/officeDocument/2006/relationships" id="2147483654" r:id="R9c984e548334449e"/>
    <p:sldLayoutId xmlns:r="http://schemas.openxmlformats.org/officeDocument/2006/relationships" id="2147483655" r:id="R0925c0771d8d428a"/>
    <p:sldLayoutId xmlns:r="http://schemas.openxmlformats.org/officeDocument/2006/relationships" id="2147483656" r:id="Rcfa8629844db41d1"/>
    <p:sldLayoutId xmlns:r="http://schemas.openxmlformats.org/officeDocument/2006/relationships" id="2147483657" r:id="Rf13dfb35731b4945"/>
    <p:sldLayoutId xmlns:r="http://schemas.openxmlformats.org/officeDocument/2006/relationships" id="2147483658" r:id="R6ae2f613475a4565"/>
    <p:sldLayoutId xmlns:r="http://schemas.openxmlformats.org/officeDocument/2006/relationships" id="2147483659" r:id="R074a840118bf45ae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9624b750354ae8" /><Relationship Type="http://schemas.openxmlformats.org/officeDocument/2006/relationships/image" Target="/ppt/media/image.png" Id="R31779b98206e43cb" /><Relationship Type="http://schemas.openxmlformats.org/officeDocument/2006/relationships/image" Target="/ppt/media/image2.png" Id="R36b6f63a03a249ea" /><Relationship Type="http://schemas.openxmlformats.org/officeDocument/2006/relationships/notesSlide" Target="/ppt/notesSlides/notesSlide1.xml" Id="R84b17f9e54e54f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8cc735f3b547fa" /><Relationship Type="http://schemas.openxmlformats.org/officeDocument/2006/relationships/image" Target="/ppt/media/image2.png" Id="Rc89abd6eed9e4665" /><Relationship Type="http://schemas.openxmlformats.org/officeDocument/2006/relationships/notesSlide" Target="/ppt/notesSlides/notesSlide2.xml" Id="R3d01d559b7db4a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4ceb4971f3459f" /><Relationship Type="http://schemas.openxmlformats.org/officeDocument/2006/relationships/image" Target="/ppt/media/image2.png" Id="Rad5daf4b3f564352" /><Relationship Type="http://schemas.openxmlformats.org/officeDocument/2006/relationships/notesSlide" Target="/ppt/notesSlides/notesSlide3.xml" Id="Rcbf87c597f284f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9c73127fba4397" /><Relationship Type="http://schemas.openxmlformats.org/officeDocument/2006/relationships/image" Target="/ppt/media/image2.png" Id="R9f6c84b7a6214fac" /><Relationship Type="http://schemas.openxmlformats.org/officeDocument/2006/relationships/notesSlide" Target="/ppt/notesSlides/notesSlide4.xml" Id="R4ef0b4b56da74d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4a7f651e704d37" /><Relationship Type="http://schemas.openxmlformats.org/officeDocument/2006/relationships/image" Target="/ppt/media/image.jpeg" Id="R96c4714ce05f4448" /><Relationship Type="http://schemas.openxmlformats.org/officeDocument/2006/relationships/image" Target="/ppt/media/image2.jpeg" Id="Rbce850b26749485b" /><Relationship Type="http://schemas.openxmlformats.org/officeDocument/2006/relationships/image" Target="/ppt/media/image3.jpeg" Id="R2ddb6f18fe71439d" /><Relationship Type="http://schemas.openxmlformats.org/officeDocument/2006/relationships/image" Target="/ppt/media/image2.png" Id="R2c82cda42e3342e7" /><Relationship Type="http://schemas.openxmlformats.org/officeDocument/2006/relationships/notesSlide" Target="/ppt/notesSlides/notesSlide5.xml" Id="R6c7dd729153144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daa2b11e394cd9" /><Relationship Type="http://schemas.openxmlformats.org/officeDocument/2006/relationships/image" Target="/ppt/media/image2.png" Id="R06c54e79f3124338" /><Relationship Type="http://schemas.openxmlformats.org/officeDocument/2006/relationships/notesSlide" Target="/ppt/notesSlides/notesSlide6.xml" Id="R34fc7a5eaebf4b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553df74f35483f" /><Relationship Type="http://schemas.openxmlformats.org/officeDocument/2006/relationships/image" Target="/ppt/media/image2.png" Id="R31699bdd998c4ce5" /><Relationship Type="http://schemas.openxmlformats.org/officeDocument/2006/relationships/notesSlide" Target="/ppt/notesSlides/notesSlide7.xml" Id="R196cf4307d2b49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92c2947a444ac4" /><Relationship Type="http://schemas.openxmlformats.org/officeDocument/2006/relationships/image" Target="/ppt/media/image3.png" Id="R22f9d81c3a1a4219" /><Relationship Type="http://schemas.openxmlformats.org/officeDocument/2006/relationships/image" Target="/ppt/media/image4.png" Id="Rf98261bea9cd4079" /><Relationship Type="http://schemas.openxmlformats.org/officeDocument/2006/relationships/image" Target="/ppt/media/image5.png" Id="R5d0a0d9b090543e7" /><Relationship Type="http://schemas.openxmlformats.org/officeDocument/2006/relationships/image" Target="/ppt/media/image6.png" Id="R7e2754f10310469e" /><Relationship Type="http://schemas.openxmlformats.org/officeDocument/2006/relationships/image" Target="/ppt/media/image7.png" Id="R1ceb9f547738486e" /><Relationship Type="http://schemas.openxmlformats.org/officeDocument/2006/relationships/image" Target="/ppt/media/image8.png" Id="Rf14cca8ebc0d48b7" /><Relationship Type="http://schemas.openxmlformats.org/officeDocument/2006/relationships/image" Target="/ppt/media/image2.png" Id="R50b282d522d04661" /><Relationship Type="http://schemas.openxmlformats.org/officeDocument/2006/relationships/notesSlide" Target="/ppt/notesSlides/notesSlide8.xml" Id="Rb3d4e56166a248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b25a9ffdb24099" /><Relationship Type="http://schemas.openxmlformats.org/officeDocument/2006/relationships/image" Target="/ppt/media/image9.png" Id="Rc488bfcb06814581" /><Relationship Type="http://schemas.openxmlformats.org/officeDocument/2006/relationships/image" Target="/ppt/media/image2.png" Id="Rb8383042ba264515" /><Relationship Type="http://schemas.openxmlformats.org/officeDocument/2006/relationships/notesSlide" Target="/ppt/notesSlides/notesSlide9.xml" Id="Rbc8751211f9442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54d015424c4824" /><Relationship Type="http://schemas.openxmlformats.org/officeDocument/2006/relationships/image" Target="/ppt/media/image2.png" Id="R1e0af99d887b4f4c" /><Relationship Type="http://schemas.openxmlformats.org/officeDocument/2006/relationships/notesSlide" Target="/ppt/notesSlides/notesSlide10.xml" Id="R162ca5c91fbc43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18b71b36344bb1" /><Relationship Type="http://schemas.openxmlformats.org/officeDocument/2006/relationships/image" Target="/ppt/media/image2.png" Id="Rdf9153b45b334d34" /><Relationship Type="http://schemas.openxmlformats.org/officeDocument/2006/relationships/notesSlide" Target="/ppt/notesSlides/notesSlide11.xml" Id="Rd76be941848d48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c55326d01b499c" /><Relationship Type="http://schemas.openxmlformats.org/officeDocument/2006/relationships/chart" Target="/ppt/slides/charts/chart1.xml" Id="Re43303e9b0a0480c" /><Relationship Type="http://schemas.openxmlformats.org/officeDocument/2006/relationships/chart" Target="/ppt/slides/charts/chart2.xml" Id="R56c9a9e00418457d" /><Relationship Type="http://schemas.openxmlformats.org/officeDocument/2006/relationships/image" Target="/ppt/media/image2.png" Id="R92b1b566af4f46f8" /><Relationship Type="http://schemas.openxmlformats.org/officeDocument/2006/relationships/notesSlide" Target="/ppt/notesSlides/notesSlide12.xml" Id="R9494d457b1c54e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18bf1647a346b7" /><Relationship Type="http://schemas.openxmlformats.org/officeDocument/2006/relationships/image" Target="/ppt/media/image2.png" Id="Re1bf05015fd0490d" /><Relationship Type="http://schemas.openxmlformats.org/officeDocument/2006/relationships/notesSlide" Target="/ppt/notesSlides/notesSlide13.xml" Id="R1cf741154b9a4a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78dc002d8c4f7b" /><Relationship Type="http://schemas.openxmlformats.org/officeDocument/2006/relationships/image" Target="/ppt/media/image4.jpeg" Id="R7a90d4f3018e4ea9" /><Relationship Type="http://schemas.openxmlformats.org/officeDocument/2006/relationships/image" Target="/ppt/media/image2.png" Id="R5fcf071a4fb7453d" /><Relationship Type="http://schemas.openxmlformats.org/officeDocument/2006/relationships/notesSlide" Target="/ppt/notesSlides/notesSlide14.xml" Id="R5d206149043c46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c4cc64d9f94a5e" /><Relationship Type="http://schemas.openxmlformats.org/officeDocument/2006/relationships/image" Target="/ppt/media/image2.png" Id="R3816496111f047c0" /><Relationship Type="http://schemas.openxmlformats.org/officeDocument/2006/relationships/notesSlide" Target="/ppt/notesSlides/notesSlide15.xml" Id="R1cc27802cacd42d0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0"/>
    <c:plotArea>
      <c:pieChart>
        <c:ser>
          <c:idx val="0"/>
          <c:order val="0"/>
          <c:tx>
            <c:strRef>
              <c:f>Sheet1!$B$1</c:f>
              <c:strCache>
                <c:ptCount val="1"/>
                <c:pt idx="0">
                  <c:v>Kết quả</c:v>
                </c:pt>
              </c:strCache>
            </c:strRef>
          </c:tx>
          <c:dPt>
            <c:idx val="0"/>
            <c:spPr>
              <a:solidFill xmlns:a="http://schemas.openxmlformats.org/drawingml/2006/main">
                <a:srgbClr val="32B25C"/>
              </a:solidFill>
            </c:spPr>
          </c:dPt>
          <c:dPt>
            <c:idx val="1"/>
            <c:spPr>
              <a:solidFill xmlns:a="http://schemas.openxmlformats.org/drawingml/2006/main">
                <a:srgbClr val="F43B30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>
                    <a:latin typeface="Arial"/>
                    <a:ea typeface="Arial"/>
                    <a:cs typeface="Arial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1"/>
                <c:pt idx="0">
                  <c:v>112</c:v>
                </c:pt>
              </c:numCache>
            </c:numRef>
          </c:val>
        </c:ser>
        <c:dLbls>
          <c:dLblPos val="bestFit"/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0"/>
    <c:plotArea>
      <c:pieChart>
        <c:ser>
          <c:idx val="0"/>
          <c:order val="0"/>
          <c:tx>
            <c:strRef>
              <c:f>Sheet1!$B$1</c:f>
              <c:strCache>
                <c:ptCount val="1"/>
                <c:pt idx="0">
                  <c:v>Test case</c:v>
                </c:pt>
              </c:strCache>
            </c:strRef>
          </c:tx>
          <c:dPt>
            <c:idx val="0"/>
            <c:spPr>
              <a:solidFill xmlns:a="http://schemas.openxmlformats.org/drawingml/2006/main">
                <a:srgbClr val="1964E1"/>
              </a:solidFill>
            </c:spPr>
          </c:dPt>
          <c:dPt>
            <c:idx val="1"/>
            <c:spPr>
              <a:solidFill xmlns:a="http://schemas.openxmlformats.org/drawingml/2006/main">
                <a:srgbClr val="F43B30"/>
              </a:solidFill>
            </c:spPr>
          </c:dPt>
          <c:dPt>
            <c:idx val="2"/>
            <c:spPr>
              <a:solidFill xmlns:a="http://schemas.openxmlformats.org/drawingml/2006/main">
                <a:srgbClr val="FFB80C"/>
              </a:solidFill>
            </c:spPr>
          </c:dPt>
          <c:dPt>
            <c:idx val="3"/>
            <c:spPr>
              <a:solidFill xmlns:a="http://schemas.openxmlformats.org/drawingml/2006/main">
                <a:srgbClr val="32B25C"/>
              </a:solidFill>
            </c:spPr>
          </c:dPt>
          <c:dPt>
            <c:idx val="4"/>
            <c:spPr>
              <a:solidFill xmlns:a="http://schemas.openxmlformats.org/drawingml/2006/main">
                <a:srgbClr val="FF7000"/>
              </a:solidFill>
            </c:spPr>
          </c:dPt>
          <c:dPt>
            <c:idx val="5"/>
            <c:spPr>
              <a:solidFill xmlns:a="http://schemas.openxmlformats.org/drawingml/2006/main">
                <a:srgbClr val="44B8BF"/>
              </a:solidFill>
            </c:spPr>
          </c:dPt>
          <c:dPt>
            <c:idx val="6"/>
            <c:spPr>
              <a:solidFill xmlns:a="http://schemas.openxmlformats.org/drawingml/2006/main">
                <a:srgbClr val="709FEB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750" b="1">
                    <a:latin typeface="Arial"/>
                    <a:ea typeface="Arial"/>
                    <a:cs typeface="Arial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Sheet1!$A$2:$A$8</c:f>
              <c:strCache>
                <c:ptCount val="6"/>
                <c:pt idx="0">
                  <c:v>Admin &amp; bảo mật</c:v>
                </c:pt>
                <c:pt idx="1">
                  <c:v>Xác thực tài khoản</c:v>
                </c:pt>
                <c:pt idx="2">
                  <c:v>Affiliate &amp; ví</c:v>
                </c:pt>
                <c:pt idx="3">
                  <c:v>Marketing &amp; nội dung</c:v>
                </c:pt>
                <c:pt idx="4">
                  <c:v>Mua hàng &amp; đánh giá</c:v>
                </c:pt>
                <c:pt idx="5">
                  <c:v>Core UI &amp; bảo vệ file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6"/>
                <c:pt idx="0">
                  <c:v>36</c:v>
                </c:pt>
                <c:pt idx="1">
                  <c:v>27</c:v>
                </c:pt>
                <c:pt idx="2">
                  <c:v>13</c:v>
                </c:pt>
                <c:pt idx="3">
                  <c:v>20</c:v>
                </c:pt>
                <c:pt idx="4">
                  <c:v>11</c:v>
                </c:pt>
                <c:pt idx="5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334155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05C022EE-BC50-47F4-9822-B7ED8FB8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4939" y="597477"/>
            <a:ext cx="6583680" cy="5852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ACEE02F-AD71-40AA-AC11-D0E678DB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321808"/>
            <a:ext cx="4572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609C321-B820-4CA2-BC44-2FA242B0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413248"/>
            <a:ext cx="128016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01EE0C4-0716-4BC0-BA2F-28A412A7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413248"/>
            <a:ext cx="128016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04C3BAAC-359B-46CB-BFD9-8FEBC040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7955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120C2086-04D8-4507-8206-C13C2D57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5953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BEF5"/>
          </a:solidFill>
          <a:ln xmlns:a="http://schemas.openxmlformats.org/drawingml/2006/main" w="3810">
            <a:solidFill>
              <a:srgbClr val="68BEF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5D026059-7829-4A86-90B1-7F52E96E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914400"/>
            <a:ext cx="731520" cy="16459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CBE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28AADE26-8D0B-4FBD-853A-CF5FC01A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1" y="105156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9E0"/>
          </a:solidFill>
          <a:ln xmlns:a="http://schemas.openxmlformats.org/drawingml/2006/main" w="381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46EC7527-CDA5-4635-AAD0-30260822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57607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4FE8B07B-C1FC-4BD7-9C76-6C19B8FE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188" y="635508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BEF5"/>
          </a:solidFill>
          <a:ln xmlns:a="http://schemas.openxmlformats.org/drawingml/2006/main" w="2540">
            <a:solidFill>
              <a:srgbClr val="68BEF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Connector 43">
            <a:extLst xmlns:a="http://schemas.openxmlformats.org/drawingml/2006/main">
              <a:ext uri="{FF2B5EF4-FFF2-40B4-BE49-F238E27FC236}">
                <a16:creationId xmlns:a16="http://schemas.microsoft.com/office/drawing/2014/main" id="{C0B06E3D-4C48-4F09-B28A-9BE126D1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65208" y="566928"/>
            <a:ext cx="1033272" cy="11887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AFD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1627646B-917A-4097-A9F7-AA895E86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4805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0160">
            <a:solidFill>
              <a:srgbClr val="0B306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152B5284-A745-43DD-8BAE-88E4E332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21792"/>
            <a:ext cx="594360" cy="54864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AFD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720F734A-211F-442E-8D16-950439F3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72" y="1014983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B306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32F55E09-6967-4573-B07A-D84B3FA9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8288" y="11430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BEF5"/>
          </a:solidFill>
          <a:ln xmlns:a="http://schemas.openxmlformats.org/drawingml/2006/main" w="1016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29BD3946-09BA-4E0F-ADDC-6A4FBCDF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1243584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2540">
            <a:solidFill>
              <a:srgbClr val="E2F3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68A81CF6-E0B0-46F2-B664-F9EC9E15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095" y="1337455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A89E0"/>
                </a:solidFill>
                <a:latin typeface="Arial"/>
                <a:ea typeface="Arial"/>
                <a:cs typeface="Arial"/>
              </a:rPr>
              <a:t>ĐỒ ÁN TỐT NGHIỆP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FFF7EF7D-A9AB-4D23-ABEA-F6DC249C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212508"/>
            <a:ext cx="5294376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0B3064"/>
                </a:solidFill>
                <a:latin typeface="Arial"/>
                <a:ea typeface="Arial"/>
                <a:cs typeface="Arial"/>
              </a:rPr>
              <a:t>NEXTGEN — HỆ SINH THÁI BÁN LẺ LAPTOP ĐA NỀN TẢNG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0692B0DE-AB3B-4E59-9B33-C943E3C6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931920"/>
            <a:ext cx="1143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9E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1C1362D6-DC8B-4007-B30A-A0C456ED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96512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646E7A"/>
                </a:solidFill>
                <a:latin typeface="Arial"/>
                <a:ea typeface="Arial"/>
                <a:cs typeface="Arial"/>
              </a:rPr>
              <a:t>Web • Mobile • Realtime • Loyalty • Affiliate</a:t>
            </a:r>
          </a:p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AAE5B1A3-D003-4ACB-ACB7-81D65B00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388" y="4723537"/>
            <a:ext cx="21488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9D90A6F3-00BC-4481-80C1-50394214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491947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270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0739E9B7-F6BC-430D-8417-815CB0AD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818888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46E7A"/>
                </a:solidFill>
                <a:latin typeface="Arial"/>
                <a:ea typeface="Arial"/>
                <a:cs typeface="Arial"/>
              </a:rPr>
              <a:t>NHÓM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295B5B06-5108-4337-94BC-2EFCBEDA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992734"/>
            <a:ext cx="149306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B3064"/>
                </a:solidFill>
                <a:latin typeface="Arial"/>
                <a:ea typeface="Arial"/>
                <a:cs typeface="Arial"/>
              </a:rPr>
              <a:t>Predator Group</a:t>
            </a:r>
          </a:p>
        </p:txBody>
      </p:sp>
      <p:sp>
        <p:nvSpPr>
          <p:cNvPr id="58" name="Rounded Rectangle 57">
            <a:extLst xmlns:a="http://schemas.openxmlformats.org/drawingml/2006/main">
              <a:ext uri="{FF2B5EF4-FFF2-40B4-BE49-F238E27FC236}">
                <a16:creationId xmlns:a16="http://schemas.microsoft.com/office/drawing/2014/main" id="{9289165E-442D-4CD0-A161-BCF72969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709160"/>
            <a:ext cx="274320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9406FEA9-D021-4817-B102-CD06F659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491947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270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8BD7B07C-579C-4EFB-8C79-C1D6362D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18888"/>
            <a:ext cx="1874519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46E7A"/>
                </a:solidFill>
                <a:latin typeface="Arial"/>
                <a:ea typeface="Arial"/>
                <a:cs typeface="Arial"/>
              </a:rPr>
              <a:t>GV HƯỚNG DẪN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22789E0D-81CD-4E04-8B9E-76FE27E6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10912"/>
            <a:ext cx="1874519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B3064"/>
                </a:solidFill>
                <a:latin typeface="Arial"/>
                <a:ea typeface="Arial"/>
                <a:cs typeface="Arial"/>
              </a:rPr>
              <a:t>Lê Hồng Sơn</a:t>
            </a:r>
          </a:p>
        </p:txBody>
      </p:sp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71315D13-308F-43C4-8F76-32FCF024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989320"/>
            <a:ext cx="50749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1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B8A8A0BD-A22A-4936-89CC-5BC36DF5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6099048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646E7A"/>
                </a:solidFill>
                <a:latin typeface="Arial"/>
                <a:ea typeface="Arial"/>
                <a:cs typeface="Arial"/>
              </a:rPr>
              <a:t>WEBSITE LAPTOP &amp; ACCESSORIES — 2026</a:t>
            </a:r>
          </a:p>
        </p:txBody>
      </p:sp>
      <p:pic>
        <p:nvPicPr>
          <p:cNvPr id="96" name="Picture 6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79b98206e43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458124" y="493667"/>
            <a:ext cx="9408488" cy="6272325"/>
          </a:xfrm>
          <a:prstGeom xmlns:a="http://schemas.openxmlformats.org/drawingml/2006/main" prst="rect">
            <a:avLst/>
          </a:prstGeom>
        </p:spPr>
      </p:pic>
      <p:pic>
        <p:nvPicPr>
          <p:cNvPr id="97" name="Picture 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6f63a03a249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24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4A025605-F0B3-41B8-B5F3-51F2F2C4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C0411D2B-898E-4C39-BECB-BC7A9F14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6A801330-5569-4F13-83CB-45A6151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46015FF0-77EC-4478-8A39-3D911EA5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13DC8A6D-6CFF-4770-A5C8-2A5E7AB7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FBB76386-E112-4770-A214-A11729C4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0BF5E27-D525-4AC4-9662-EDC85BD0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43043E73-ACEB-4293-88F2-7C545B38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C9022519-C90A-4471-B8EC-57DCE3B2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6D326B92-7238-4125-81E4-47DF4C31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FEC2790-F002-4361-8BB6-7A7DEA0F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470EFFD2-4F32-45C8-9E32-FC8AE3B1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37920AA0-0F35-4BA0-A59B-DFC1F3D7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10EA6D6A-3B8A-4771-953F-95BE5AC8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33D3E3E4-428A-47C6-B303-43FDFED9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783B5B46-4682-4578-BD30-AAE918DC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6EFC74F3-2798-4136-BB9A-A5155D27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DB403AB6-5E06-4636-B915-41319493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F7E36FED-A4A1-4075-8826-B630C898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6B581CD0-2ACD-443D-96A2-FBF01A3A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EBD716A3-A608-4F57-9C17-35D2EE9B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59F82653-738C-4E48-9EDE-BE8D9547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7F14494B-4C75-471B-826E-B54B0D14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76DCE626-952B-409F-8BCD-C9CF4B87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D70FC067-C73B-4082-A57D-AB0CB31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4307F995-F8CD-421A-A2A9-25A430F1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0D00EA78-0ACF-4329-A5BE-D19191B6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EEB4C182-D82D-4F9A-B7BA-7184D09D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C467A3FB-59EA-4BAB-9FE6-751C16FE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84024D1F-DEDC-4CC6-8FF7-C992729A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4D4B50B5-5ADB-441F-9160-8A855249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06FAE3BE-C8B0-49F5-8A38-7B7CFC0A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50484D58-8F20-41FE-9024-72D3D3E7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EB8C5C28-EC4F-46F4-9A51-D53C54C9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23A5724A-AB74-4FF7-9A0D-92482F06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E6D21730-744D-4023-8163-E2C86C05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B02E72A2-5B5E-4844-9459-414EB666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8F9D16E7-EBE5-4F8C-B76A-75183A90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Oval 39">
            <a:extLst xmlns:a="http://schemas.openxmlformats.org/drawingml/2006/main">
              <a:ext uri="{FF2B5EF4-FFF2-40B4-BE49-F238E27FC236}">
                <a16:creationId xmlns:a16="http://schemas.microsoft.com/office/drawing/2014/main" id="{E240FB6F-4B94-4DB1-BB36-B42CE03D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FD3D1FC6-CF05-42E5-86FD-9D3E9B9E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74CFEE07-ABB5-469E-A17C-051EB411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141933C2-E68A-452C-A31C-F98AD2EE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0AAB9B5F-CF91-4A50-B791-97E96EC0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031628FB-7837-42FD-AF4F-48855081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Oval 45">
            <a:extLst xmlns:a="http://schemas.openxmlformats.org/drawingml/2006/main">
              <a:ext uri="{FF2B5EF4-FFF2-40B4-BE49-F238E27FC236}">
                <a16:creationId xmlns:a16="http://schemas.microsoft.com/office/drawing/2014/main" id="{AEE701BE-7A09-42FA-BB09-8026ECBA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DFDA7EAD-9778-4D6E-830B-AB44463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F410B8C7-49AE-4E11-B3EC-DD4BD5A2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2935CA3F-B4E8-4A61-9B8B-ABC64186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Oval 49">
            <a:extLst xmlns:a="http://schemas.openxmlformats.org/drawingml/2006/main">
              <a:ext uri="{FF2B5EF4-FFF2-40B4-BE49-F238E27FC236}">
                <a16:creationId xmlns:a16="http://schemas.microsoft.com/office/drawing/2014/main" id="{32F08AFF-6942-4224-96AB-3A55D5E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ECFEBA03-F1E6-4E2A-8ED4-BC6222F8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2AA74424-4AEB-4C28-8780-CFEA464E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9CAB9071-2E2A-4C8E-A00D-F9BD5808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DC937E78-6ED8-459A-B33C-090AC420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09D84CD5-39A9-4C80-9942-EA53AA54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Oval 55">
            <a:extLst xmlns:a="http://schemas.openxmlformats.org/drawingml/2006/main">
              <a:ext uri="{FF2B5EF4-FFF2-40B4-BE49-F238E27FC236}">
                <a16:creationId xmlns:a16="http://schemas.microsoft.com/office/drawing/2014/main" id="{4E3D79B9-1F2C-44E1-AD30-4F01698C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AAF61AA2-CC04-4BD8-9107-2AF04300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Oval 57">
            <a:extLst xmlns:a="http://schemas.openxmlformats.org/drawingml/2006/main">
              <a:ext uri="{FF2B5EF4-FFF2-40B4-BE49-F238E27FC236}">
                <a16:creationId xmlns:a16="http://schemas.microsoft.com/office/drawing/2014/main" id="{2327B75C-B161-4093-9BA4-CDBAFFF4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5EB06989-2F27-4FCD-9FEA-392BB35E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Oval 59">
            <a:extLst xmlns:a="http://schemas.openxmlformats.org/drawingml/2006/main">
              <a:ext uri="{FF2B5EF4-FFF2-40B4-BE49-F238E27FC236}">
                <a16:creationId xmlns:a16="http://schemas.microsoft.com/office/drawing/2014/main" id="{BCBBC43F-8C01-40BE-81D4-6C1446AC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Oval 60">
            <a:extLst xmlns:a="http://schemas.openxmlformats.org/drawingml/2006/main">
              <a:ext uri="{FF2B5EF4-FFF2-40B4-BE49-F238E27FC236}">
                <a16:creationId xmlns:a16="http://schemas.microsoft.com/office/drawing/2014/main" id="{AA0E56B9-CECC-4D63-8AB6-0A00C675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Oval 61">
            <a:extLst xmlns:a="http://schemas.openxmlformats.org/drawingml/2006/main">
              <a:ext uri="{FF2B5EF4-FFF2-40B4-BE49-F238E27FC236}">
                <a16:creationId xmlns:a16="http://schemas.microsoft.com/office/drawing/2014/main" id="{ED69DDD3-708D-4350-85B2-EE24744F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Oval 62">
            <a:extLst xmlns:a="http://schemas.openxmlformats.org/drawingml/2006/main">
              <a:ext uri="{FF2B5EF4-FFF2-40B4-BE49-F238E27FC236}">
                <a16:creationId xmlns:a16="http://schemas.microsoft.com/office/drawing/2014/main" id="{82902ECD-A090-4B86-8133-B1BED56D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Oval 63">
            <a:extLst xmlns:a="http://schemas.openxmlformats.org/drawingml/2006/main">
              <a:ext uri="{FF2B5EF4-FFF2-40B4-BE49-F238E27FC236}">
                <a16:creationId xmlns:a16="http://schemas.microsoft.com/office/drawing/2014/main" id="{3CA12D43-C5C3-4934-B68D-50B77F4A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Oval 64">
            <a:extLst xmlns:a="http://schemas.openxmlformats.org/drawingml/2006/main">
              <a:ext uri="{FF2B5EF4-FFF2-40B4-BE49-F238E27FC236}">
                <a16:creationId xmlns:a16="http://schemas.microsoft.com/office/drawing/2014/main" id="{47DF6157-CB06-4746-9784-43F69B17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Oval 65">
            <a:extLst xmlns:a="http://schemas.openxmlformats.org/drawingml/2006/main">
              <a:ext uri="{FF2B5EF4-FFF2-40B4-BE49-F238E27FC236}">
                <a16:creationId xmlns:a16="http://schemas.microsoft.com/office/drawing/2014/main" id="{843CE5CD-3F90-4A07-9EE3-A8DABB2F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Oval 66">
            <a:extLst xmlns:a="http://schemas.openxmlformats.org/drawingml/2006/main">
              <a:ext uri="{FF2B5EF4-FFF2-40B4-BE49-F238E27FC236}">
                <a16:creationId xmlns:a16="http://schemas.microsoft.com/office/drawing/2014/main" id="{4AF2F932-E264-4EE0-81FD-E4090E41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Oval 67">
            <a:extLst xmlns:a="http://schemas.openxmlformats.org/drawingml/2006/main">
              <a:ext uri="{FF2B5EF4-FFF2-40B4-BE49-F238E27FC236}">
                <a16:creationId xmlns:a16="http://schemas.microsoft.com/office/drawing/2014/main" id="{B0F9A42A-68A2-44E6-B433-805688AA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Oval 68">
            <a:extLst xmlns:a="http://schemas.openxmlformats.org/drawingml/2006/main">
              <a:ext uri="{FF2B5EF4-FFF2-40B4-BE49-F238E27FC236}">
                <a16:creationId xmlns:a16="http://schemas.microsoft.com/office/drawing/2014/main" id="{9B3693D9-1E86-4460-A976-00F79486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0" name="Oval 69">
            <a:extLst xmlns:a="http://schemas.openxmlformats.org/drawingml/2006/main">
              <a:ext uri="{FF2B5EF4-FFF2-40B4-BE49-F238E27FC236}">
                <a16:creationId xmlns:a16="http://schemas.microsoft.com/office/drawing/2014/main" id="{6E647349-2D8D-4BEB-B290-68242D3F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1" name="Oval 70">
            <a:extLst xmlns:a="http://schemas.openxmlformats.org/drawingml/2006/main">
              <a:ext uri="{FF2B5EF4-FFF2-40B4-BE49-F238E27FC236}">
                <a16:creationId xmlns:a16="http://schemas.microsoft.com/office/drawing/2014/main" id="{1B3BE540-20EB-497E-927E-1FF0FDDA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Oval 71">
            <a:extLst xmlns:a="http://schemas.openxmlformats.org/drawingml/2006/main">
              <a:ext uri="{FF2B5EF4-FFF2-40B4-BE49-F238E27FC236}">
                <a16:creationId xmlns:a16="http://schemas.microsoft.com/office/drawing/2014/main" id="{9CE9E9C2-AA3D-41BC-8468-12B4008D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3" name="Oval 72">
            <a:extLst xmlns:a="http://schemas.openxmlformats.org/drawingml/2006/main">
              <a:ext uri="{FF2B5EF4-FFF2-40B4-BE49-F238E27FC236}">
                <a16:creationId xmlns:a16="http://schemas.microsoft.com/office/drawing/2014/main" id="{40F3DA12-9704-447B-932E-8C2427B4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4" name="Oval 73">
            <a:extLst xmlns:a="http://schemas.openxmlformats.org/drawingml/2006/main">
              <a:ext uri="{FF2B5EF4-FFF2-40B4-BE49-F238E27FC236}">
                <a16:creationId xmlns:a16="http://schemas.microsoft.com/office/drawing/2014/main" id="{197DF63D-FF00-4E16-9E4F-AA60272F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5" name="Oval 74">
            <a:extLst xmlns:a="http://schemas.openxmlformats.org/drawingml/2006/main">
              <a:ext uri="{FF2B5EF4-FFF2-40B4-BE49-F238E27FC236}">
                <a16:creationId xmlns:a16="http://schemas.microsoft.com/office/drawing/2014/main" id="{E68299BC-7C3A-46C7-82D9-5F7493DA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6" name="Oval 75">
            <a:extLst xmlns:a="http://schemas.openxmlformats.org/drawingml/2006/main">
              <a:ext uri="{FF2B5EF4-FFF2-40B4-BE49-F238E27FC236}">
                <a16:creationId xmlns:a16="http://schemas.microsoft.com/office/drawing/2014/main" id="{1205AE50-6220-405A-A7BA-797CA4F2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7" name="Oval 76">
            <a:extLst xmlns:a="http://schemas.openxmlformats.org/drawingml/2006/main">
              <a:ext uri="{FF2B5EF4-FFF2-40B4-BE49-F238E27FC236}">
                <a16:creationId xmlns:a16="http://schemas.microsoft.com/office/drawing/2014/main" id="{1CE57B86-7539-4752-AAD3-A87E8559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8" name="Oval 77">
            <a:extLst xmlns:a="http://schemas.openxmlformats.org/drawingml/2006/main">
              <a:ext uri="{FF2B5EF4-FFF2-40B4-BE49-F238E27FC236}">
                <a16:creationId xmlns:a16="http://schemas.microsoft.com/office/drawing/2014/main" id="{8482EFB2-649C-4DA6-92F8-25DC70B0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9" name="Oval 78">
            <a:extLst xmlns:a="http://schemas.openxmlformats.org/drawingml/2006/main">
              <a:ext uri="{FF2B5EF4-FFF2-40B4-BE49-F238E27FC236}">
                <a16:creationId xmlns:a16="http://schemas.microsoft.com/office/drawing/2014/main" id="{E12C6D0D-BE16-4D7D-811B-FA3C3316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0" name="Oval 79">
            <a:extLst xmlns:a="http://schemas.openxmlformats.org/drawingml/2006/main">
              <a:ext uri="{FF2B5EF4-FFF2-40B4-BE49-F238E27FC236}">
                <a16:creationId xmlns:a16="http://schemas.microsoft.com/office/drawing/2014/main" id="{BFC176D6-48DA-4E61-BA2B-533B9ABC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Oval 80">
            <a:extLst xmlns:a="http://schemas.openxmlformats.org/drawingml/2006/main">
              <a:ext uri="{FF2B5EF4-FFF2-40B4-BE49-F238E27FC236}">
                <a16:creationId xmlns:a16="http://schemas.microsoft.com/office/drawing/2014/main" id="{160709FC-5436-4AD5-935A-5525C26C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2" name="Oval 81">
            <a:extLst xmlns:a="http://schemas.openxmlformats.org/drawingml/2006/main">
              <a:ext uri="{FF2B5EF4-FFF2-40B4-BE49-F238E27FC236}">
                <a16:creationId xmlns:a16="http://schemas.microsoft.com/office/drawing/2014/main" id="{E3629B00-FEE5-4382-8257-DDF8A142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3" name="Oval 82">
            <a:extLst xmlns:a="http://schemas.openxmlformats.org/drawingml/2006/main">
              <a:ext uri="{FF2B5EF4-FFF2-40B4-BE49-F238E27FC236}">
                <a16:creationId xmlns:a16="http://schemas.microsoft.com/office/drawing/2014/main" id="{F3ABE733-B8DB-4DDE-BCC4-0276581C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4" name="Oval 83">
            <a:extLst xmlns:a="http://schemas.openxmlformats.org/drawingml/2006/main">
              <a:ext uri="{FF2B5EF4-FFF2-40B4-BE49-F238E27FC236}">
                <a16:creationId xmlns:a16="http://schemas.microsoft.com/office/drawing/2014/main" id="{933DE847-BB85-45F6-93EC-C8234DD9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5" name="Oval 84">
            <a:extLst xmlns:a="http://schemas.openxmlformats.org/drawingml/2006/main">
              <a:ext uri="{FF2B5EF4-FFF2-40B4-BE49-F238E27FC236}">
                <a16:creationId xmlns:a16="http://schemas.microsoft.com/office/drawing/2014/main" id="{E39C11CF-928B-4F2E-B954-4F8AC7A8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6" name="Oval 85">
            <a:extLst xmlns:a="http://schemas.openxmlformats.org/drawingml/2006/main">
              <a:ext uri="{FF2B5EF4-FFF2-40B4-BE49-F238E27FC236}">
                <a16:creationId xmlns:a16="http://schemas.microsoft.com/office/drawing/2014/main" id="{47E69115-6F80-4A07-8E1F-C3B28A20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7" name="Oval 86">
            <a:extLst xmlns:a="http://schemas.openxmlformats.org/drawingml/2006/main">
              <a:ext uri="{FF2B5EF4-FFF2-40B4-BE49-F238E27FC236}">
                <a16:creationId xmlns:a16="http://schemas.microsoft.com/office/drawing/2014/main" id="{4713922F-366E-48C7-AD63-943BA2FC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8" name="Oval 87">
            <a:extLst xmlns:a="http://schemas.openxmlformats.org/drawingml/2006/main">
              <a:ext uri="{FF2B5EF4-FFF2-40B4-BE49-F238E27FC236}">
                <a16:creationId xmlns:a16="http://schemas.microsoft.com/office/drawing/2014/main" id="{EDD833AE-5B2F-4433-BF57-9C8FD01B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9" name="Oval 88">
            <a:extLst xmlns:a="http://schemas.openxmlformats.org/drawingml/2006/main">
              <a:ext uri="{FF2B5EF4-FFF2-40B4-BE49-F238E27FC236}">
                <a16:creationId xmlns:a16="http://schemas.microsoft.com/office/drawing/2014/main" id="{BCD25A5B-453C-40E8-A03E-2D25AE0A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0" name="Oval 89">
            <a:extLst xmlns:a="http://schemas.openxmlformats.org/drawingml/2006/main">
              <a:ext uri="{FF2B5EF4-FFF2-40B4-BE49-F238E27FC236}">
                <a16:creationId xmlns:a16="http://schemas.microsoft.com/office/drawing/2014/main" id="{ACCE2938-7B17-4ECF-8FB0-057ED91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1" name="Oval 90">
            <a:extLst xmlns:a="http://schemas.openxmlformats.org/drawingml/2006/main">
              <a:ext uri="{FF2B5EF4-FFF2-40B4-BE49-F238E27FC236}">
                <a16:creationId xmlns:a16="http://schemas.microsoft.com/office/drawing/2014/main" id="{C8C34BFE-518E-4F4B-85E5-D7F3D9E5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2" name="Oval 91">
            <a:extLst xmlns:a="http://schemas.openxmlformats.org/drawingml/2006/main">
              <a:ext uri="{FF2B5EF4-FFF2-40B4-BE49-F238E27FC236}">
                <a16:creationId xmlns:a16="http://schemas.microsoft.com/office/drawing/2014/main" id="{9016540A-3256-472B-9A5C-B5F781AF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3" name="Oval 92">
            <a:extLst xmlns:a="http://schemas.openxmlformats.org/drawingml/2006/main">
              <a:ext uri="{FF2B5EF4-FFF2-40B4-BE49-F238E27FC236}">
                <a16:creationId xmlns:a16="http://schemas.microsoft.com/office/drawing/2014/main" id="{0934BFD8-4769-4B13-AF08-11ED68E1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4" name="Oval 93">
            <a:extLst xmlns:a="http://schemas.openxmlformats.org/drawingml/2006/main">
              <a:ext uri="{FF2B5EF4-FFF2-40B4-BE49-F238E27FC236}">
                <a16:creationId xmlns:a16="http://schemas.microsoft.com/office/drawing/2014/main" id="{B1061CC6-CB3E-4350-AA80-FB36130A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5" name="Oval 94">
            <a:extLst xmlns:a="http://schemas.openxmlformats.org/drawingml/2006/main">
              <a:ext uri="{FF2B5EF4-FFF2-40B4-BE49-F238E27FC236}">
                <a16:creationId xmlns:a16="http://schemas.microsoft.com/office/drawing/2014/main" id="{7DED6BF6-9F3B-4127-B159-154222C7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6" name="Oval 95">
            <a:extLst xmlns:a="http://schemas.openxmlformats.org/drawingml/2006/main">
              <a:ext uri="{FF2B5EF4-FFF2-40B4-BE49-F238E27FC236}">
                <a16:creationId xmlns:a16="http://schemas.microsoft.com/office/drawing/2014/main" id="{156D3DA9-20EE-49AB-AC45-13E599A4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7" name="Oval 96">
            <a:extLst xmlns:a="http://schemas.openxmlformats.org/drawingml/2006/main">
              <a:ext uri="{FF2B5EF4-FFF2-40B4-BE49-F238E27FC236}">
                <a16:creationId xmlns:a16="http://schemas.microsoft.com/office/drawing/2014/main" id="{DD5F60AC-EFEF-4B94-B82E-27785AE4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8" name="Oval 97">
            <a:extLst xmlns:a="http://schemas.openxmlformats.org/drawingml/2006/main">
              <a:ext uri="{FF2B5EF4-FFF2-40B4-BE49-F238E27FC236}">
                <a16:creationId xmlns:a16="http://schemas.microsoft.com/office/drawing/2014/main" id="{4736582B-08DA-4702-856E-3BA38972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9" name="Oval 98">
            <a:extLst xmlns:a="http://schemas.openxmlformats.org/drawingml/2006/main">
              <a:ext uri="{FF2B5EF4-FFF2-40B4-BE49-F238E27FC236}">
                <a16:creationId xmlns:a16="http://schemas.microsoft.com/office/drawing/2014/main" id="{BAB344A1-439B-4BD2-B159-E8BAC2A2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0" name="Oval 99">
            <a:extLst xmlns:a="http://schemas.openxmlformats.org/drawingml/2006/main">
              <a:ext uri="{FF2B5EF4-FFF2-40B4-BE49-F238E27FC236}">
                <a16:creationId xmlns:a16="http://schemas.microsoft.com/office/drawing/2014/main" id="{31752AC3-7166-4D9F-9B54-BCBD2BA5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1" name="Oval 100">
            <a:extLst xmlns:a="http://schemas.openxmlformats.org/drawingml/2006/main">
              <a:ext uri="{FF2B5EF4-FFF2-40B4-BE49-F238E27FC236}">
                <a16:creationId xmlns:a16="http://schemas.microsoft.com/office/drawing/2014/main" id="{775881B8-F9C4-44B9-9F12-90CE3709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2" name="Oval 101">
            <a:extLst xmlns:a="http://schemas.openxmlformats.org/drawingml/2006/main">
              <a:ext uri="{FF2B5EF4-FFF2-40B4-BE49-F238E27FC236}">
                <a16:creationId xmlns:a16="http://schemas.microsoft.com/office/drawing/2014/main" id="{F96446E4-FA57-465D-898D-3CB1C8D2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3" name="Oval 102">
            <a:extLst xmlns:a="http://schemas.openxmlformats.org/drawingml/2006/main">
              <a:ext uri="{FF2B5EF4-FFF2-40B4-BE49-F238E27FC236}">
                <a16:creationId xmlns:a16="http://schemas.microsoft.com/office/drawing/2014/main" id="{B95D46C5-F9A3-4C9C-B305-5013D958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4" name="Oval 103">
            <a:extLst xmlns:a="http://schemas.openxmlformats.org/drawingml/2006/main">
              <a:ext uri="{FF2B5EF4-FFF2-40B4-BE49-F238E27FC236}">
                <a16:creationId xmlns:a16="http://schemas.microsoft.com/office/drawing/2014/main" id="{8ACB94B6-7D0A-44AB-82D3-13520F8B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5" name="Oval 104">
            <a:extLst xmlns:a="http://schemas.openxmlformats.org/drawingml/2006/main">
              <a:ext uri="{FF2B5EF4-FFF2-40B4-BE49-F238E27FC236}">
                <a16:creationId xmlns:a16="http://schemas.microsoft.com/office/drawing/2014/main" id="{3F89CEBD-6FEE-4BC6-B759-B5BAEF1F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6" name="Oval 105">
            <a:extLst xmlns:a="http://schemas.openxmlformats.org/drawingml/2006/main">
              <a:ext uri="{FF2B5EF4-FFF2-40B4-BE49-F238E27FC236}">
                <a16:creationId xmlns:a16="http://schemas.microsoft.com/office/drawing/2014/main" id="{07BD8640-5B5D-4257-9199-62064B3A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7" name="Oval 106">
            <a:extLst xmlns:a="http://schemas.openxmlformats.org/drawingml/2006/main">
              <a:ext uri="{FF2B5EF4-FFF2-40B4-BE49-F238E27FC236}">
                <a16:creationId xmlns:a16="http://schemas.microsoft.com/office/drawing/2014/main" id="{93B8725B-6A43-4E12-BB14-06D05667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8" name="Oval 107">
            <a:extLst xmlns:a="http://schemas.openxmlformats.org/drawingml/2006/main">
              <a:ext uri="{FF2B5EF4-FFF2-40B4-BE49-F238E27FC236}">
                <a16:creationId xmlns:a16="http://schemas.microsoft.com/office/drawing/2014/main" id="{84C7E0A8-C0D6-4081-A8D5-B53C0FA2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9" name="Oval 108">
            <a:extLst xmlns:a="http://schemas.openxmlformats.org/drawingml/2006/main">
              <a:ext uri="{FF2B5EF4-FFF2-40B4-BE49-F238E27FC236}">
                <a16:creationId xmlns:a16="http://schemas.microsoft.com/office/drawing/2014/main" id="{F0CD7E6E-B50E-4FF5-97ED-357DD80A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0" name="Oval 109">
            <a:extLst xmlns:a="http://schemas.openxmlformats.org/drawingml/2006/main">
              <a:ext uri="{FF2B5EF4-FFF2-40B4-BE49-F238E27FC236}">
                <a16:creationId xmlns:a16="http://schemas.microsoft.com/office/drawing/2014/main" id="{F3B2352D-9E5B-419C-B6FE-0DF1B9D0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1" name="Oval 110">
            <a:extLst xmlns:a="http://schemas.openxmlformats.org/drawingml/2006/main">
              <a:ext uri="{FF2B5EF4-FFF2-40B4-BE49-F238E27FC236}">
                <a16:creationId xmlns:a16="http://schemas.microsoft.com/office/drawing/2014/main" id="{C7A0DF60-1F3F-4154-B338-3D1BCF62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2" name="Oval 111">
            <a:extLst xmlns:a="http://schemas.openxmlformats.org/drawingml/2006/main">
              <a:ext uri="{FF2B5EF4-FFF2-40B4-BE49-F238E27FC236}">
                <a16:creationId xmlns:a16="http://schemas.microsoft.com/office/drawing/2014/main" id="{6C8FBD95-0771-4CFB-8D93-3C32D904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3" name="Oval 112">
            <a:extLst xmlns:a="http://schemas.openxmlformats.org/drawingml/2006/main">
              <a:ext uri="{FF2B5EF4-FFF2-40B4-BE49-F238E27FC236}">
                <a16:creationId xmlns:a16="http://schemas.microsoft.com/office/drawing/2014/main" id="{3159DCF6-916D-434F-A563-EE3A6F05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4" name="Oval 113">
            <a:extLst xmlns:a="http://schemas.openxmlformats.org/drawingml/2006/main">
              <a:ext uri="{FF2B5EF4-FFF2-40B4-BE49-F238E27FC236}">
                <a16:creationId xmlns:a16="http://schemas.microsoft.com/office/drawing/2014/main" id="{ABE40E5B-3C97-499F-B30D-4D7D7C8F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5" name="Oval 114">
            <a:extLst xmlns:a="http://schemas.openxmlformats.org/drawingml/2006/main">
              <a:ext uri="{FF2B5EF4-FFF2-40B4-BE49-F238E27FC236}">
                <a16:creationId xmlns:a16="http://schemas.microsoft.com/office/drawing/2014/main" id="{7704FB83-BB22-4903-B6DA-9382DBAF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6" name="Oval 115">
            <a:extLst xmlns:a="http://schemas.openxmlformats.org/drawingml/2006/main">
              <a:ext uri="{FF2B5EF4-FFF2-40B4-BE49-F238E27FC236}">
                <a16:creationId xmlns:a16="http://schemas.microsoft.com/office/drawing/2014/main" id="{8085C537-AD50-453A-BC42-EBB0EF23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7" name="Oval 116">
            <a:extLst xmlns:a="http://schemas.openxmlformats.org/drawingml/2006/main">
              <a:ext uri="{FF2B5EF4-FFF2-40B4-BE49-F238E27FC236}">
                <a16:creationId xmlns:a16="http://schemas.microsoft.com/office/drawing/2014/main" id="{D1634B62-CCB1-47EB-9F9C-72C706DB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8" name="Oval 117">
            <a:extLst xmlns:a="http://schemas.openxmlformats.org/drawingml/2006/main">
              <a:ext uri="{FF2B5EF4-FFF2-40B4-BE49-F238E27FC236}">
                <a16:creationId xmlns:a16="http://schemas.microsoft.com/office/drawing/2014/main" id="{7032598B-8886-4AD9-ADDD-9B789879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9" name="Oval 118">
            <a:extLst xmlns:a="http://schemas.openxmlformats.org/drawingml/2006/main">
              <a:ext uri="{FF2B5EF4-FFF2-40B4-BE49-F238E27FC236}">
                <a16:creationId xmlns:a16="http://schemas.microsoft.com/office/drawing/2014/main" id="{DE23874F-D6D2-4A06-8FD7-5239C663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0" name="Oval 119">
            <a:extLst xmlns:a="http://schemas.openxmlformats.org/drawingml/2006/main">
              <a:ext uri="{FF2B5EF4-FFF2-40B4-BE49-F238E27FC236}">
                <a16:creationId xmlns:a16="http://schemas.microsoft.com/office/drawing/2014/main" id="{1CFB6FE3-412E-4267-BD02-7B28B4BE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1" name="Oval 120">
            <a:extLst xmlns:a="http://schemas.openxmlformats.org/drawingml/2006/main">
              <a:ext uri="{FF2B5EF4-FFF2-40B4-BE49-F238E27FC236}">
                <a16:creationId xmlns:a16="http://schemas.microsoft.com/office/drawing/2014/main" id="{BF0EA00B-2AF5-417D-9DC2-86BA76EE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2" name="Oval 121">
            <a:extLst xmlns:a="http://schemas.openxmlformats.org/drawingml/2006/main">
              <a:ext uri="{FF2B5EF4-FFF2-40B4-BE49-F238E27FC236}">
                <a16:creationId xmlns:a16="http://schemas.microsoft.com/office/drawing/2014/main" id="{A611D7C9-75E1-4422-9BEE-F338A417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3" name="Oval 122">
            <a:extLst xmlns:a="http://schemas.openxmlformats.org/drawingml/2006/main">
              <a:ext uri="{FF2B5EF4-FFF2-40B4-BE49-F238E27FC236}">
                <a16:creationId xmlns:a16="http://schemas.microsoft.com/office/drawing/2014/main" id="{1CF01169-D229-4E3F-BBF9-538423EB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4" name="Oval 123">
            <a:extLst xmlns:a="http://schemas.openxmlformats.org/drawingml/2006/main">
              <a:ext uri="{FF2B5EF4-FFF2-40B4-BE49-F238E27FC236}">
                <a16:creationId xmlns:a16="http://schemas.microsoft.com/office/drawing/2014/main" id="{046D5971-9675-4D39-BD50-0CA32A05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5" name="Oval 124">
            <a:extLst xmlns:a="http://schemas.openxmlformats.org/drawingml/2006/main">
              <a:ext uri="{FF2B5EF4-FFF2-40B4-BE49-F238E27FC236}">
                <a16:creationId xmlns:a16="http://schemas.microsoft.com/office/drawing/2014/main" id="{8645645E-05DA-46C3-8631-1CB4A1F2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6" name="Oval 125">
            <a:extLst xmlns:a="http://schemas.openxmlformats.org/drawingml/2006/main">
              <a:ext uri="{FF2B5EF4-FFF2-40B4-BE49-F238E27FC236}">
                <a16:creationId xmlns:a16="http://schemas.microsoft.com/office/drawing/2014/main" id="{8E41924B-BEB3-46F4-B17A-0D948939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7" name="Oval 126">
            <a:extLst xmlns:a="http://schemas.openxmlformats.org/drawingml/2006/main">
              <a:ext uri="{FF2B5EF4-FFF2-40B4-BE49-F238E27FC236}">
                <a16:creationId xmlns:a16="http://schemas.microsoft.com/office/drawing/2014/main" id="{CA7A1DA1-D39C-42E4-BBFF-23A15B13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8" name="Oval 127">
            <a:extLst xmlns:a="http://schemas.openxmlformats.org/drawingml/2006/main">
              <a:ext uri="{FF2B5EF4-FFF2-40B4-BE49-F238E27FC236}">
                <a16:creationId xmlns:a16="http://schemas.microsoft.com/office/drawing/2014/main" id="{6788949F-CB35-42B4-A016-827C1428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9" name="Oval 128">
            <a:extLst xmlns:a="http://schemas.openxmlformats.org/drawingml/2006/main">
              <a:ext uri="{FF2B5EF4-FFF2-40B4-BE49-F238E27FC236}">
                <a16:creationId xmlns:a16="http://schemas.microsoft.com/office/drawing/2014/main" id="{C47302D0-F13D-4A59-89A2-FBE4AE7A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0" name="Oval 129">
            <a:extLst xmlns:a="http://schemas.openxmlformats.org/drawingml/2006/main">
              <a:ext uri="{FF2B5EF4-FFF2-40B4-BE49-F238E27FC236}">
                <a16:creationId xmlns:a16="http://schemas.microsoft.com/office/drawing/2014/main" id="{E3186F40-0BF9-4A36-A44F-3B6258D3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1" name="Oval 130">
            <a:extLst xmlns:a="http://schemas.openxmlformats.org/drawingml/2006/main">
              <a:ext uri="{FF2B5EF4-FFF2-40B4-BE49-F238E27FC236}">
                <a16:creationId xmlns:a16="http://schemas.microsoft.com/office/drawing/2014/main" id="{0A964AFB-D9C5-44C6-8354-47682CEE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2" name="Oval 131">
            <a:extLst xmlns:a="http://schemas.openxmlformats.org/drawingml/2006/main">
              <a:ext uri="{FF2B5EF4-FFF2-40B4-BE49-F238E27FC236}">
                <a16:creationId xmlns:a16="http://schemas.microsoft.com/office/drawing/2014/main" id="{4FC951E4-47B0-44D8-B93A-DAE941B2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3" name="Oval 132">
            <a:extLst xmlns:a="http://schemas.openxmlformats.org/drawingml/2006/main">
              <a:ext uri="{FF2B5EF4-FFF2-40B4-BE49-F238E27FC236}">
                <a16:creationId xmlns:a16="http://schemas.microsoft.com/office/drawing/2014/main" id="{D715BF52-F3B4-4D80-B421-006F74C9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4" name="Oval 133">
            <a:extLst xmlns:a="http://schemas.openxmlformats.org/drawingml/2006/main">
              <a:ext uri="{FF2B5EF4-FFF2-40B4-BE49-F238E27FC236}">
                <a16:creationId xmlns:a16="http://schemas.microsoft.com/office/drawing/2014/main" id="{DC5252E5-9812-4617-926D-A6C4E98A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5" name="Oval 134">
            <a:extLst xmlns:a="http://schemas.openxmlformats.org/drawingml/2006/main">
              <a:ext uri="{FF2B5EF4-FFF2-40B4-BE49-F238E27FC236}">
                <a16:creationId xmlns:a16="http://schemas.microsoft.com/office/drawing/2014/main" id="{7AB6939C-1F46-4CFA-8EEE-FCD6C29E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6" name="Oval 135">
            <a:extLst xmlns:a="http://schemas.openxmlformats.org/drawingml/2006/main">
              <a:ext uri="{FF2B5EF4-FFF2-40B4-BE49-F238E27FC236}">
                <a16:creationId xmlns:a16="http://schemas.microsoft.com/office/drawing/2014/main" id="{B6C717F7-873E-4A1E-9B02-39B4B22E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7" name="TextBox 136">
            <a:extLst xmlns:a="http://schemas.openxmlformats.org/drawingml/2006/main">
              <a:ext uri="{FF2B5EF4-FFF2-40B4-BE49-F238E27FC236}">
                <a16:creationId xmlns:a16="http://schemas.microsoft.com/office/drawing/2014/main" id="{F5130E84-62C1-4652-99B5-4241D6B3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84048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9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THÀNH VIÊN NHÓM</a:t>
            </a:r>
          </a:p>
        </p:txBody>
      </p:sp>
      <p:sp>
        <p:nvSpPr>
          <p:cNvPr id="138" name="Connector 137">
            <a:extLst xmlns:a="http://schemas.openxmlformats.org/drawingml/2006/main">
              <a:ext uri="{FF2B5EF4-FFF2-40B4-BE49-F238E27FC236}">
                <a16:creationId xmlns:a16="http://schemas.microsoft.com/office/drawing/2014/main" id="{106EB42F-60F6-4FD1-B5AB-02781587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1161288"/>
            <a:ext cx="2121409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B4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9" name="Oval 138">
            <a:extLst xmlns:a="http://schemas.openxmlformats.org/drawingml/2006/main">
              <a:ext uri="{FF2B5EF4-FFF2-40B4-BE49-F238E27FC236}">
                <a16:creationId xmlns:a16="http://schemas.microsoft.com/office/drawing/2014/main" id="{358B0E5E-3223-4EB5-8CBA-AA5B6050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1110996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635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0" name="Connector 139">
            <a:extLst xmlns:a="http://schemas.openxmlformats.org/drawingml/2006/main">
              <a:ext uri="{FF2B5EF4-FFF2-40B4-BE49-F238E27FC236}">
                <a16:creationId xmlns:a16="http://schemas.microsoft.com/office/drawing/2014/main" id="{7230E6E6-D6D4-4572-9B47-C8EC54E5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161288"/>
            <a:ext cx="212140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B4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1" name="TextBox 140">
            <a:extLst xmlns:a="http://schemas.openxmlformats.org/drawingml/2006/main">
              <a:ext uri="{FF2B5EF4-FFF2-40B4-BE49-F238E27FC236}">
                <a16:creationId xmlns:a16="http://schemas.microsoft.com/office/drawing/2014/main" id="{C9A7EC07-F3A4-4B18-B91B-84C495EB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280160"/>
            <a:ext cx="6720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067D2"/>
                </a:solidFill>
                <a:latin typeface="Arial"/>
                <a:ea typeface="Arial"/>
                <a:cs typeface="Arial"/>
              </a:rPr>
              <a:t>Một sản phẩm hoàn chỉnh được tạo nên từ sự phối hợp của 7 thành viên</a:t>
            </a:r>
          </a:p>
        </p:txBody>
      </p:sp>
      <p:sp>
        <p:nvSpPr>
          <p:cNvPr id="142" name="Oval 141">
            <a:extLst xmlns:a="http://schemas.openxmlformats.org/drawingml/2006/main">
              <a:ext uri="{FF2B5EF4-FFF2-40B4-BE49-F238E27FC236}">
                <a16:creationId xmlns:a16="http://schemas.microsoft.com/office/drawing/2014/main" id="{9FD08BAD-38D1-4575-8DD3-7584C1C2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912" y="283463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3" name="Oval 142">
            <a:extLst xmlns:a="http://schemas.openxmlformats.org/drawingml/2006/main">
              <a:ext uri="{FF2B5EF4-FFF2-40B4-BE49-F238E27FC236}">
                <a16:creationId xmlns:a16="http://schemas.microsoft.com/office/drawing/2014/main" id="{7B0BFA73-4A78-44FA-8EFA-CFC7BF91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37490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4" name="Connector 143">
            <a:extLst xmlns:a="http://schemas.openxmlformats.org/drawingml/2006/main">
              <a:ext uri="{FF2B5EF4-FFF2-40B4-BE49-F238E27FC236}">
                <a16:creationId xmlns:a16="http://schemas.microsoft.com/office/drawing/2014/main" id="{45F62C4C-C5DD-4C38-AD1A-FCA44CE7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38912"/>
            <a:ext cx="804672" cy="33832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A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5" name="Oval 144">
            <a:extLst xmlns:a="http://schemas.openxmlformats.org/drawingml/2006/main">
              <a:ext uri="{FF2B5EF4-FFF2-40B4-BE49-F238E27FC236}">
                <a16:creationId xmlns:a16="http://schemas.microsoft.com/office/drawing/2014/main" id="{3D2036D0-7672-4B8B-8682-6BCD8815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048" y="566928"/>
            <a:ext cx="877824" cy="877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6" name="Oval 145">
            <a:extLst xmlns:a="http://schemas.openxmlformats.org/drawingml/2006/main">
              <a:ext uri="{FF2B5EF4-FFF2-40B4-BE49-F238E27FC236}">
                <a16:creationId xmlns:a16="http://schemas.microsoft.com/office/drawing/2014/main" id="{DAC33E7A-7D43-49B6-8AC5-4D516267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3072" y="75895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96E1"/>
          </a:solidFill>
          <a:ln xmlns:a="http://schemas.openxmlformats.org/drawingml/2006/main" w="6350">
            <a:solidFill>
              <a:srgbClr val="5596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7" name="Oval 146">
            <a:extLst xmlns:a="http://schemas.openxmlformats.org/drawingml/2006/main">
              <a:ext uri="{FF2B5EF4-FFF2-40B4-BE49-F238E27FC236}">
                <a16:creationId xmlns:a16="http://schemas.microsoft.com/office/drawing/2014/main" id="{64B310AF-D226-4EE7-8BA8-62EE3078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944" y="8778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8" name="Connector 147">
            <a:extLst xmlns:a="http://schemas.openxmlformats.org/drawingml/2006/main">
              <a:ext uri="{FF2B5EF4-FFF2-40B4-BE49-F238E27FC236}">
                <a16:creationId xmlns:a16="http://schemas.microsoft.com/office/drawing/2014/main" id="{FE2E05A8-50D7-4364-900F-19DF9150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75720" y="228600"/>
            <a:ext cx="594360" cy="48463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A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9" name="Rounded Rectangle 148">
            <a:extLst xmlns:a="http://schemas.openxmlformats.org/drawingml/2006/main">
              <a:ext uri="{FF2B5EF4-FFF2-40B4-BE49-F238E27FC236}">
                <a16:creationId xmlns:a16="http://schemas.microsoft.com/office/drawing/2014/main" id="{8ED4F02D-D718-46AB-8DEF-71DF2A53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993392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0" name="Rounded Rectangle 149">
            <a:extLst xmlns:a="http://schemas.openxmlformats.org/drawingml/2006/main">
              <a:ext uri="{FF2B5EF4-FFF2-40B4-BE49-F238E27FC236}">
                <a16:creationId xmlns:a16="http://schemas.microsoft.com/office/drawing/2014/main" id="{CE7A7E8B-670C-4241-ADF3-375E4B21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938528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1" name="TextBox 150">
            <a:extLst xmlns:a="http://schemas.openxmlformats.org/drawingml/2006/main">
              <a:ext uri="{FF2B5EF4-FFF2-40B4-BE49-F238E27FC236}">
                <a16:creationId xmlns:a16="http://schemas.microsoft.com/office/drawing/2014/main" id="{21F94E00-C478-4DBF-99AB-ADAF7763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025" y="2161211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2" name="Rounded Rectangle 151">
            <a:extLst xmlns:a="http://schemas.openxmlformats.org/drawingml/2006/main">
              <a:ext uri="{FF2B5EF4-FFF2-40B4-BE49-F238E27FC236}">
                <a16:creationId xmlns:a16="http://schemas.microsoft.com/office/drawing/2014/main" id="{720EC04F-EFC7-4943-8952-462856F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938528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3" name="Oval 152">
            <a:extLst xmlns:a="http://schemas.openxmlformats.org/drawingml/2006/main">
              <a:ext uri="{FF2B5EF4-FFF2-40B4-BE49-F238E27FC236}">
                <a16:creationId xmlns:a16="http://schemas.microsoft.com/office/drawing/2014/main" id="{C64B3566-3128-4F06-A217-1616C6B3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2029968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4" name="Oval 153">
            <a:extLst xmlns:a="http://schemas.openxmlformats.org/drawingml/2006/main">
              <a:ext uri="{FF2B5EF4-FFF2-40B4-BE49-F238E27FC236}">
                <a16:creationId xmlns:a16="http://schemas.microsoft.com/office/drawing/2014/main" id="{3F25DA9F-C693-4992-99A0-148A08DF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812" y="21808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5" name="Isosceles Triangle 154">
            <a:extLst xmlns:a="http://schemas.openxmlformats.org/drawingml/2006/main">
              <a:ext uri="{FF2B5EF4-FFF2-40B4-BE49-F238E27FC236}">
                <a16:creationId xmlns:a16="http://schemas.microsoft.com/office/drawing/2014/main" id="{A1ADFF5A-A08F-4EE6-BB61-280B7AA4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350008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6" name="TextBox 155">
            <a:extLst xmlns:a="http://schemas.openxmlformats.org/drawingml/2006/main">
              <a:ext uri="{FF2B5EF4-FFF2-40B4-BE49-F238E27FC236}">
                <a16:creationId xmlns:a16="http://schemas.microsoft.com/office/drawing/2014/main" id="{254683D4-9F4F-4061-90CA-B9D0A2FC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2048256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Trần Quốc Phong</a:t>
            </a:r>
          </a:p>
        </p:txBody>
      </p:sp>
      <p:sp>
        <p:nvSpPr>
          <p:cNvPr id="157" name="TextBox 156">
            <a:extLst xmlns:a="http://schemas.openxmlformats.org/drawingml/2006/main">
              <a:ext uri="{FF2B5EF4-FFF2-40B4-BE49-F238E27FC236}">
                <a16:creationId xmlns:a16="http://schemas.microsoft.com/office/drawing/2014/main" id="{C881F6B1-377A-44F4-940D-54CCAC9F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2368296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Nhóm trưởng</a:t>
            </a:r>
          </a:p>
        </p:txBody>
      </p:sp>
      <p:sp>
        <p:nvSpPr>
          <p:cNvPr id="158" name="Connector 157">
            <a:extLst xmlns:a="http://schemas.openxmlformats.org/drawingml/2006/main">
              <a:ext uri="{FF2B5EF4-FFF2-40B4-BE49-F238E27FC236}">
                <a16:creationId xmlns:a16="http://schemas.microsoft.com/office/drawing/2014/main" id="{9BD72133-C402-4EF1-A502-08883D6A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2093976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9" name="Rounded Rectangle 158">
            <a:extLst xmlns:a="http://schemas.openxmlformats.org/drawingml/2006/main">
              <a:ext uri="{FF2B5EF4-FFF2-40B4-BE49-F238E27FC236}">
                <a16:creationId xmlns:a16="http://schemas.microsoft.com/office/drawing/2014/main" id="{AA2E0F64-7C0B-4F38-967F-5BB5C3DB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93392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0" name="Rounded Rectangle 159">
            <a:extLst xmlns:a="http://schemas.openxmlformats.org/drawingml/2006/main">
              <a:ext uri="{FF2B5EF4-FFF2-40B4-BE49-F238E27FC236}">
                <a16:creationId xmlns:a16="http://schemas.microsoft.com/office/drawing/2014/main" id="{ADC76707-94FF-47E8-8612-55D0551C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38528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1" name="TextBox 160">
            <a:extLst xmlns:a="http://schemas.openxmlformats.org/drawingml/2006/main">
              <a:ext uri="{FF2B5EF4-FFF2-40B4-BE49-F238E27FC236}">
                <a16:creationId xmlns:a16="http://schemas.microsoft.com/office/drawing/2014/main" id="{78D194D1-78C1-462B-A2C4-4F2DA341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161" y="2172417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2" name="Rounded Rectangle 161">
            <a:extLst xmlns:a="http://schemas.openxmlformats.org/drawingml/2006/main">
              <a:ext uri="{FF2B5EF4-FFF2-40B4-BE49-F238E27FC236}">
                <a16:creationId xmlns:a16="http://schemas.microsoft.com/office/drawing/2014/main" id="{C15E1641-9CE5-45CA-AF79-DE4C6B5F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938528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3" name="Oval 162">
            <a:extLst xmlns:a="http://schemas.openxmlformats.org/drawingml/2006/main">
              <a:ext uri="{FF2B5EF4-FFF2-40B4-BE49-F238E27FC236}">
                <a16:creationId xmlns:a16="http://schemas.microsoft.com/office/drawing/2014/main" id="{A33629B9-C538-4B87-AA22-31C9146E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029968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4" name="Oval 163">
            <a:extLst xmlns:a="http://schemas.openxmlformats.org/drawingml/2006/main">
              <a:ext uri="{FF2B5EF4-FFF2-40B4-BE49-F238E27FC236}">
                <a16:creationId xmlns:a16="http://schemas.microsoft.com/office/drawing/2014/main" id="{B385E6C7-F3AE-435D-8060-81B41606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772" y="21808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5" name="Isosceles Triangle 164">
            <a:extLst xmlns:a="http://schemas.openxmlformats.org/drawingml/2006/main">
              <a:ext uri="{FF2B5EF4-FFF2-40B4-BE49-F238E27FC236}">
                <a16:creationId xmlns:a16="http://schemas.microsoft.com/office/drawing/2014/main" id="{B591AFC5-CCAC-4B62-8C1E-2AAA6D73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0008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6" name="TextBox 165">
            <a:extLst xmlns:a="http://schemas.openxmlformats.org/drawingml/2006/main">
              <a:ext uri="{FF2B5EF4-FFF2-40B4-BE49-F238E27FC236}">
                <a16:creationId xmlns:a16="http://schemas.microsoft.com/office/drawing/2014/main" id="{6E47F85D-61E2-46BB-8D58-9AA28DE6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8256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Lê Ngọc Tài</a:t>
            </a:r>
          </a:p>
        </p:txBody>
      </p:sp>
      <p:sp>
        <p:nvSpPr>
          <p:cNvPr id="167" name="TextBox 166">
            <a:extLst xmlns:a="http://schemas.openxmlformats.org/drawingml/2006/main">
              <a:ext uri="{FF2B5EF4-FFF2-40B4-BE49-F238E27FC236}">
                <a16:creationId xmlns:a16="http://schemas.microsoft.com/office/drawing/2014/main" id="{FA7B65B3-81B7-4ECD-9F43-0721941E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8296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168" name="Connector 167">
            <a:extLst xmlns:a="http://schemas.openxmlformats.org/drawingml/2006/main">
              <a:ext uri="{FF2B5EF4-FFF2-40B4-BE49-F238E27FC236}">
                <a16:creationId xmlns:a16="http://schemas.microsoft.com/office/drawing/2014/main" id="{05F6D561-E627-4B98-9855-DE5B9768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2093976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9" name="Rounded Rectangle 168">
            <a:extLst xmlns:a="http://schemas.openxmlformats.org/drawingml/2006/main">
              <a:ext uri="{FF2B5EF4-FFF2-40B4-BE49-F238E27FC236}">
                <a16:creationId xmlns:a16="http://schemas.microsoft.com/office/drawing/2014/main" id="{C6828191-8213-4C8C-9BD5-4CEC9BCA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072384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0" name="Rounded Rectangle 169">
            <a:extLst xmlns:a="http://schemas.openxmlformats.org/drawingml/2006/main">
              <a:ext uri="{FF2B5EF4-FFF2-40B4-BE49-F238E27FC236}">
                <a16:creationId xmlns:a16="http://schemas.microsoft.com/office/drawing/2014/main" id="{FB5A113D-AB8F-4E33-A6A8-9D721031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017520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1" name="TextBox 170">
            <a:extLst xmlns:a="http://schemas.openxmlformats.org/drawingml/2006/main">
              <a:ext uri="{FF2B5EF4-FFF2-40B4-BE49-F238E27FC236}">
                <a16:creationId xmlns:a16="http://schemas.microsoft.com/office/drawing/2014/main" id="{6CDF256E-FE67-43CC-A14A-E7C0202B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025" y="3251409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2" name="Rounded Rectangle 171">
            <a:extLst xmlns:a="http://schemas.openxmlformats.org/drawingml/2006/main">
              <a:ext uri="{FF2B5EF4-FFF2-40B4-BE49-F238E27FC236}">
                <a16:creationId xmlns:a16="http://schemas.microsoft.com/office/drawing/2014/main" id="{508B0100-F2C6-4289-8EE7-6AEA83DD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017520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3" name="Oval 172">
            <a:extLst xmlns:a="http://schemas.openxmlformats.org/drawingml/2006/main">
              <a:ext uri="{FF2B5EF4-FFF2-40B4-BE49-F238E27FC236}">
                <a16:creationId xmlns:a16="http://schemas.microsoft.com/office/drawing/2014/main" id="{86FA0B7C-B458-4535-9F6A-92EBC949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310896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4" name="Oval 173">
            <a:extLst xmlns:a="http://schemas.openxmlformats.org/drawingml/2006/main">
              <a:ext uri="{FF2B5EF4-FFF2-40B4-BE49-F238E27FC236}">
                <a16:creationId xmlns:a16="http://schemas.microsoft.com/office/drawing/2014/main" id="{DD624336-5C6F-43A1-A973-B951CEF3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812" y="3259835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5" name="Isosceles Triangle 174">
            <a:extLst xmlns:a="http://schemas.openxmlformats.org/drawingml/2006/main">
              <a:ext uri="{FF2B5EF4-FFF2-40B4-BE49-F238E27FC236}">
                <a16:creationId xmlns:a16="http://schemas.microsoft.com/office/drawing/2014/main" id="{C2BA6AD0-D23C-4334-A4E9-79577CD8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429000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6" name="TextBox 175">
            <a:extLst xmlns:a="http://schemas.openxmlformats.org/drawingml/2006/main">
              <a:ext uri="{FF2B5EF4-FFF2-40B4-BE49-F238E27FC236}">
                <a16:creationId xmlns:a16="http://schemas.microsoft.com/office/drawing/2014/main" id="{32BE607B-A020-4F6B-A94B-152B551D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3127248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Lạc Mạnh Quân</a:t>
            </a:r>
          </a:p>
        </p:txBody>
      </p:sp>
      <p:sp>
        <p:nvSpPr>
          <p:cNvPr id="177" name="TextBox 176">
            <a:extLst xmlns:a="http://schemas.openxmlformats.org/drawingml/2006/main">
              <a:ext uri="{FF2B5EF4-FFF2-40B4-BE49-F238E27FC236}">
                <a16:creationId xmlns:a16="http://schemas.microsoft.com/office/drawing/2014/main" id="{7A2B0273-7754-45B3-AC24-D5D5BF75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3447287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178" name="Connector 177">
            <a:extLst xmlns:a="http://schemas.openxmlformats.org/drawingml/2006/main">
              <a:ext uri="{FF2B5EF4-FFF2-40B4-BE49-F238E27FC236}">
                <a16:creationId xmlns:a16="http://schemas.microsoft.com/office/drawing/2014/main" id="{CB778DD6-C778-4EED-9875-968763C2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3172968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Rounded Rectangle 178">
            <a:extLst xmlns:a="http://schemas.openxmlformats.org/drawingml/2006/main">
              <a:ext uri="{FF2B5EF4-FFF2-40B4-BE49-F238E27FC236}">
                <a16:creationId xmlns:a16="http://schemas.microsoft.com/office/drawing/2014/main" id="{B7F16549-C725-41D5-AC6A-EADA26EF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072384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0" name="Rounded Rectangle 179">
            <a:extLst xmlns:a="http://schemas.openxmlformats.org/drawingml/2006/main">
              <a:ext uri="{FF2B5EF4-FFF2-40B4-BE49-F238E27FC236}">
                <a16:creationId xmlns:a16="http://schemas.microsoft.com/office/drawing/2014/main" id="{0BDCA736-7423-40DE-B82E-5A363411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17520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1" name="TextBox 180">
            <a:extLst xmlns:a="http://schemas.openxmlformats.org/drawingml/2006/main">
              <a:ext uri="{FF2B5EF4-FFF2-40B4-BE49-F238E27FC236}">
                <a16:creationId xmlns:a16="http://schemas.microsoft.com/office/drawing/2014/main" id="{B92994DD-ABF2-4173-9EB0-1101642E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73" y="3240203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2" name="Rounded Rectangle 181">
            <a:extLst xmlns:a="http://schemas.openxmlformats.org/drawingml/2006/main">
              <a:ext uri="{FF2B5EF4-FFF2-40B4-BE49-F238E27FC236}">
                <a16:creationId xmlns:a16="http://schemas.microsoft.com/office/drawing/2014/main" id="{603BEF38-CE3D-4D3A-8ABA-F3555F2F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017520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3" name="Oval 182">
            <a:extLst xmlns:a="http://schemas.openxmlformats.org/drawingml/2006/main">
              <a:ext uri="{FF2B5EF4-FFF2-40B4-BE49-F238E27FC236}">
                <a16:creationId xmlns:a16="http://schemas.microsoft.com/office/drawing/2014/main" id="{84581774-8D30-4695-A1CC-308A2D98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10896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4" name="Oval 183">
            <a:extLst xmlns:a="http://schemas.openxmlformats.org/drawingml/2006/main">
              <a:ext uri="{FF2B5EF4-FFF2-40B4-BE49-F238E27FC236}">
                <a16:creationId xmlns:a16="http://schemas.microsoft.com/office/drawing/2014/main" id="{2AC0E24A-A0EB-4E2A-907D-1472E731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772" y="3259835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5" name="Isosceles Triangle 184">
            <a:extLst xmlns:a="http://schemas.openxmlformats.org/drawingml/2006/main">
              <a:ext uri="{FF2B5EF4-FFF2-40B4-BE49-F238E27FC236}">
                <a16:creationId xmlns:a16="http://schemas.microsoft.com/office/drawing/2014/main" id="{620A5EC7-C1ED-494E-9EBA-29CFECEB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29000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6" name="TextBox 185">
            <a:extLst xmlns:a="http://schemas.openxmlformats.org/drawingml/2006/main">
              <a:ext uri="{FF2B5EF4-FFF2-40B4-BE49-F238E27FC236}">
                <a16:creationId xmlns:a16="http://schemas.microsoft.com/office/drawing/2014/main" id="{925DA788-56D1-44D8-BE4B-F27513BF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7248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Y Thiết Niê</a:t>
            </a:r>
          </a:p>
        </p:txBody>
      </p:sp>
      <p:sp>
        <p:nvSpPr>
          <p:cNvPr id="187" name="TextBox 186">
            <a:extLst xmlns:a="http://schemas.openxmlformats.org/drawingml/2006/main">
              <a:ext uri="{FF2B5EF4-FFF2-40B4-BE49-F238E27FC236}">
                <a16:creationId xmlns:a16="http://schemas.microsoft.com/office/drawing/2014/main" id="{CEA09F45-122A-4C9D-B2BE-00E49AB5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47287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188" name="Connector 187">
            <a:extLst xmlns:a="http://schemas.openxmlformats.org/drawingml/2006/main">
              <a:ext uri="{FF2B5EF4-FFF2-40B4-BE49-F238E27FC236}">
                <a16:creationId xmlns:a16="http://schemas.microsoft.com/office/drawing/2014/main" id="{CA1BB213-D475-4D9D-885F-71D75070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3172968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9" name="Rounded Rectangle 188">
            <a:extLst xmlns:a="http://schemas.openxmlformats.org/drawingml/2006/main">
              <a:ext uri="{FF2B5EF4-FFF2-40B4-BE49-F238E27FC236}">
                <a16:creationId xmlns:a16="http://schemas.microsoft.com/office/drawing/2014/main" id="{CCA9CF20-996A-455C-A626-53786B4B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151376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0" name="Rounded Rectangle 189">
            <a:extLst xmlns:a="http://schemas.openxmlformats.org/drawingml/2006/main">
              <a:ext uri="{FF2B5EF4-FFF2-40B4-BE49-F238E27FC236}">
                <a16:creationId xmlns:a16="http://schemas.microsoft.com/office/drawing/2014/main" id="{148358EF-5E24-4FDA-893A-1B537EBF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096512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1" name="TextBox 190">
            <a:extLst xmlns:a="http://schemas.openxmlformats.org/drawingml/2006/main">
              <a:ext uri="{FF2B5EF4-FFF2-40B4-BE49-F238E27FC236}">
                <a16:creationId xmlns:a16="http://schemas.microsoft.com/office/drawing/2014/main" id="{BC402D71-C4A7-48B3-AEF6-4A4E3D8A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025" y="4330401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2" name="Rounded Rectangle 191">
            <a:extLst xmlns:a="http://schemas.openxmlformats.org/drawingml/2006/main">
              <a:ext uri="{FF2B5EF4-FFF2-40B4-BE49-F238E27FC236}">
                <a16:creationId xmlns:a16="http://schemas.microsoft.com/office/drawing/2014/main" id="{0DD20917-6A81-4C61-BEB0-80474BD8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096512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3" name="Oval 192">
            <a:extLst xmlns:a="http://schemas.openxmlformats.org/drawingml/2006/main">
              <a:ext uri="{FF2B5EF4-FFF2-40B4-BE49-F238E27FC236}">
                <a16:creationId xmlns:a16="http://schemas.microsoft.com/office/drawing/2014/main" id="{59510AD1-D98E-49B3-BF63-890EB492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4187952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4" name="Oval 193">
            <a:extLst xmlns:a="http://schemas.openxmlformats.org/drawingml/2006/main">
              <a:ext uri="{FF2B5EF4-FFF2-40B4-BE49-F238E27FC236}">
                <a16:creationId xmlns:a16="http://schemas.microsoft.com/office/drawing/2014/main" id="{8C4EBE8F-29C6-456B-82D3-C242B968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812" y="43388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5" name="Isosceles Triangle 194">
            <a:extLst xmlns:a="http://schemas.openxmlformats.org/drawingml/2006/main">
              <a:ext uri="{FF2B5EF4-FFF2-40B4-BE49-F238E27FC236}">
                <a16:creationId xmlns:a16="http://schemas.microsoft.com/office/drawing/2014/main" id="{320E81AD-00DA-4774-92D4-E11596AD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507992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6" name="TextBox 195">
            <a:extLst xmlns:a="http://schemas.openxmlformats.org/drawingml/2006/main">
              <a:ext uri="{FF2B5EF4-FFF2-40B4-BE49-F238E27FC236}">
                <a16:creationId xmlns:a16="http://schemas.microsoft.com/office/drawing/2014/main" id="{6CCAD4E5-73A7-4348-959E-BF619746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4181818"/>
            <a:ext cx="1058047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8306F"/>
                </a:solidFill>
              </a:rPr>
              <a:t>Y Pak </a:t>
            </a:r>
            <a:r>
              <a:rPr sz="1500" b="1">
                <a:solidFill>
                  <a:srgbClr val="08306F"/>
                </a:solidFill>
              </a:rPr>
              <a:t>Ayŭn</a:t>
            </a:r>
            <a:endParaRPr b="1"/>
          </a:p>
        </p:txBody>
      </p:sp>
      <p:sp>
        <p:nvSpPr>
          <p:cNvPr id="197" name="TextBox 196">
            <a:extLst xmlns:a="http://schemas.openxmlformats.org/drawingml/2006/main">
              <a:ext uri="{FF2B5EF4-FFF2-40B4-BE49-F238E27FC236}">
                <a16:creationId xmlns:a16="http://schemas.microsoft.com/office/drawing/2014/main" id="{8D1B1D75-B7E0-4B5A-8BC3-0915BA9C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4526280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198" name="Connector 197">
            <a:extLst xmlns:a="http://schemas.openxmlformats.org/drawingml/2006/main">
              <a:ext uri="{FF2B5EF4-FFF2-40B4-BE49-F238E27FC236}">
                <a16:creationId xmlns:a16="http://schemas.microsoft.com/office/drawing/2014/main" id="{D35D01A6-4390-4D95-863E-51604D27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4251960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9" name="Rounded Rectangle 198">
            <a:extLst xmlns:a="http://schemas.openxmlformats.org/drawingml/2006/main">
              <a:ext uri="{FF2B5EF4-FFF2-40B4-BE49-F238E27FC236}">
                <a16:creationId xmlns:a16="http://schemas.microsoft.com/office/drawing/2014/main" id="{80FA8127-8358-4A1A-88DE-EB23A50A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51376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0" name="Rounded Rectangle 199">
            <a:extLst xmlns:a="http://schemas.openxmlformats.org/drawingml/2006/main">
              <a:ext uri="{FF2B5EF4-FFF2-40B4-BE49-F238E27FC236}">
                <a16:creationId xmlns:a16="http://schemas.microsoft.com/office/drawing/2014/main" id="{011A3F4E-F853-41B9-A7C7-216A2AAB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6512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1" name="TextBox 200">
            <a:extLst xmlns:a="http://schemas.openxmlformats.org/drawingml/2006/main">
              <a:ext uri="{FF2B5EF4-FFF2-40B4-BE49-F238E27FC236}">
                <a16:creationId xmlns:a16="http://schemas.microsoft.com/office/drawing/2014/main" id="{A16C5A01-26F9-416F-8C51-F417C9CE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73" y="4307989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2" name="Rounded Rectangle 201">
            <a:extLst xmlns:a="http://schemas.openxmlformats.org/drawingml/2006/main">
              <a:ext uri="{FF2B5EF4-FFF2-40B4-BE49-F238E27FC236}">
                <a16:creationId xmlns:a16="http://schemas.microsoft.com/office/drawing/2014/main" id="{21F17367-5C7A-43ED-ACCE-77C5B928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96512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3" name="Oval 202">
            <a:extLst xmlns:a="http://schemas.openxmlformats.org/drawingml/2006/main">
              <a:ext uri="{FF2B5EF4-FFF2-40B4-BE49-F238E27FC236}">
                <a16:creationId xmlns:a16="http://schemas.microsoft.com/office/drawing/2014/main" id="{BFDC66B6-1C00-405D-84E9-B75B0EDA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187952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4" name="Oval 203">
            <a:extLst xmlns:a="http://schemas.openxmlformats.org/drawingml/2006/main">
              <a:ext uri="{FF2B5EF4-FFF2-40B4-BE49-F238E27FC236}">
                <a16:creationId xmlns:a16="http://schemas.microsoft.com/office/drawing/2014/main" id="{44DF5F0F-AF31-4A9D-B48D-9A0BDFB1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772" y="43388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5" name="Isosceles Triangle 204">
            <a:extLst xmlns:a="http://schemas.openxmlformats.org/drawingml/2006/main">
              <a:ext uri="{FF2B5EF4-FFF2-40B4-BE49-F238E27FC236}">
                <a16:creationId xmlns:a16="http://schemas.microsoft.com/office/drawing/2014/main" id="{5C6DFDA7-3A90-4390-A174-C4888DFA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507992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6" name="TextBox 205">
            <a:extLst xmlns:a="http://schemas.openxmlformats.org/drawingml/2006/main">
              <a:ext uri="{FF2B5EF4-FFF2-40B4-BE49-F238E27FC236}">
                <a16:creationId xmlns:a16="http://schemas.microsoft.com/office/drawing/2014/main" id="{917C7A4C-7D54-40D7-BDA9-EBDEAC7E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0624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Quách Đức Thành</a:t>
            </a:r>
          </a:p>
        </p:txBody>
      </p:sp>
      <p:sp>
        <p:nvSpPr>
          <p:cNvPr id="207" name="TextBox 206">
            <a:extLst xmlns:a="http://schemas.openxmlformats.org/drawingml/2006/main">
              <a:ext uri="{FF2B5EF4-FFF2-40B4-BE49-F238E27FC236}">
                <a16:creationId xmlns:a16="http://schemas.microsoft.com/office/drawing/2014/main" id="{F37321C1-1B70-4FF6-BC78-F9DC813C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6280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208" name="Connector 207">
            <a:extLst xmlns:a="http://schemas.openxmlformats.org/drawingml/2006/main">
              <a:ext uri="{FF2B5EF4-FFF2-40B4-BE49-F238E27FC236}">
                <a16:creationId xmlns:a16="http://schemas.microsoft.com/office/drawing/2014/main" id="{2DD0AF8A-93B5-4DDE-B507-6AFDE5C6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4251960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9" name="Rounded Rectangle 208">
            <a:extLst xmlns:a="http://schemas.openxmlformats.org/drawingml/2006/main">
              <a:ext uri="{FF2B5EF4-FFF2-40B4-BE49-F238E27FC236}">
                <a16:creationId xmlns:a16="http://schemas.microsoft.com/office/drawing/2014/main" id="{5EEA47A1-37D7-42AC-87E5-E5B635FB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5285231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0" name="Rounded Rectangle 209">
            <a:extLst xmlns:a="http://schemas.openxmlformats.org/drawingml/2006/main">
              <a:ext uri="{FF2B5EF4-FFF2-40B4-BE49-F238E27FC236}">
                <a16:creationId xmlns:a16="http://schemas.microsoft.com/office/drawing/2014/main" id="{CB5898F1-22EB-4E4D-BC22-3092EEA6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5230368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1" name="TextBox 210">
            <a:extLst xmlns:a="http://schemas.openxmlformats.org/drawingml/2006/main">
              <a:ext uri="{FF2B5EF4-FFF2-40B4-BE49-F238E27FC236}">
                <a16:creationId xmlns:a16="http://schemas.microsoft.com/office/drawing/2014/main" id="{FFF3B694-D4BB-4D68-A2DB-0CFF3756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815" y="5475463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12" name="Rounded Rectangle 211">
            <a:extLst xmlns:a="http://schemas.openxmlformats.org/drawingml/2006/main">
              <a:ext uri="{FF2B5EF4-FFF2-40B4-BE49-F238E27FC236}">
                <a16:creationId xmlns:a16="http://schemas.microsoft.com/office/drawing/2014/main" id="{61BB4162-ABEF-42A8-B7F3-4240D0E3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5230368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3" name="Oval 212">
            <a:extLst xmlns:a="http://schemas.openxmlformats.org/drawingml/2006/main">
              <a:ext uri="{FF2B5EF4-FFF2-40B4-BE49-F238E27FC236}">
                <a16:creationId xmlns:a16="http://schemas.microsoft.com/office/drawing/2014/main" id="{E5652509-1638-40A6-857D-1CE88758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5321807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4" name="Oval 213">
            <a:extLst xmlns:a="http://schemas.openxmlformats.org/drawingml/2006/main">
              <a:ext uri="{FF2B5EF4-FFF2-40B4-BE49-F238E27FC236}">
                <a16:creationId xmlns:a16="http://schemas.microsoft.com/office/drawing/2014/main" id="{C1BBCDBD-737D-42E8-8464-CE976490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5472683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5" name="Isosceles Triangle 214">
            <a:extLst xmlns:a="http://schemas.openxmlformats.org/drawingml/2006/main">
              <a:ext uri="{FF2B5EF4-FFF2-40B4-BE49-F238E27FC236}">
                <a16:creationId xmlns:a16="http://schemas.microsoft.com/office/drawing/2014/main" id="{9B98EC10-28EF-4897-B20F-8A5B62E2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5641848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6" name="TextBox 215">
            <a:extLst xmlns:a="http://schemas.openxmlformats.org/drawingml/2006/main">
              <a:ext uri="{FF2B5EF4-FFF2-40B4-BE49-F238E27FC236}">
                <a16:creationId xmlns:a16="http://schemas.microsoft.com/office/drawing/2014/main" id="{77C2A372-29D4-47D6-9F86-CE399577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5340096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Y Đăng Niê</a:t>
            </a:r>
          </a:p>
        </p:txBody>
      </p:sp>
      <p:sp>
        <p:nvSpPr>
          <p:cNvPr id="217" name="TextBox 216">
            <a:extLst xmlns:a="http://schemas.openxmlformats.org/drawingml/2006/main">
              <a:ext uri="{FF2B5EF4-FFF2-40B4-BE49-F238E27FC236}">
                <a16:creationId xmlns:a16="http://schemas.microsoft.com/office/drawing/2014/main" id="{4B144930-85E9-4CF3-A085-224E5BBB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5660136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218" name="Connector 217">
            <a:extLst xmlns:a="http://schemas.openxmlformats.org/drawingml/2006/main">
              <a:ext uri="{FF2B5EF4-FFF2-40B4-BE49-F238E27FC236}">
                <a16:creationId xmlns:a16="http://schemas.microsoft.com/office/drawing/2014/main" id="{780C38BC-E13B-43FD-99D2-AD977D89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5385816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9" name="Rectangle 218">
            <a:extLst xmlns:a="http://schemas.openxmlformats.org/drawingml/2006/main">
              <a:ext uri="{FF2B5EF4-FFF2-40B4-BE49-F238E27FC236}">
                <a16:creationId xmlns:a16="http://schemas.microsoft.com/office/drawing/2014/main" id="{16ED010A-691E-4F75-A4B7-0DDDC22C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91999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59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0" name="Rectangle 219">
            <a:extLst xmlns:a="http://schemas.openxmlformats.org/drawingml/2006/main">
              <a:ext uri="{FF2B5EF4-FFF2-40B4-BE49-F238E27FC236}">
                <a16:creationId xmlns:a16="http://schemas.microsoft.com/office/drawing/2014/main" id="{8CE3D2DB-BE80-4425-A83F-AB727E29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999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5C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1" name="Oval 220">
            <a:extLst xmlns:a="http://schemas.openxmlformats.org/drawingml/2006/main">
              <a:ext uri="{FF2B5EF4-FFF2-40B4-BE49-F238E27FC236}">
                <a16:creationId xmlns:a16="http://schemas.microsoft.com/office/drawing/2014/main" id="{56E93756-A44D-45C1-AFA7-A5E99A68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59" y="562356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FA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2" name="Oval 221">
            <a:extLst xmlns:a="http://schemas.openxmlformats.org/drawingml/2006/main">
              <a:ext uri="{FF2B5EF4-FFF2-40B4-BE49-F238E27FC236}">
                <a16:creationId xmlns:a16="http://schemas.microsoft.com/office/drawing/2014/main" id="{6D3F9651-DFDE-4C8D-833F-1EB8148B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3" y="5769864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12700">
            <a:solidFill>
              <a:srgbClr val="5FA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3" name="Oval 222">
            <a:extLst xmlns:a="http://schemas.openxmlformats.org/drawingml/2006/main">
              <a:ext uri="{FF2B5EF4-FFF2-40B4-BE49-F238E27FC236}">
                <a16:creationId xmlns:a16="http://schemas.microsoft.com/office/drawing/2014/main" id="{6156FA50-5BDA-4162-B538-B137C0F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97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508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4" name="Oval 223">
            <a:extLst xmlns:a="http://schemas.openxmlformats.org/drawingml/2006/main">
              <a:ext uri="{FF2B5EF4-FFF2-40B4-BE49-F238E27FC236}">
                <a16:creationId xmlns:a16="http://schemas.microsoft.com/office/drawing/2014/main" id="{D7A6598C-E608-4447-8B86-301B163B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59893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5" name="Connector 224">
            <a:extLst xmlns:a="http://schemas.openxmlformats.org/drawingml/2006/main">
              <a:ext uri="{FF2B5EF4-FFF2-40B4-BE49-F238E27FC236}">
                <a16:creationId xmlns:a16="http://schemas.microsoft.com/office/drawing/2014/main" id="{9755A56A-A48E-4D68-BDF3-8D12293B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6080760"/>
            <a:ext cx="850392" cy="30175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A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6" name="Oval 225">
            <a:extLst xmlns:a="http://schemas.openxmlformats.org/drawingml/2006/main">
              <a:ext uri="{FF2B5EF4-FFF2-40B4-BE49-F238E27FC236}">
                <a16:creationId xmlns:a16="http://schemas.microsoft.com/office/drawing/2014/main" id="{94AD9125-3931-4EC5-86F0-11F405B6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634593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508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53" name="Picture 2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abd6eed9e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86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EBF8EAC3-F37E-432A-ACE0-08040992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43891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B0BCE686-2A3D-4587-91CD-49D0CDA1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" y="498347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EF2"/>
          </a:solidFill>
          <a:ln xmlns:a="http://schemas.openxmlformats.org/drawingml/2006/main" w="2540">
            <a:solidFill>
              <a:srgbClr val="69BEF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1191E061-71B0-4BDF-8369-806CF2CE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48640"/>
            <a:ext cx="713232" cy="16459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7B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FAB924C6-33FF-47D9-92FE-D7A64AF5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028" y="681228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 w="254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F1EC4FBE-3A6F-4475-8050-80CB4A45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5029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10160">
            <a:solidFill>
              <a:srgbClr val="0A30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FA350504-E010-4DA8-8B3B-6780B80B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85800"/>
            <a:ext cx="0" cy="54864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A5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31C47ECC-199F-48CF-9D96-03058742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112471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A30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08BFF79F-7200-4078-AE21-A9F22403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1234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EF2"/>
          </a:solidFill>
          <a:ln xmlns:a="http://schemas.openxmlformats.org/drawingml/2006/main" w="889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7380CDD-3BFC-4E20-B47D-15A35373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109728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DDD03F5-A162-4D97-BF98-23F10629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947672"/>
            <a:ext cx="6858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F50537-99DF-4C05-A75F-C9080F22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03120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BÀI TOÁN &amp; GIẢI PHÁP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CCBFFFF-9969-4072-AFD4-002B7989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325880"/>
            <a:ext cx="68580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Không chỉ là một website bán hàng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BC86125-D7B1-46B9-A689-95AB942D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011680"/>
            <a:ext cx="70408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626C78"/>
                </a:solidFill>
                <a:latin typeface="Arial"/>
                <a:ea typeface="Arial"/>
                <a:cs typeface="Arial"/>
              </a:rPr>
              <a:t>NextGen kết nối toàn bộ hành trình khách hàng và vận hành doanh nghiệp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8479639-1BB9-4C77-B7A7-C076C9B1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788920"/>
            <a:ext cx="7178040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E6F6E33-899D-491A-A59C-25C27AC4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788920"/>
            <a:ext cx="82296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256C815-1B2C-4219-9E7E-484507F6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054096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GIẢI PHÁP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9D3504D-6150-4EBF-8648-F894C8C3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430893"/>
            <a:ext cx="6660798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Một nền tảng đa kênh kết nối mua sắm, thanh toán, chăm sóc và vận hành.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585003F1-7ABE-4157-859A-2597B99E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4315968"/>
            <a:ext cx="17830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84C85BBF-D8DF-4314-B809-2BAA380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872" y="4419801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1016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15E953C-DAC2-495C-A427-5BF63F7A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9" y="4434179"/>
            <a:ext cx="1828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C4A7E2E-7992-44B7-B4B7-A8098098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441655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Đa nền tảng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6FB15EC2-E045-403E-A00A-A0E04FD1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315968"/>
            <a:ext cx="17830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4ECAE6C4-68BA-42BD-9E4E-26DACD80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642" y="4434179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1016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0C06D4F-DB28-4CCC-85BD-F8623697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986" y="4456377"/>
            <a:ext cx="1828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B5B48DA-8566-4F1E-A23D-917FB09B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7" y="441655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Dữ liệu thật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B228A53F-B972-459D-9D42-3AF2C286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4315968"/>
            <a:ext cx="17830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C848635C-52A1-4844-B05B-73799EBF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56" y="444855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1016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DAF5933-7AA4-4CFD-8E81-1D014203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090" y="4466844"/>
            <a:ext cx="1828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BCADBC9-3A7C-433D-A64A-066CB3D9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41655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Vận hành thật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639AECD-8A7D-4D8B-923F-9514789F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5504688"/>
            <a:ext cx="7223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WEB • MOBILE • API • REALTIME</a:t>
            </a:r>
          </a:p>
        </p:txBody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E3A5F542-E642-4BE5-81AB-1F387622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5925312"/>
            <a:ext cx="71780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DDEE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11A6C02F-E952-4BF2-91DB-6F4BFB45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958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8371C234-CE69-4069-8648-3872ABDC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830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EFEBEBA9-5383-4998-A526-FC39B151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02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FEF4D023-4DE4-4959-8F75-BC3430A6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574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0420FA1E-99B6-4960-89C7-6F660295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446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CE8E5ED5-7B45-4B72-9F16-4909E387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318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40DB7F30-9019-4452-8FC3-9DEE5211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190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Oval 39">
            <a:extLst xmlns:a="http://schemas.openxmlformats.org/drawingml/2006/main">
              <a:ext uri="{FF2B5EF4-FFF2-40B4-BE49-F238E27FC236}">
                <a16:creationId xmlns:a16="http://schemas.microsoft.com/office/drawing/2014/main" id="{0BDA9B51-B030-490E-B9C4-B9BFE97F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062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F2E38FBE-1DEE-41CD-9BE3-C13B7C44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934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0C6D6760-0CAD-485B-8416-BA2C4A11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958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E60E427B-F8E7-4846-BD4F-BFD1E02A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830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EE077CFE-E52A-4D45-8CCF-B4B368B6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02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F5EFDAF4-9A72-40A3-8B0E-81F2661A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574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Oval 45">
            <a:extLst xmlns:a="http://schemas.openxmlformats.org/drawingml/2006/main">
              <a:ext uri="{FF2B5EF4-FFF2-40B4-BE49-F238E27FC236}">
                <a16:creationId xmlns:a16="http://schemas.microsoft.com/office/drawing/2014/main" id="{A3D20607-3EFF-4E17-B9A0-14A4E68A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446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7C5C2D79-4261-4849-81AF-995B5E52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318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0F0D622D-55AC-435F-9A1E-2AA8960D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190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CA61CDDD-E387-4809-94E0-42915CD6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062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Oval 49">
            <a:extLst xmlns:a="http://schemas.openxmlformats.org/drawingml/2006/main">
              <a:ext uri="{FF2B5EF4-FFF2-40B4-BE49-F238E27FC236}">
                <a16:creationId xmlns:a16="http://schemas.microsoft.com/office/drawing/2014/main" id="{C4ABFB9E-A985-4641-B4D3-AF9BFCE5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934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1240765B-782F-4537-B198-5D4E0CAE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958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8AFFB6FA-92EF-4B98-A314-012D2703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830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21FFF894-5208-4C66-AE8A-57B77949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02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7005F318-A7AF-42A7-935F-07DDE847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574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AC583EDE-B388-4A1F-9B57-92C54B58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446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Oval 55">
            <a:extLst xmlns:a="http://schemas.openxmlformats.org/drawingml/2006/main">
              <a:ext uri="{FF2B5EF4-FFF2-40B4-BE49-F238E27FC236}">
                <a16:creationId xmlns:a16="http://schemas.microsoft.com/office/drawing/2014/main" id="{2A22DB2B-76B9-45A2-B98B-45EB8C61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318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DE5DD3D1-FFAA-465B-9A70-FFDCD4C3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190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Oval 57">
            <a:extLst xmlns:a="http://schemas.openxmlformats.org/drawingml/2006/main">
              <a:ext uri="{FF2B5EF4-FFF2-40B4-BE49-F238E27FC236}">
                <a16:creationId xmlns:a16="http://schemas.microsoft.com/office/drawing/2014/main" id="{F327E711-BAB6-46FF-84C9-81ECB6F5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062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EDA75EFA-8DC1-4CD7-858C-AA6C4BC9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934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Oval 59">
            <a:extLst xmlns:a="http://schemas.openxmlformats.org/drawingml/2006/main">
              <a:ext uri="{FF2B5EF4-FFF2-40B4-BE49-F238E27FC236}">
                <a16:creationId xmlns:a16="http://schemas.microsoft.com/office/drawing/2014/main" id="{6FE81839-D1CF-4D18-904F-1B4F3E69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958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Oval 60">
            <a:extLst xmlns:a="http://schemas.openxmlformats.org/drawingml/2006/main">
              <a:ext uri="{FF2B5EF4-FFF2-40B4-BE49-F238E27FC236}">
                <a16:creationId xmlns:a16="http://schemas.microsoft.com/office/drawing/2014/main" id="{23A5629B-61E9-47BF-AC89-3390E686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830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Oval 61">
            <a:extLst xmlns:a="http://schemas.openxmlformats.org/drawingml/2006/main">
              <a:ext uri="{FF2B5EF4-FFF2-40B4-BE49-F238E27FC236}">
                <a16:creationId xmlns:a16="http://schemas.microsoft.com/office/drawing/2014/main" id="{EA4F0631-34C2-4C02-A68B-0A8E6C5B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02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Oval 62">
            <a:extLst xmlns:a="http://schemas.openxmlformats.org/drawingml/2006/main">
              <a:ext uri="{FF2B5EF4-FFF2-40B4-BE49-F238E27FC236}">
                <a16:creationId xmlns:a16="http://schemas.microsoft.com/office/drawing/2014/main" id="{AF266603-8A3D-41D7-99EE-0050F901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574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Oval 63">
            <a:extLst xmlns:a="http://schemas.openxmlformats.org/drawingml/2006/main">
              <a:ext uri="{FF2B5EF4-FFF2-40B4-BE49-F238E27FC236}">
                <a16:creationId xmlns:a16="http://schemas.microsoft.com/office/drawing/2014/main" id="{7566E464-790B-42B6-A779-4BA0767C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446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Oval 64">
            <a:extLst xmlns:a="http://schemas.openxmlformats.org/drawingml/2006/main">
              <a:ext uri="{FF2B5EF4-FFF2-40B4-BE49-F238E27FC236}">
                <a16:creationId xmlns:a16="http://schemas.microsoft.com/office/drawing/2014/main" id="{CBD9BCC7-06ED-47F5-A6D4-F91971EB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318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Oval 65">
            <a:extLst xmlns:a="http://schemas.openxmlformats.org/drawingml/2006/main">
              <a:ext uri="{FF2B5EF4-FFF2-40B4-BE49-F238E27FC236}">
                <a16:creationId xmlns:a16="http://schemas.microsoft.com/office/drawing/2014/main" id="{EB14DFEC-9FB5-4907-BCC4-53F4E985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190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Oval 66">
            <a:extLst xmlns:a="http://schemas.openxmlformats.org/drawingml/2006/main">
              <a:ext uri="{FF2B5EF4-FFF2-40B4-BE49-F238E27FC236}">
                <a16:creationId xmlns:a16="http://schemas.microsoft.com/office/drawing/2014/main" id="{34B560FB-E1C3-4077-B80B-81C886FF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062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Oval 67">
            <a:extLst xmlns:a="http://schemas.openxmlformats.org/drawingml/2006/main">
              <a:ext uri="{FF2B5EF4-FFF2-40B4-BE49-F238E27FC236}">
                <a16:creationId xmlns:a16="http://schemas.microsoft.com/office/drawing/2014/main" id="{FEFC9A8F-FA16-4BA0-812A-1954591A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934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Oval 68">
            <a:extLst xmlns:a="http://schemas.openxmlformats.org/drawingml/2006/main">
              <a:ext uri="{FF2B5EF4-FFF2-40B4-BE49-F238E27FC236}">
                <a16:creationId xmlns:a16="http://schemas.microsoft.com/office/drawing/2014/main" id="{2899A81D-80C6-47E9-85B0-8159691B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958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0" name="Oval 69">
            <a:extLst xmlns:a="http://schemas.openxmlformats.org/drawingml/2006/main">
              <a:ext uri="{FF2B5EF4-FFF2-40B4-BE49-F238E27FC236}">
                <a16:creationId xmlns:a16="http://schemas.microsoft.com/office/drawing/2014/main" id="{406D32F9-EECD-4474-A5F9-1595D732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830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1" name="Oval 70">
            <a:extLst xmlns:a="http://schemas.openxmlformats.org/drawingml/2006/main">
              <a:ext uri="{FF2B5EF4-FFF2-40B4-BE49-F238E27FC236}">
                <a16:creationId xmlns:a16="http://schemas.microsoft.com/office/drawing/2014/main" id="{05328AB3-4833-48AC-9109-157B8334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02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Oval 71">
            <a:extLst xmlns:a="http://schemas.openxmlformats.org/drawingml/2006/main">
              <a:ext uri="{FF2B5EF4-FFF2-40B4-BE49-F238E27FC236}">
                <a16:creationId xmlns:a16="http://schemas.microsoft.com/office/drawing/2014/main" id="{4EBD0E6E-CCB5-4510-8109-51CBA64B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574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3" name="Oval 72">
            <a:extLst xmlns:a="http://schemas.openxmlformats.org/drawingml/2006/main">
              <a:ext uri="{FF2B5EF4-FFF2-40B4-BE49-F238E27FC236}">
                <a16:creationId xmlns:a16="http://schemas.microsoft.com/office/drawing/2014/main" id="{EFAB01BA-077C-4C78-9FD4-347F839E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446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4" name="Oval 73">
            <a:extLst xmlns:a="http://schemas.openxmlformats.org/drawingml/2006/main">
              <a:ext uri="{FF2B5EF4-FFF2-40B4-BE49-F238E27FC236}">
                <a16:creationId xmlns:a16="http://schemas.microsoft.com/office/drawing/2014/main" id="{7E69F098-B23D-4C03-BB9F-08BE8FE7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318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5" name="Oval 74">
            <a:extLst xmlns:a="http://schemas.openxmlformats.org/drawingml/2006/main">
              <a:ext uri="{FF2B5EF4-FFF2-40B4-BE49-F238E27FC236}">
                <a16:creationId xmlns:a16="http://schemas.microsoft.com/office/drawing/2014/main" id="{35C7CD7A-5FC2-4D8B-975D-96B2E75B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190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6" name="Oval 75">
            <a:extLst xmlns:a="http://schemas.openxmlformats.org/drawingml/2006/main">
              <a:ext uri="{FF2B5EF4-FFF2-40B4-BE49-F238E27FC236}">
                <a16:creationId xmlns:a16="http://schemas.microsoft.com/office/drawing/2014/main" id="{0EBB1A5C-7417-4C30-9495-5866ED9B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062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7" name="Oval 76">
            <a:extLst xmlns:a="http://schemas.openxmlformats.org/drawingml/2006/main">
              <a:ext uri="{FF2B5EF4-FFF2-40B4-BE49-F238E27FC236}">
                <a16:creationId xmlns:a16="http://schemas.microsoft.com/office/drawing/2014/main" id="{9F343975-ED4C-4066-86F8-EEEEC1C0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934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55" name="Picture 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daf4b3f564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7386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34265119-F50D-4B81-82BC-7E55EC96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754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E89D94B6-3DEE-4191-8836-3A762E69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" y="5394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EF2"/>
          </a:solidFill>
          <a:ln xmlns:a="http://schemas.openxmlformats.org/drawingml/2006/main" w="2540">
            <a:solidFill>
              <a:srgbClr val="69BEF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3CDB7481-D6A5-4553-8E85-5974BBBE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4360"/>
            <a:ext cx="704088" cy="15544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7B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1A325A22-6AFA-4480-94D0-1BC1310E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512064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A30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FFEEEA85-04B8-4B17-832D-E144073F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76656"/>
            <a:ext cx="0" cy="55778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A5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4E5439EA-D2F8-410C-81CE-B77DB22F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1143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A30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F6A8D86-B32E-472A-AB6F-A33C7838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2435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EF2"/>
          </a:solidFill>
          <a:ln xmlns:a="http://schemas.openxmlformats.org/drawingml/2006/main" w="889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10BF41-7165-4FFD-934B-A7102C55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60120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790A93E-8A7C-4D33-99D6-A8B4DDFF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435608"/>
            <a:ext cx="59436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29D138E-06B5-44C7-BCE8-B9F8D3E7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841248"/>
            <a:ext cx="8686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Ba nhóm người dùng — một luồng dữ liệu thống nhất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229FAEF-4DEF-48A0-B63E-152140ED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1444752"/>
            <a:ext cx="79552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D6977"/>
                </a:solidFill>
                <a:latin typeface="Arial"/>
                <a:ea typeface="Arial"/>
                <a:cs typeface="Arial"/>
              </a:rPr>
              <a:t>Thiết kế theo vai trò giúp mỗi người nhìn đúng chức năng cần thiết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F2E6084-7C7E-442C-94B9-CF1BF7E0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148840"/>
            <a:ext cx="82296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D7D2C47-19D6-44FE-882A-5D5D6589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148840"/>
            <a:ext cx="109728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0329187B-0304-4227-88D1-C5F4CC47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243230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270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D4F2E4A-1A92-43E2-B462-8F54CB65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505456"/>
            <a:ext cx="365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A75219-A411-4F90-B9A1-930D13C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304288"/>
            <a:ext cx="25146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6F1A25F-0257-427D-87A4-823E2E97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569464"/>
            <a:ext cx="6903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0A3069"/>
                </a:solidFill>
                <a:latin typeface="Arial"/>
                <a:ea typeface="Arial"/>
                <a:cs typeface="Arial"/>
              </a:rPr>
              <a:t>Tìm kiếm, so sánh, mua hàng, thanh toán, theo dõi đơn, đánh giá và nhận ưu đãi trên web hoặc mobile.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12553C3-E7D0-4068-A010-B9637C09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429000"/>
            <a:ext cx="82296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B1EBD778-A651-4FD2-9A68-2AE590D2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429000"/>
            <a:ext cx="109728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3E1FA5A6-CB7D-4ED1-B95B-B5F27858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371246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270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7EB4731-8A6C-4FF0-9A49-5736E3CC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3785615"/>
            <a:ext cx="365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795915E-4C6E-423B-84FE-24F884ED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584448"/>
            <a:ext cx="25146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NHÂN VIÊN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8AF4731-3506-476E-A5DD-CE6C7A44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849624"/>
            <a:ext cx="69037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0A3069"/>
                </a:solidFill>
                <a:latin typeface="Arial"/>
                <a:ea typeface="Arial"/>
                <a:cs typeface="Arial"/>
              </a:rPr>
              <a:t>Xử lý đơn, tư vấn realtime, chấm công khuôn mặt, theo dõi lịch làm và gửi đơn nghỉ phép.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9F0EF156-6A7E-44E0-B535-B31E0D7E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709160"/>
            <a:ext cx="82296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697FDC45-C0D2-4EEC-AE23-9803FFF3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709160"/>
            <a:ext cx="109728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FD73645A-41BC-4F78-9A72-22122A28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499262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270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C4065B7-648E-4C68-ACA8-3F2C438C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5065776"/>
            <a:ext cx="365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448ADB4-0A2C-463C-8772-346ACC66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64608"/>
            <a:ext cx="25146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QUẢN TRỊ VIÊN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4F1CCE4F-1EB8-425B-B677-C71AA6E6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5129784"/>
            <a:ext cx="6903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0A3069"/>
                </a:solidFill>
                <a:latin typeface="Arial"/>
                <a:ea typeface="Arial"/>
                <a:cs typeface="Arial"/>
              </a:rPr>
              <a:t>Điều hành sản phẩm, tồn kho, marketing, affiliate, tài chính và nhân sự theo hệ thống phân quyền chi tiết.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3286C26B-7988-4D45-B9A3-CF2C387D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6108192"/>
            <a:ext cx="82296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DDEE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03B8FB5-4398-4FC6-BD59-96BDE1D1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621792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5D6977"/>
                </a:solidFill>
                <a:latin typeface="Arial"/>
                <a:ea typeface="Arial"/>
                <a:cs typeface="Arial"/>
              </a:rPr>
              <a:t>NEXTGEN — ROLE-BASED EXPERIENCE</a:t>
            </a:r>
          </a:p>
        </p:txBody>
      </p:sp>
      <p:pic>
        <p:nvPicPr>
          <p:cNvPr id="65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c84b7a6214f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979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81B37433-EE8E-4E6E-A592-CECF89EF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966" y="245623"/>
            <a:ext cx="786384" cy="786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F"/>
          </a:solidFill>
          <a:ln xmlns:a="http://schemas.openxmlformats.org/drawingml/2006/main" w="8890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317A-2DBA-4C22-BC6D-CBA452A9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352" y="390132"/>
            <a:ext cx="600859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35EE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60921D-1222-4BF0-B8C3-8803CD5A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867" y="175059"/>
            <a:ext cx="18288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35EE1"/>
                </a:solidFill>
                <a:latin typeface="Arial"/>
                <a:ea typeface="Arial"/>
                <a:cs typeface="Arial"/>
              </a:rPr>
              <a:t>SẢN PHẨM THỰC TẾ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EF1C924-F292-4BA4-AC63-0161EA1D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395" y="420624"/>
            <a:ext cx="6309360" cy="472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GIAO DIỆN NEXTGEN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1E797BA-2A88-4B03-B2CC-F9CA5D94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867" y="870003"/>
            <a:ext cx="676656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Thiết kế premium, responsive và đồng nhất xuyên suốt hành trình mua sắm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ADA238C-2D16-4EBC-9E57-8D49225D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1261872"/>
            <a:ext cx="2761488" cy="37673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B286BA9B-4993-4B39-A92E-A85E6366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1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F7F89EA-6163-478A-82C2-B79F2A67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7" y="1419103"/>
            <a:ext cx="35204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2FD7448-DF14-4F43-B621-F0B27238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26464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TRANG CHỦ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3063568-6690-46D6-B32E-CAE3941E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340864"/>
            <a:ext cx="2048256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TRẢI NGHIỆM PREMIUM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8271D06A-3E02-4F2A-A8C7-22AE9BFC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02" y="4720498"/>
            <a:ext cx="92171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Rounded Rectangle 51">
            <a:extLst xmlns:a="http://schemas.openxmlformats.org/drawingml/2006/main">
              <a:ext uri="{FF2B5EF4-FFF2-40B4-BE49-F238E27FC236}">
                <a16:creationId xmlns:a16="http://schemas.microsoft.com/office/drawing/2014/main" id="{23A1FD48-4F75-45F7-90C7-BFCD7A99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261872"/>
            <a:ext cx="2761488" cy="37673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0435E334-1A5A-4155-9C26-C0A60B90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1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1824C309-BF9F-4830-9E14-980D368C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306" y="1419103"/>
            <a:ext cx="448055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B9FB67FF-BAD0-4230-A840-24F952CC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1426464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DANH SÁCH SẢN PHẨM</a:t>
            </a:r>
          </a:p>
        </p:txBody>
      </p:sp>
      <p:sp>
        <p:nvSpPr>
          <p:cNvPr id="104" name="Rounded Rectangle 103">
            <a:extLst xmlns:a="http://schemas.openxmlformats.org/drawingml/2006/main">
              <a:ext uri="{FF2B5EF4-FFF2-40B4-BE49-F238E27FC236}">
                <a16:creationId xmlns:a16="http://schemas.microsoft.com/office/drawing/2014/main" id="{32BB3CE3-48EB-4DA1-86A4-D4025686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1261872"/>
            <a:ext cx="2761488" cy="37673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5" name="Oval 104">
            <a:extLst xmlns:a="http://schemas.openxmlformats.org/drawingml/2006/main">
              <a:ext uri="{FF2B5EF4-FFF2-40B4-BE49-F238E27FC236}">
                <a16:creationId xmlns:a16="http://schemas.microsoft.com/office/drawing/2014/main" id="{5F46C83D-C159-4B92-8634-ACF7C4E2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6" name="TextBox 105">
            <a:extLst xmlns:a="http://schemas.openxmlformats.org/drawingml/2006/main">
              <a:ext uri="{FF2B5EF4-FFF2-40B4-BE49-F238E27FC236}">
                <a16:creationId xmlns:a16="http://schemas.microsoft.com/office/drawing/2014/main" id="{704A94D7-5FEB-4586-83D3-1B500128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188" y="1445199"/>
            <a:ext cx="383963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7" name="TextBox 106">
            <a:extLst xmlns:a="http://schemas.openxmlformats.org/drawingml/2006/main">
              <a:ext uri="{FF2B5EF4-FFF2-40B4-BE49-F238E27FC236}">
                <a16:creationId xmlns:a16="http://schemas.microsoft.com/office/drawing/2014/main" id="{1F6F6E87-933E-4566-9D79-70663AF6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426464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KHUYẾN MÃI &amp; LOYALTY</a:t>
            </a:r>
          </a:p>
        </p:txBody>
      </p:sp>
      <p:sp>
        <p:nvSpPr>
          <p:cNvPr id="143" name="Rounded Rectangle 142">
            <a:extLst xmlns:a="http://schemas.openxmlformats.org/drawingml/2006/main">
              <a:ext uri="{FF2B5EF4-FFF2-40B4-BE49-F238E27FC236}">
                <a16:creationId xmlns:a16="http://schemas.microsoft.com/office/drawing/2014/main" id="{4D0A4469-EC7F-456E-8FD1-602033E1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1261872"/>
            <a:ext cx="2761488" cy="37673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4" name="Oval 143">
            <a:extLst xmlns:a="http://schemas.openxmlformats.org/drawingml/2006/main">
              <a:ext uri="{FF2B5EF4-FFF2-40B4-BE49-F238E27FC236}">
                <a16:creationId xmlns:a16="http://schemas.microsoft.com/office/drawing/2014/main" id="{5E789363-1843-419B-B641-68DB014C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5" name="TextBox 144">
            <a:extLst xmlns:a="http://schemas.openxmlformats.org/drawingml/2006/main">
              <a:ext uri="{FF2B5EF4-FFF2-40B4-BE49-F238E27FC236}">
                <a16:creationId xmlns:a16="http://schemas.microsoft.com/office/drawing/2014/main" id="{007B6D32-F4A7-4BF5-887F-55B856C6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268" y="1425170"/>
            <a:ext cx="415278" cy="2599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6" name="TextBox 145">
            <a:extLst xmlns:a="http://schemas.openxmlformats.org/drawingml/2006/main">
              <a:ext uri="{FF2B5EF4-FFF2-40B4-BE49-F238E27FC236}">
                <a16:creationId xmlns:a16="http://schemas.microsoft.com/office/drawing/2014/main" id="{D55BB533-69FA-42C1-A3E3-20067329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26464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LIÊN HỆ &amp; BẢN ĐỒ</a:t>
            </a:r>
          </a:p>
        </p:txBody>
      </p:sp>
      <p:sp>
        <p:nvSpPr>
          <p:cNvPr id="163" name="TextBox 162">
            <a:extLst xmlns:a="http://schemas.openxmlformats.org/drawingml/2006/main">
              <a:ext uri="{FF2B5EF4-FFF2-40B4-BE49-F238E27FC236}">
                <a16:creationId xmlns:a16="http://schemas.microsoft.com/office/drawing/2014/main" id="{CE0400DC-50FC-45B6-80E7-DC51460F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4215384"/>
            <a:ext cx="2231136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TƯ VẤN ĐA KÊNH</a:t>
            </a:r>
          </a:p>
        </p:txBody>
      </p:sp>
      <p:sp>
        <p:nvSpPr>
          <p:cNvPr id="169" name="Rounded Rectangle 168">
            <a:extLst xmlns:a="http://schemas.openxmlformats.org/drawingml/2006/main">
              <a:ext uri="{FF2B5EF4-FFF2-40B4-BE49-F238E27FC236}">
                <a16:creationId xmlns:a16="http://schemas.microsoft.com/office/drawing/2014/main" id="{CB128FA1-AA7B-41C9-BC02-2F9D1424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5230368"/>
            <a:ext cx="11475720" cy="104241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0" name="Oval 169">
            <a:extLst xmlns:a="http://schemas.openxmlformats.org/drawingml/2006/main">
              <a:ext uri="{FF2B5EF4-FFF2-40B4-BE49-F238E27FC236}">
                <a16:creationId xmlns:a16="http://schemas.microsoft.com/office/drawing/2014/main" id="{FD8DD1F7-CD78-4352-B976-4958D254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1" y="5440680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254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1" name="Oval 170">
            <a:extLst xmlns:a="http://schemas.openxmlformats.org/drawingml/2006/main">
              <a:ext uri="{FF2B5EF4-FFF2-40B4-BE49-F238E27FC236}">
                <a16:creationId xmlns:a16="http://schemas.microsoft.com/office/drawing/2014/main" id="{CA218B08-F351-42FF-8E16-C1C4D9BA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57" y="5582412"/>
            <a:ext cx="251460" cy="251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2" name="Connector 171">
            <a:extLst xmlns:a="http://schemas.openxmlformats.org/drawingml/2006/main">
              <a:ext uri="{FF2B5EF4-FFF2-40B4-BE49-F238E27FC236}">
                <a16:creationId xmlns:a16="http://schemas.microsoft.com/office/drawing/2014/main" id="{96872343-2EBC-4D39-92F0-39CAF4A9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88" y="5778347"/>
            <a:ext cx="137159" cy="137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5E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3" name="TextBox 172">
            <a:extLst xmlns:a="http://schemas.openxmlformats.org/drawingml/2006/main">
              <a:ext uri="{FF2B5EF4-FFF2-40B4-BE49-F238E27FC236}">
                <a16:creationId xmlns:a16="http://schemas.microsoft.com/office/drawing/2014/main" id="{076EB113-4BBD-4C29-A78C-6D201F65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49824"/>
            <a:ext cx="1280160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ĐIỂM NỔI BẬT</a:t>
            </a:r>
          </a:p>
          <a:p xmlns:a="http://schemas.openxmlformats.org/drawingml/2006/main">
            <a:pPr algn="l">
              <a:buNone/>
            </a:pPr>
            <a:r>
              <a:rPr sz="11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CỦA GIAO DIỆN</a:t>
            </a:r>
          </a:p>
        </p:txBody>
      </p:sp>
      <p:sp>
        <p:nvSpPr>
          <p:cNvPr id="174" name="Connector 173">
            <a:extLst xmlns:a="http://schemas.openxmlformats.org/drawingml/2006/main">
              <a:ext uri="{FF2B5EF4-FFF2-40B4-BE49-F238E27FC236}">
                <a16:creationId xmlns:a16="http://schemas.microsoft.com/office/drawing/2014/main" id="{48269E1C-CA5D-4FAA-964B-2C138EFC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5394960"/>
            <a:ext cx="0" cy="71323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CFE2F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5" name="Oval 174">
            <a:extLst xmlns:a="http://schemas.openxmlformats.org/drawingml/2006/main">
              <a:ext uri="{FF2B5EF4-FFF2-40B4-BE49-F238E27FC236}">
                <a16:creationId xmlns:a16="http://schemas.microsoft.com/office/drawing/2014/main" id="{BF99655F-37C0-4DD1-AFC1-7DBA5E33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046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F"/>
          </a:solidFill>
          <a:ln xmlns:a="http://schemas.openxmlformats.org/drawingml/2006/main" w="5080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6" name="Rounded Rectangle 175">
            <a:extLst xmlns:a="http://schemas.openxmlformats.org/drawingml/2006/main">
              <a:ext uri="{FF2B5EF4-FFF2-40B4-BE49-F238E27FC236}">
                <a16:creationId xmlns:a16="http://schemas.microsoft.com/office/drawing/2014/main" id="{81B7AFBD-ECFD-4F96-BBFE-274F2CD5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5608563"/>
            <a:ext cx="219456" cy="12947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7" name="Rectangle 176">
            <a:extLst xmlns:a="http://schemas.openxmlformats.org/drawingml/2006/main">
              <a:ext uri="{FF2B5EF4-FFF2-40B4-BE49-F238E27FC236}">
                <a16:creationId xmlns:a16="http://schemas.microsoft.com/office/drawing/2014/main" id="{A817AD5A-4802-487E-AACC-57978408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594" y="5744626"/>
            <a:ext cx="92171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8" name="TextBox 177">
            <a:extLst xmlns:a="http://schemas.openxmlformats.org/drawingml/2006/main">
              <a:ext uri="{FF2B5EF4-FFF2-40B4-BE49-F238E27FC236}">
                <a16:creationId xmlns:a16="http://schemas.microsoft.com/office/drawing/2014/main" id="{6893300B-1B98-4279-B4C0-DE11F478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1536"/>
            <a:ext cx="150876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6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Responsive</a:t>
            </a:r>
          </a:p>
        </p:txBody>
      </p:sp>
      <p:sp>
        <p:nvSpPr>
          <p:cNvPr id="179" name="TextBox 178">
            <a:extLst xmlns:a="http://schemas.openxmlformats.org/drawingml/2006/main">
              <a:ext uri="{FF2B5EF4-FFF2-40B4-BE49-F238E27FC236}">
                <a16:creationId xmlns:a16="http://schemas.microsoft.com/office/drawing/2014/main" id="{4DECA040-5CED-476A-84CD-65065E7D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69280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Tối ưu desktop, tablet</a:t>
            </a:r>
          </a:p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và thiết bị di động.</a:t>
            </a:r>
          </a:p>
        </p:txBody>
      </p:sp>
      <p:sp>
        <p:nvSpPr>
          <p:cNvPr id="180" name="Connector 179">
            <a:extLst xmlns:a="http://schemas.openxmlformats.org/drawingml/2006/main">
              <a:ext uri="{FF2B5EF4-FFF2-40B4-BE49-F238E27FC236}">
                <a16:creationId xmlns:a16="http://schemas.microsoft.com/office/drawing/2014/main" id="{1C5260E0-727C-4559-9B53-87E324D6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413248"/>
            <a:ext cx="0" cy="68580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FE2F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1" name="Oval 180">
            <a:extLst xmlns:a="http://schemas.openxmlformats.org/drawingml/2006/main">
              <a:ext uri="{FF2B5EF4-FFF2-40B4-BE49-F238E27FC236}">
                <a16:creationId xmlns:a16="http://schemas.microsoft.com/office/drawing/2014/main" id="{B0F6864F-A165-4683-A243-2BB4890F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496" y="55046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F"/>
          </a:solidFill>
          <a:ln xmlns:a="http://schemas.openxmlformats.org/drawingml/2006/main" w="5080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2" name="Rounded Rectangle 181">
            <a:extLst xmlns:a="http://schemas.openxmlformats.org/drawingml/2006/main">
              <a:ext uri="{FF2B5EF4-FFF2-40B4-BE49-F238E27FC236}">
                <a16:creationId xmlns:a16="http://schemas.microsoft.com/office/drawing/2014/main" id="{32AF9EE7-A95E-424F-B9DB-52710528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627217"/>
            <a:ext cx="219456" cy="12618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3" name="Rounded Rectangle 182">
            <a:extLst xmlns:a="http://schemas.openxmlformats.org/drawingml/2006/main">
              <a:ext uri="{FF2B5EF4-FFF2-40B4-BE49-F238E27FC236}">
                <a16:creationId xmlns:a16="http://schemas.microsoft.com/office/drawing/2014/main" id="{4F524B43-46D4-4FA6-AFC6-DAED96FA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788" y="5608563"/>
            <a:ext cx="82296" cy="3072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4" name="TextBox 183">
            <a:extLst xmlns:a="http://schemas.openxmlformats.org/drawingml/2006/main">
              <a:ext uri="{FF2B5EF4-FFF2-40B4-BE49-F238E27FC236}">
                <a16:creationId xmlns:a16="http://schemas.microsoft.com/office/drawing/2014/main" id="{88FD0C74-1969-4A56-ABA8-BC6FFE62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696" y="5431536"/>
            <a:ext cx="150876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6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Tải theo nhu cầu</a:t>
            </a:r>
          </a:p>
        </p:txBody>
      </p:sp>
      <p:sp>
        <p:nvSpPr>
          <p:cNvPr id="185" name="TextBox 184">
            <a:extLst xmlns:a="http://schemas.openxmlformats.org/drawingml/2006/main">
              <a:ext uri="{FF2B5EF4-FFF2-40B4-BE49-F238E27FC236}">
                <a16:creationId xmlns:a16="http://schemas.microsoft.com/office/drawing/2014/main" id="{053768BB-DBB3-4605-8DDC-B7F3650F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696" y="5669280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Lazy loading cho từng</a:t>
            </a:r>
          </a:p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module chức năng.</a:t>
            </a:r>
          </a:p>
        </p:txBody>
      </p:sp>
      <p:sp>
        <p:nvSpPr>
          <p:cNvPr id="186" name="Connector 185">
            <a:extLst xmlns:a="http://schemas.openxmlformats.org/drawingml/2006/main">
              <a:ext uri="{FF2B5EF4-FFF2-40B4-BE49-F238E27FC236}">
                <a16:creationId xmlns:a16="http://schemas.microsoft.com/office/drawing/2014/main" id="{2078386E-5953-46C9-ACF9-FFC02CFE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3176" y="5413248"/>
            <a:ext cx="0" cy="68580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FE2F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7" name="Oval 186">
            <a:extLst xmlns:a="http://schemas.openxmlformats.org/drawingml/2006/main">
              <a:ext uri="{FF2B5EF4-FFF2-40B4-BE49-F238E27FC236}">
                <a16:creationId xmlns:a16="http://schemas.microsoft.com/office/drawing/2014/main" id="{F00C2992-0FB4-4164-8967-FB676130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1" y="55046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F"/>
          </a:solidFill>
          <a:ln xmlns:a="http://schemas.openxmlformats.org/drawingml/2006/main" w="5080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8" name="Rounded Rectangle 187">
            <a:extLst xmlns:a="http://schemas.openxmlformats.org/drawingml/2006/main">
              <a:ext uri="{FF2B5EF4-FFF2-40B4-BE49-F238E27FC236}">
                <a16:creationId xmlns:a16="http://schemas.microsoft.com/office/drawing/2014/main" id="{71ED4860-7FB7-471B-9195-97F05E33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748" y="5660136"/>
            <a:ext cx="115214" cy="60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9" name="Oval 188">
            <a:extLst xmlns:a="http://schemas.openxmlformats.org/drawingml/2006/main">
              <a:ext uri="{FF2B5EF4-FFF2-40B4-BE49-F238E27FC236}">
                <a16:creationId xmlns:a16="http://schemas.microsoft.com/office/drawing/2014/main" id="{BD6021A6-2759-4270-8604-7F4312F4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7" y="5734751"/>
            <a:ext cx="26334" cy="26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0" name="Oval 189">
            <a:extLst xmlns:a="http://schemas.openxmlformats.org/drawingml/2006/main">
              <a:ext uri="{FF2B5EF4-FFF2-40B4-BE49-F238E27FC236}">
                <a16:creationId xmlns:a16="http://schemas.microsoft.com/office/drawing/2014/main" id="{654E8983-2FC1-4025-B77C-60F6684D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336" y="5734751"/>
            <a:ext cx="26334" cy="26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1" name="TextBox 190">
            <a:extLst xmlns:a="http://schemas.openxmlformats.org/drawingml/2006/main">
              <a:ext uri="{FF2B5EF4-FFF2-40B4-BE49-F238E27FC236}">
                <a16:creationId xmlns:a16="http://schemas.microsoft.com/office/drawing/2014/main" id="{039E4F31-3AB5-4124-900F-1E90C341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5431536"/>
            <a:ext cx="150876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6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Dữ liệu realtime</a:t>
            </a:r>
          </a:p>
        </p:txBody>
      </p:sp>
      <p:sp>
        <p:nvSpPr>
          <p:cNvPr id="192" name="TextBox 191">
            <a:extLst xmlns:a="http://schemas.openxmlformats.org/drawingml/2006/main">
              <a:ext uri="{FF2B5EF4-FFF2-40B4-BE49-F238E27FC236}">
                <a16:creationId xmlns:a16="http://schemas.microsoft.com/office/drawing/2014/main" id="{B002C142-0EC6-422D-A506-B167A46E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5669280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Đơn hàng, chat và trạng thái</a:t>
            </a:r>
          </a:p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được cập nhật tức thời.</a:t>
            </a:r>
          </a:p>
        </p:txBody>
      </p:sp>
      <p:sp>
        <p:nvSpPr>
          <p:cNvPr id="193" name="Connector 192">
            <a:extLst xmlns:a="http://schemas.openxmlformats.org/drawingml/2006/main">
              <a:ext uri="{FF2B5EF4-FFF2-40B4-BE49-F238E27FC236}">
                <a16:creationId xmlns:a16="http://schemas.microsoft.com/office/drawing/2014/main" id="{3E3F345D-896E-4AED-ADFA-27370E3D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5413248"/>
            <a:ext cx="0" cy="68580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FE2F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4" name="Oval 193">
            <a:extLst xmlns:a="http://schemas.openxmlformats.org/drawingml/2006/main">
              <a:ext uri="{FF2B5EF4-FFF2-40B4-BE49-F238E27FC236}">
                <a16:creationId xmlns:a16="http://schemas.microsoft.com/office/drawing/2014/main" id="{773D0471-9DDA-40FF-A0DE-F498EF16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888" y="55046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F"/>
          </a:solidFill>
          <a:ln xmlns:a="http://schemas.openxmlformats.org/drawingml/2006/main" w="5080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5" name="Oval 194">
            <a:extLst xmlns:a="http://schemas.openxmlformats.org/drawingml/2006/main">
              <a:ext uri="{FF2B5EF4-FFF2-40B4-BE49-F238E27FC236}">
                <a16:creationId xmlns:a16="http://schemas.microsoft.com/office/drawing/2014/main" id="{58E4C2F0-FB0E-4ECB-AB8F-A783F883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5610758"/>
            <a:ext cx="120700" cy="12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6" name="Connector 195">
            <a:extLst xmlns:a="http://schemas.openxmlformats.org/drawingml/2006/main">
              <a:ext uri="{FF2B5EF4-FFF2-40B4-BE49-F238E27FC236}">
                <a16:creationId xmlns:a16="http://schemas.microsoft.com/office/drawing/2014/main" id="{D9A0D14F-4EEA-48DA-97EC-68325B16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19" y="5711708"/>
            <a:ext cx="65836" cy="65836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5E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7" name="TextBox 196">
            <a:extLst xmlns:a="http://schemas.openxmlformats.org/drawingml/2006/main">
              <a:ext uri="{FF2B5EF4-FFF2-40B4-BE49-F238E27FC236}">
                <a16:creationId xmlns:a16="http://schemas.microsoft.com/office/drawing/2014/main" id="{15904884-58A5-4DB1-81D5-BA0422ED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5431536"/>
            <a:ext cx="150876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6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Trải nghiệm liền mạch</a:t>
            </a:r>
          </a:p>
        </p:txBody>
      </p:sp>
      <p:sp>
        <p:nvSpPr>
          <p:cNvPr id="198" name="TextBox 197">
            <a:extLst xmlns:a="http://schemas.openxmlformats.org/drawingml/2006/main">
              <a:ext uri="{FF2B5EF4-FFF2-40B4-BE49-F238E27FC236}">
                <a16:creationId xmlns:a16="http://schemas.microsoft.com/office/drawing/2014/main" id="{378837D2-9C40-421B-A8FB-2BC62D1D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5669280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Từ khám phá đến hậu mãi</a:t>
            </a:r>
          </a:p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trên cùng hệ sinh thái.</a:t>
            </a:r>
          </a:p>
        </p:txBody>
      </p:sp>
      <p:sp>
        <p:nvSpPr>
          <p:cNvPr id="199" name="TextBox 198">
            <a:extLst xmlns:a="http://schemas.openxmlformats.org/drawingml/2006/main">
              <a:ext uri="{FF2B5EF4-FFF2-40B4-BE49-F238E27FC236}">
                <a16:creationId xmlns:a16="http://schemas.microsoft.com/office/drawing/2014/main" id="{10AD9BE9-E388-4390-A642-2E833F65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428232"/>
            <a:ext cx="1874519" cy="188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>
                <a:solidFill>
                  <a:srgbClr val="04235B"/>
                </a:solidFill>
                <a:latin typeface="Arial"/>
                <a:ea typeface="Arial"/>
                <a:cs typeface="Arial"/>
              </a:rPr>
              <a:t>NEXTGEN LAPTOP ECOSYSTEM</a:t>
            </a:r>
          </a:p>
        </p:txBody>
      </p:sp>
      <p:sp>
        <p:nvSpPr>
          <p:cNvPr id="200" name="Connector 199">
            <a:extLst xmlns:a="http://schemas.openxmlformats.org/drawingml/2006/main">
              <a:ext uri="{FF2B5EF4-FFF2-40B4-BE49-F238E27FC236}">
                <a16:creationId xmlns:a16="http://schemas.microsoft.com/office/drawing/2014/main" id="{9C2103AD-7060-4F29-8D6E-73EB22C7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6501384"/>
            <a:ext cx="598932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70A1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1" name="TextBox 200">
            <a:extLst xmlns:a="http://schemas.openxmlformats.org/drawingml/2006/main">
              <a:ext uri="{FF2B5EF4-FFF2-40B4-BE49-F238E27FC236}">
                <a16:creationId xmlns:a16="http://schemas.microsoft.com/office/drawing/2014/main" id="{39B29033-CCE7-4C94-A232-764A6490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6409944"/>
            <a:ext cx="2423160" cy="185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>
                <a:solidFill>
                  <a:srgbClr val="5E91DC"/>
                </a:solidFill>
                <a:latin typeface="Arial"/>
                <a:ea typeface="Arial"/>
                <a:cs typeface="Arial"/>
              </a:rPr>
              <a:t>GIAO DIỆN THẬT • DỮ LIỆU THẬT • LUỒNG THẬT</a:t>
            </a:r>
          </a:p>
        </p:txBody>
      </p:sp>
      <p:pic>
        <p:nvPicPr>
          <p:cNvPr id="26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4714ce05f4448"/>
          <a:srcRect xmlns:a="http://schemas.openxmlformats.org/drawingml/2006/main" l="23968" t="0" r="239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2608" y="1909314"/>
            <a:ext cx="2580132" cy="2789240"/>
          </a:xfrm>
          <a:prstGeom xmlns:a="http://schemas.openxmlformats.org/drawingml/2006/main" prst="rect">
            <a:avLst/>
          </a:prstGeom>
        </p:spPr>
      </p:pic>
      <p:pic>
        <p:nvPicPr>
          <p:cNvPr id="265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4714ce05f4448"/>
          <a:srcRect xmlns:a="http://schemas.openxmlformats.org/drawingml/2006/main" l="23932" t="0" r="239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15118" y="1909314"/>
            <a:ext cx="2583702" cy="2789240"/>
          </a:xfrm>
          <a:prstGeom xmlns:a="http://schemas.openxmlformats.org/drawingml/2006/main" prst="rect">
            <a:avLst/>
          </a:prstGeom>
        </p:spPr>
      </p:pic>
      <p:pic>
        <p:nvPicPr>
          <p:cNvPr id="266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850b26749485b"/>
          <a:srcRect xmlns:a="http://schemas.openxmlformats.org/drawingml/2006/main" l="24129" t="0" r="241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65443" y="1938528"/>
            <a:ext cx="2537256" cy="2760026"/>
          </a:xfrm>
          <a:prstGeom xmlns:a="http://schemas.openxmlformats.org/drawingml/2006/main" prst="rect">
            <a:avLst/>
          </a:prstGeom>
        </p:spPr>
      </p:pic>
      <p:pic>
        <p:nvPicPr>
          <p:cNvPr id="267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b6f18fe71439d"/>
          <a:srcRect xmlns:a="http://schemas.openxmlformats.org/drawingml/2006/main" l="32787" t="0" r="327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8038" y="1864558"/>
            <a:ext cx="1824228" cy="2982579"/>
          </a:xfrm>
          <a:prstGeom xmlns:a="http://schemas.openxmlformats.org/drawingml/2006/main" prst="rect">
            <a:avLst/>
          </a:prstGeom>
        </p:spPr>
      </p:pic>
      <p:pic>
        <p:nvPicPr>
          <p:cNvPr id="26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2cda42e3342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5175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8F0EF8DF-823D-488E-8619-493A5FA4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768096" cy="7680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ECBEE19-2835-42FC-916A-08B2B922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329184"/>
            <a:ext cx="65836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032C084-E856-4840-890B-D5C37A62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164592"/>
            <a:ext cx="22860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A69E1"/>
                </a:solidFill>
                <a:latin typeface="Arial"/>
                <a:ea typeface="Arial"/>
                <a:cs typeface="Arial"/>
              </a:rPr>
              <a:t>CUSTOMER JOURNEY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DB9C0D6-037F-48DA-B027-67B93CE1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57200"/>
            <a:ext cx="621792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Một hành trình mua hàng khép kín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A25AFF0-C038-4593-87CE-26F819B8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905256"/>
            <a:ext cx="694944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Từ nhu cầu ban đầu đến đánh giá sau mua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7398F9FF-C7DD-42AD-A6C3-F1EEA8EC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640080"/>
            <a:ext cx="914401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9A0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E3697CD-9C31-451A-8C79-E8009473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076" y="608075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1A82011A-A3EF-4E5B-8B10-3A92963D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68512" y="429768"/>
            <a:ext cx="493776" cy="21031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9A0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7E74B6E4-DC06-45F8-AF86-49123393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39319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760E054-6000-4B98-BF17-85B855B0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1083564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6D203AE-EC68-4412-8E83-2C34F614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9144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748BD321-14EC-4075-AE01-F4102C06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70992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270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42AD8FC-88D4-4E08-9870-C9338CCE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1792224"/>
            <a:ext cx="3108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★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F64ED46-647C-4354-A5D4-22D02EA6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1609344"/>
            <a:ext cx="18288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HÀNH TRÌNH CỐT LÕI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CBCEA44-513D-4E7D-A18A-6D32F2C2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1865376"/>
            <a:ext cx="923544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Khám phá sản phẩm → chọn biến thể → giỏ hàng → voucher/combo → thanh toán → theo dõi đơn → đánh giá.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6366A73-51A5-4C2E-ABCA-A047B489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1488"/>
            <a:ext cx="5321808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2EE4B0F5-A395-41C5-B6D8-2522C1E5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08152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1BC9587-5C57-48F9-8E42-EB77D558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172968"/>
            <a:ext cx="3474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09323A0-2231-47FA-AC65-300B324D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2962656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Khám phá thông minh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3E03A13-922C-4766-9F67-C31417BB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3255264"/>
            <a:ext cx="416052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Lọc, tìm kiếm, sản phẩm đã xem và danh sách yêu thích giúp rút ngắn quyết định mua.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66C15586-39E6-469A-BC8B-F5CE559C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2761488"/>
            <a:ext cx="5321808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5632C4D1-7DE9-4356-BC76-9AD7F949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08152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D39748B-2B2E-4126-996B-E0BE8A16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3172968"/>
            <a:ext cx="3474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ABF4EF7-50A8-40A7-8905-C8DE6346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62656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Thanh toán linh hoạt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276E507-F9EA-492E-9C46-6911FC31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255264"/>
            <a:ext cx="416052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Hỗ trợ COD, SePay, MoMo và VNPAY với kiểm tra trạng thái giao dịch.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139BC323-B4CE-492C-9655-ACA32A95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0520"/>
            <a:ext cx="5321808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09E5DC14-A107-4814-8BBE-163DB582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48056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790BDA7-F337-44DD-93C3-2CA6AB12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572000"/>
            <a:ext cx="3474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A812CC0-B62B-4E39-AA76-0032F1C6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4361688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Hậu mãi đầy đủ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47CCC8CA-1CE6-410E-94BC-75CE6D53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4654296"/>
            <a:ext cx="416052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Theo dõi đơn, đặt lại, hủy, hoàn tiền, tải bằng chứng và đánh giá sau hoàn tất.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C22B2442-DC9E-4AD5-BF6A-A513176C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160520"/>
            <a:ext cx="5321808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7098D2FB-B296-422A-B8E7-B2EA44F1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448056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9534134-BE0D-4936-8C75-2F3D71C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572000"/>
            <a:ext cx="3474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01561FE8-DE9C-4454-9A83-9D2B6E02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361688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Trải nghiệm realtime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1226A5EC-3AE5-43F3-928A-6AE153A3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654296"/>
            <a:ext cx="416052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Chat tư vấn và trạng thái đơn hàng được đồng bộ tức thời giữa khách hàng và quản trị.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E08EF3A0-7F22-4EE0-95C3-82813E27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7840"/>
            <a:ext cx="1083564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26FD544-FFBF-4464-9309-9811F0EE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678424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GIÁ TRỊ MANG LẠI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F28E2F8-18AA-4CC7-A526-1C3CCD29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5623560"/>
            <a:ext cx="8549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Ít thao tác hơn  •  Minh bạch hơn  •  Chăm sóc tốt hơn  •  Dễ vận hành hơn</a:t>
            </a:r>
          </a:p>
        </p:txBody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15D3C92D-8B3C-4808-9FD4-07D55C07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2512"/>
            <a:ext cx="108356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DDEE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6BA2251C-A3B7-4754-A764-E45926BE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3952"/>
            <a:ext cx="2743200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NEXTGEN CUSTOMER JOURNEY</a:t>
            </a:r>
          </a:p>
        </p:txBody>
      </p:sp>
      <p:pic>
        <p:nvPicPr>
          <p:cNvPr id="83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54e79f31243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16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5FAF6D3C-A413-4490-8CAC-DA1E57FF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7" y="182879"/>
            <a:ext cx="694944" cy="694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689E716-CCC8-4830-9487-B011540C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20040"/>
            <a:ext cx="58521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3A06A5A-F73F-40E8-8DF7-577DF6B2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64592"/>
            <a:ext cx="2743200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1969E1"/>
                </a:solidFill>
                <a:latin typeface="Arial"/>
                <a:ea typeface="Arial"/>
                <a:cs typeface="Arial"/>
              </a:rPr>
              <a:t>GROWTH ENGINE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05D095C-CBF3-4BC0-8211-3CBDABAA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29768"/>
            <a:ext cx="896112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Tăng trưởng không dừng ở một đơn hàng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054780A-B0FA-4ED7-BCD9-9DB006CE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859536"/>
            <a:ext cx="768096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Bốn cơ chế kéo khách hàng quay lại và tạo doanh thu mới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8709EF8A-F4BC-40A2-8972-28276F7D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21792"/>
            <a:ext cx="8686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5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D1044E1-81A4-4888-9FC1-53AB0389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876" y="58978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86A306AF-9770-44B8-BC0D-9F2CE718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497312" y="365760"/>
            <a:ext cx="521208" cy="25603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5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F08E0ADB-99DE-4515-A36A-BFE684CF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944" y="32918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FB23BFF-B5AA-47C9-947D-9BA0533A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530352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167ED80-4C94-4A96-98F5-EE3350CA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600200"/>
            <a:ext cx="841248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0753C01-73EE-4F59-878B-EDF24063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1801368"/>
            <a:ext cx="731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B996842-6AD4-489F-8027-1C43E9F2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673352"/>
            <a:ext cx="35204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Loyalty &amp; Xu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D357C4B-BDF7-42D8-B10B-283E063E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002536"/>
            <a:ext cx="361188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Điểm danh và tích Xu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28EBF34-FCBC-4E8B-9A92-ECC0617B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331720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Khách hàng nhận Xu, xem lịch sử và sử dụng phần thưởng trong hệ sinh thái.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5E92730B-0528-426B-BFBA-496030DD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1682495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ED689AE-610E-49B4-9FE7-5D4FD80B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1691640"/>
            <a:ext cx="2194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239B6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4DF83D0-949C-4740-8F54-2BAB3F2B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7320"/>
            <a:ext cx="530352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763AFF8-DE34-4988-A9A4-638BDA66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1600200"/>
            <a:ext cx="841248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5193B0C-592C-4C86-B57F-B7929137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801368"/>
            <a:ext cx="731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68FC940-071F-4A2E-9E75-2533F59C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673352"/>
            <a:ext cx="35204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Voucher thông minh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4F09B35-6A48-4EB9-A94B-67DC6B2A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02536"/>
            <a:ext cx="361188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Theo sự kiện &amp; sinh nhật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014B5F6-8DBF-4322-87B6-5A412BA6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331720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Tự động cấp và gửi voucher đúng thời điểm, đồng thời ngăn gửi trùng trong cùng năm.</a:t>
            </a: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5EFB9550-C08B-4082-A9B6-F381B87D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1682495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D491289-68D9-477A-849A-82C94209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792" y="1691640"/>
            <a:ext cx="2194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239B6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BCD32C87-D511-4EFD-9606-A4B5AFBA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530352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0AD73380-A510-4843-8985-A2929549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886200"/>
            <a:ext cx="841248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E22C56D-FBDF-4D67-9BD3-0B2FB00B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87368"/>
            <a:ext cx="731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7B786D8-6FB3-4EE2-B463-91045474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959352"/>
            <a:ext cx="35204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Affiliate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0638C90-EEAD-42E4-B151-3E82D0BE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288536"/>
            <a:ext cx="361188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Đo lường đến chuyển đổi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230838A-9491-4079-9BFD-0C4EF7B1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617720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Theo dõi referral/video, chỉ ghi hoa hồng khi đơn đã thanh toán và hoàn tất.</a:t>
            </a:r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BC67D5FE-408A-48B1-90F1-B886E2EA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96849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5AE76D4-7FE1-4179-B61F-F62EE721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3977639"/>
            <a:ext cx="2194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239B6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88094AEF-8FFB-444E-BD52-5859D45D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03320"/>
            <a:ext cx="530352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99CDE1E9-A3B4-4C72-9118-964F0445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3886200"/>
            <a:ext cx="841248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8C1F4CE-8CF2-4508-8C98-1DDA70D4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4087368"/>
            <a:ext cx="731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215D79EF-5BF2-455F-868C-2A6A7AC1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959352"/>
            <a:ext cx="35204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Gamification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9CFA67A-9625-4E1A-B89E-0AE58A2C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288536"/>
            <a:ext cx="361188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Vòng quay may mắn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C05683B8-7876-4D01-87A1-B9E0407D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617720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Lượt quay hằng ngày và phần thưởng tạo động lực quay lại thường xuyên.</a:t>
            </a:r>
          </a:p>
        </p:txBody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CCD15CBE-DDF3-43AB-9476-1B0512D9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396849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BFF7CD9-2DF0-4140-9B70-18457415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792" y="3977639"/>
            <a:ext cx="2194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239B6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B0A9A24A-2292-4CB9-AD69-77EA7BF0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10789920" cy="411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636AA6D1-EB8F-462F-9734-F412F6E4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9592"/>
            <a:ext cx="1965960" cy="2209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KẾT QUẢ HƯỚNG TỚI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DBFB5E8B-209A-4AFA-B7A2-2D728DA2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5852160"/>
            <a:ext cx="8275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Giữ chân khách hàng  •  Tăng chuyển đổi  •  Mở rộng kênh bán  •  Đo lường minh bạch</a:t>
            </a:r>
          </a:p>
        </p:txBody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0A22B484-7B83-4D8D-8D20-74D65AC8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8232"/>
            <a:ext cx="1078992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DDEE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D9B6D97A-F879-4C78-8063-0C03185C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0528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NEXTGEN GROWTH ECOSYSTEM</a:t>
            </a:r>
          </a:p>
        </p:txBody>
      </p:sp>
      <p:pic>
        <p:nvPicPr>
          <p:cNvPr id="95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99bdd998c4c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00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1690CE41-AED6-49C7-B0E8-DB55F497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7" y="182879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541378-E786-4A8C-992B-E73AF1FF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329184"/>
            <a:ext cx="640080" cy="472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9625031-980D-4406-891C-501EAF52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4592"/>
            <a:ext cx="2286000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1A69E1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52AAC8D-3B41-447B-BFDB-785DCC80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9768"/>
            <a:ext cx="5303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8275B"/>
                </a:solidFill>
                <a:latin typeface="Arial"/>
                <a:ea typeface="Arial"/>
                <a:cs typeface="Arial"/>
              </a:rPr>
              <a:t>Một backend cho mọi nền tảng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7A4740-4CF6-493B-BECC-CAC6FFDF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859536"/>
            <a:ext cx="676656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Web, mobile và realtime dùng chung nghiệp vụ</a:t>
            </a:r>
            <a:endParaRPr sz="1050" b="0">
              <a:solidFill>
                <a:srgbClr val="5465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81588EE-224A-428D-B59E-0F396A2B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918873C-CAC5-4541-8D28-243B9A0A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FEEE295-6BD5-436C-AED2-11F00203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17320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7BDCC801-460F-4171-9C9F-B7B6BBE6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17320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765A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AAD57584-9A3C-4680-AA4D-6055DD85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1417320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45F355F6-F052-40EC-95C6-9EC17A01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1417320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0232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F8628FA8-8431-441C-93D1-29B83EA3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75887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4CA87B31-A63C-44AB-8AF4-B1AB2C55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75887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AD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920CB68A-8C90-44B2-AB20-5378661C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5887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Rounded Rectangle 51">
            <a:extLst xmlns:a="http://schemas.openxmlformats.org/drawingml/2006/main">
              <a:ext uri="{FF2B5EF4-FFF2-40B4-BE49-F238E27FC236}">
                <a16:creationId xmlns:a16="http://schemas.microsoft.com/office/drawing/2014/main" id="{96F4B263-9339-4ACA-99F0-5EFACB9D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5887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AD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Rounded Rectangle 60">
            <a:extLst xmlns:a="http://schemas.openxmlformats.org/drawingml/2006/main">
              <a:ext uri="{FF2B5EF4-FFF2-40B4-BE49-F238E27FC236}">
                <a16:creationId xmlns:a16="http://schemas.microsoft.com/office/drawing/2014/main" id="{94A358DE-F40C-457F-BC2B-26D0625C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3675887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Rounded Rectangle 61">
            <a:extLst xmlns:a="http://schemas.openxmlformats.org/drawingml/2006/main">
              <a:ext uri="{FF2B5EF4-FFF2-40B4-BE49-F238E27FC236}">
                <a16:creationId xmlns:a16="http://schemas.microsoft.com/office/drawing/2014/main" id="{55A4D961-D823-45C7-BA4E-144FCBD5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3675887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404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1" name="Rounded Rectangle 70">
            <a:extLst xmlns:a="http://schemas.openxmlformats.org/drawingml/2006/main">
              <a:ext uri="{FF2B5EF4-FFF2-40B4-BE49-F238E27FC236}">
                <a16:creationId xmlns:a16="http://schemas.microsoft.com/office/drawing/2014/main" id="{0E1A7553-7503-4006-B981-892FC753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06440"/>
            <a:ext cx="9976104" cy="429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47A5EF1E-C915-4197-9490-D3EA6AB2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88736"/>
            <a:ext cx="1280160" cy="216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KIẾN TRÚC: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15F7291F-6242-46F4-9FFF-D699EEBE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5852160"/>
            <a:ext cx="813816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1">
                <a:solidFill>
                  <a:srgbClr val="08275B"/>
                </a:solidFill>
                <a:latin typeface="Arial"/>
                <a:ea typeface="Arial"/>
                <a:cs typeface="Arial"/>
              </a:rPr>
              <a:t>Vue 3 Web  +  React Native Mobile  →  Laravel 12 REST API  →  MySQL</a:t>
            </a:r>
          </a:p>
          <a:p xmlns:a="http://schemas.openxmlformats.org/drawingml/2006/main">
            <a:pPr algn="l">
              <a:buNone/>
            </a:pPr>
            <a:r>
              <a:rPr sz="880" b="1">
                <a:solidFill>
                  <a:srgbClr val="08275B"/>
                </a:solidFill>
                <a:latin typeface="Arial"/>
                <a:ea typeface="Arial"/>
                <a:cs typeface="Arial"/>
              </a:rPr>
              <a:t>Sanctum • Reverb • Queue • Cache • Vite • Expo</a:t>
            </a:r>
          </a:p>
        </p:txBody>
      </p:sp>
      <p:sp>
        <p:nvSpPr>
          <p:cNvPr id="74" name="Connector 73">
            <a:extLst xmlns:a="http://schemas.openxmlformats.org/drawingml/2006/main">
              <a:ext uri="{FF2B5EF4-FFF2-40B4-BE49-F238E27FC236}">
                <a16:creationId xmlns:a16="http://schemas.microsoft.com/office/drawing/2014/main" id="{2EB3EA97-0F13-4C15-B3DE-24296920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19088"/>
            <a:ext cx="1081735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DDEE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9B82D1D6-EBB4-4EC3-BC03-D17EE6B1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01384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NEXTGEN MULTI-PLATFORM ARCHITECTURE</a:t>
            </a:r>
          </a:p>
        </p:txBody>
      </p:sp>
      <p:pic>
        <p:nvPicPr>
          <p:cNvPr id="10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9d81c3a1a42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535" y="1664208"/>
            <a:ext cx="2691385" cy="1518217"/>
          </a:xfrm>
          <a:prstGeom xmlns:a="http://schemas.openxmlformats.org/drawingml/2006/main" prst="rect">
            <a:avLst/>
          </a:prstGeom>
        </p:spPr>
      </p:pic>
      <p:pic>
        <p:nvPicPr>
          <p:cNvPr id="106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261bea9cd40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8965" y="1664208"/>
            <a:ext cx="2643816" cy="1518217"/>
          </a:xfrm>
          <a:prstGeom xmlns:a="http://schemas.openxmlformats.org/drawingml/2006/main" prst="rect">
            <a:avLst/>
          </a:prstGeom>
        </p:spPr>
      </p:pic>
      <p:pic>
        <p:nvPicPr>
          <p:cNvPr id="10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a0d9b090543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8171" y="1664208"/>
            <a:ext cx="2711930" cy="1518217"/>
          </a:xfrm>
          <a:prstGeom xmlns:a="http://schemas.openxmlformats.org/drawingml/2006/main" prst="rect">
            <a:avLst/>
          </a:prstGeom>
        </p:spPr>
      </p:pic>
      <p:pic>
        <p:nvPicPr>
          <p:cNvPr id="10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754f1031046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3867912"/>
            <a:ext cx="2643592" cy="1484827"/>
          </a:xfrm>
          <a:prstGeom xmlns:a="http://schemas.openxmlformats.org/drawingml/2006/main" prst="rect">
            <a:avLst/>
          </a:prstGeom>
        </p:spPr>
      </p:pic>
      <p:pic>
        <p:nvPicPr>
          <p:cNvPr id="109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b9f54773848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2116" y="3867912"/>
            <a:ext cx="2491415" cy="1528476"/>
          </a:xfrm>
          <a:prstGeom xmlns:a="http://schemas.openxmlformats.org/drawingml/2006/main" prst="rect">
            <a:avLst/>
          </a:prstGeom>
        </p:spPr>
      </p:pic>
      <p:pic>
        <p:nvPicPr>
          <p:cNvPr id="11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cca8ebc0d48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41451" y="3956943"/>
            <a:ext cx="2786303" cy="1395796"/>
          </a:xfrm>
          <a:prstGeom xmlns:a="http://schemas.openxmlformats.org/drawingml/2006/main" prst="rect">
            <a:avLst/>
          </a:prstGeom>
        </p:spPr>
      </p:pic>
      <p:pic>
        <p:nvPicPr>
          <p:cNvPr id="1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282d522d046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306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5715564B-004C-4E5A-BFBD-D4AC78A4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56032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CDE2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E54B539-4CA5-480E-A1AE-505B26E3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84048"/>
            <a:ext cx="658368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b="1">
                <a:solidFill>
                  <a:srgbClr val="1C70D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3ED5F62-3616-4FBA-8CE4-582D2FD0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19456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C70DC"/>
                </a:solidFill>
                <a:latin typeface="Arial"/>
                <a:ea typeface="Arial"/>
                <a:cs typeface="Arial"/>
              </a:rPr>
              <a:t>DATA &amp; DOMAIN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F43E7EA-0FAE-4343-99A3-9BB724FB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57200"/>
            <a:ext cx="365760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8275B"/>
                </a:solidFill>
                <a:latin typeface="Arial"/>
                <a:ea typeface="Arial"/>
                <a:cs typeface="Arial"/>
              </a:rPr>
              <a:t>Dữ liệu được thiết kế quanh nghiệp vụ thực tế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C2FAD55-C68E-4437-80D4-9D156184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841248"/>
            <a:ext cx="64008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5A6778"/>
                </a:solidFill>
                <a:latin typeface="Arial"/>
                <a:ea typeface="Arial"/>
                <a:cs typeface="Arial"/>
              </a:rPr>
              <a:t>53 model và 74 migration bao phủ bán hàng, marketing, affiliate và nhân sự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8F698C09-D880-41E6-9075-2E8F91B6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2648"/>
            <a:ext cx="914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5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3" name="TextBox 162">
            <a:extLst xmlns:a="http://schemas.openxmlformats.org/drawingml/2006/main">
              <a:ext uri="{FF2B5EF4-FFF2-40B4-BE49-F238E27FC236}">
                <a16:creationId xmlns:a16="http://schemas.microsoft.com/office/drawing/2014/main" id="{7E46FAA8-8212-48D0-BF15-F224F45F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996" y="1738820"/>
            <a:ext cx="1554480" cy="2209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1C70DC"/>
                </a:solidFill>
                <a:latin typeface="Arial"/>
                <a:ea typeface="Arial"/>
                <a:cs typeface="Arial"/>
              </a:rPr>
              <a:t>BỐN MIỀN DỮ LIỆU</a:t>
            </a:r>
          </a:p>
        </p:txBody>
      </p:sp>
      <p:sp>
        <p:nvSpPr>
          <p:cNvPr id="164" name="Rounded Rectangle 163">
            <a:extLst xmlns:a="http://schemas.openxmlformats.org/drawingml/2006/main">
              <a:ext uri="{FF2B5EF4-FFF2-40B4-BE49-F238E27FC236}">
                <a16:creationId xmlns:a16="http://schemas.microsoft.com/office/drawing/2014/main" id="{EF51B4DE-11A7-4649-9E0C-41A24607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194560"/>
            <a:ext cx="566928" cy="2377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EFD2"/>
          </a:solidFill>
          <a:ln xmlns:a="http://schemas.openxmlformats.org/drawingml/2006/main" w="8890">
            <a:solidFill>
              <a:srgbClr val="F0A13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5" name="TextBox 164">
            <a:extLst xmlns:a="http://schemas.openxmlformats.org/drawingml/2006/main">
              <a:ext uri="{FF2B5EF4-FFF2-40B4-BE49-F238E27FC236}">
                <a16:creationId xmlns:a16="http://schemas.microsoft.com/office/drawing/2014/main" id="{0BCE45AE-2473-460F-BD8B-790DF70B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19456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0">
                <a:solidFill>
                  <a:srgbClr val="5A6778"/>
                </a:solidFill>
                <a:latin typeface="Arial"/>
                <a:ea typeface="Arial"/>
                <a:cs typeface="Arial"/>
              </a:rPr>
              <a:t>Commerce</a:t>
            </a:r>
          </a:p>
        </p:txBody>
      </p:sp>
      <p:sp>
        <p:nvSpPr>
          <p:cNvPr id="166" name="Oval 165">
            <a:extLst xmlns:a="http://schemas.openxmlformats.org/drawingml/2006/main">
              <a:ext uri="{FF2B5EF4-FFF2-40B4-BE49-F238E27FC236}">
                <a16:creationId xmlns:a16="http://schemas.microsoft.com/office/drawing/2014/main" id="{3EF71885-4F90-46F2-9348-D608393D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560320"/>
            <a:ext cx="566928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8890">
            <a:solidFill>
              <a:srgbClr val="4BAB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7" name="TextBox 166">
            <a:extLst xmlns:a="http://schemas.openxmlformats.org/drawingml/2006/main">
              <a:ext uri="{FF2B5EF4-FFF2-40B4-BE49-F238E27FC236}">
                <a16:creationId xmlns:a16="http://schemas.microsoft.com/office/drawing/2014/main" id="{3C5F7538-6FB9-4DD9-B552-5CE9E914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56032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0">
                <a:solidFill>
                  <a:srgbClr val="5A6778"/>
                </a:solidFill>
                <a:latin typeface="Arial"/>
                <a:ea typeface="Arial"/>
                <a:cs typeface="Arial"/>
              </a:rPr>
              <a:t>Engagement</a:t>
            </a:r>
          </a:p>
        </p:txBody>
      </p:sp>
      <p:sp>
        <p:nvSpPr>
          <p:cNvPr id="168" name="Diamond 167">
            <a:extLst xmlns:a="http://schemas.openxmlformats.org/drawingml/2006/main">
              <a:ext uri="{FF2B5EF4-FFF2-40B4-BE49-F238E27FC236}">
                <a16:creationId xmlns:a16="http://schemas.microsoft.com/office/drawing/2014/main" id="{6DE7FA84-9951-49CD-AF7B-F9EDDB14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926080"/>
            <a:ext cx="566928" cy="27432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CFAEF"/>
          </a:solidFill>
          <a:ln xmlns:a="http://schemas.openxmlformats.org/drawingml/2006/main" w="8890">
            <a:solidFill>
              <a:srgbClr val="62B8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9" name="TextBox 168">
            <a:extLst xmlns:a="http://schemas.openxmlformats.org/drawingml/2006/main">
              <a:ext uri="{FF2B5EF4-FFF2-40B4-BE49-F238E27FC236}">
                <a16:creationId xmlns:a16="http://schemas.microsoft.com/office/drawing/2014/main" id="{99495C88-8E83-4369-952D-6355D00D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92608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0">
                <a:solidFill>
                  <a:srgbClr val="5A6778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70" name="TextBox 169">
            <a:extLst xmlns:a="http://schemas.openxmlformats.org/drawingml/2006/main">
              <a:ext uri="{FF2B5EF4-FFF2-40B4-BE49-F238E27FC236}">
                <a16:creationId xmlns:a16="http://schemas.microsoft.com/office/drawing/2014/main" id="{58F0B9A8-8261-4832-BC6A-740D6C1A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3952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50" b="0">
                <a:solidFill>
                  <a:srgbClr val="5A6778"/>
                </a:solidFill>
                <a:latin typeface="Arial"/>
                <a:ea typeface="Arial"/>
                <a:cs typeface="Arial"/>
              </a:rPr>
              <a:t>NEXTGEN DOMAIN-DRIVEN DATA MODEL</a:t>
            </a:r>
          </a:p>
        </p:txBody>
      </p:sp>
      <p:pic>
        <p:nvPicPr>
          <p:cNvPr id="187" name="Picture 1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8bfcb068145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6120" y="1276415"/>
            <a:ext cx="7930732" cy="4968935"/>
          </a:xfrm>
          <a:prstGeom xmlns:a="http://schemas.openxmlformats.org/drawingml/2006/main" prst="rect">
            <a:avLst/>
          </a:prstGeom>
        </p:spPr>
      </p:pic>
      <p:pic>
        <p:nvPicPr>
          <p:cNvPr id="18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83042ba2645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757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4900DA54-9E76-48F1-98B9-5093862E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0"/>
            <a:ext cx="0" cy="1874519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793A6859-6782-4D72-9351-2749CF45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1" y="466344"/>
            <a:ext cx="585216" cy="585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524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FA6A92DF-1441-47F1-8F9F-DEC3899A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9" y="576071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7C86AB1B-47F6-43AF-B1B7-9C922C28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99" y="6675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C1F5"/>
          </a:solidFill>
          <a:ln xmlns:a="http://schemas.openxmlformats.org/drawingml/2006/main" w="889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9E59D9F5-FA9F-41CC-ADFB-5FFF4BA6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7" y="1499616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C1F5"/>
          </a:solidFill>
          <a:ln xmlns:a="http://schemas.openxmlformats.org/drawingml/2006/main" w="889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DB58FCC5-7A13-4A37-B87E-4EE551AA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384048"/>
            <a:ext cx="868680" cy="329184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05DE9243-8318-4E83-95C9-062C5CAF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972800" y="228600"/>
            <a:ext cx="594360" cy="48463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B010DA1-12AF-4FA9-8700-E7F9AB63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7432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0D0D08A6-4D76-4675-A8BA-3A66C512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5720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270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D327A283-BDE2-4B2F-8882-FD347E0D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13716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87B2E5E-8A91-43D5-BA55-926859DF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36576"/>
            <a:ext cx="640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•••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C837C7E-571D-4C84-80F3-7B268EB4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93192"/>
            <a:ext cx="45720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Từ thao tác người dùng đến vận hành doanh nghiệp</a:t>
            </a: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A04A0A44-C877-4022-97F0-23580A05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051560"/>
            <a:ext cx="5486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82C5A496-7A0E-4D3C-B79C-BEF509FA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2870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3E6"/>
          </a:solidFill>
          <a:ln xmlns:a="http://schemas.openxmlformats.org/drawingml/2006/main" w="254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BA1AFD32-179D-407D-B384-D5148C10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227" y="102870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3E6"/>
          </a:solidFill>
          <a:ln xmlns:a="http://schemas.openxmlformats.org/drawingml/2006/main" w="254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FDDF653-9952-4B43-A7AA-2BFC0EE4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600200"/>
            <a:ext cx="4617720" cy="4434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BD8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F4168C9-4F76-491C-863B-5A5C92B0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600200"/>
            <a:ext cx="4617720" cy="4434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BD8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3C002CD-C52B-4A8D-8A5B-C181BCD0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444752"/>
            <a:ext cx="137160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63E6"/>
          </a:solidFill>
          <a:ln xmlns:a="http://schemas.openxmlformats.org/drawingml/2006/main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84717AC-9B45-431B-AC38-00E1AC7F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481328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TRỊ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3F032F6-9713-4615-8FEA-F71DFF22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444752"/>
            <a:ext cx="157276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63E6"/>
          </a:solidFill>
          <a:ln xmlns:a="http://schemas.openxmlformats.org/drawingml/2006/main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EE58E40-9874-4B49-A745-A2D89331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481328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96AEADF7-0129-49E7-BED0-7801B5D3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31" y="320954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D409FDAA-7D6A-4DFC-9D8A-416CC5C4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429000"/>
            <a:ext cx="0" cy="347472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00E525AE-093B-44A8-A589-8BFE8188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3593592"/>
            <a:ext cx="402336" cy="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A05835AF-B339-4F98-8C02-254F6428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783080" y="3776472"/>
            <a:ext cx="182880" cy="27432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51A64392-5FD0-4BF1-9A49-B7DB03D1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776472"/>
            <a:ext cx="182880" cy="27432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58F2D5C-75A7-4C0E-954E-C6FE6C6B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4078224"/>
            <a:ext cx="877824" cy="216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C80EDAA4-5125-4A52-8B43-80390B4B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331927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BF5A9D75-E815-49EC-A13E-8E4A8FE8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538728"/>
            <a:ext cx="0" cy="347472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0F30332C-245D-4B59-AF1E-F22BAA4F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703320"/>
            <a:ext cx="402336" cy="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638A9EAA-112F-4F4B-A493-25629966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12280" y="3886200"/>
            <a:ext cx="182880" cy="27432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267FDDFF-AAC0-4516-8E72-36BF262C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886200"/>
            <a:ext cx="182880" cy="27432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AA5F92F-0D69-4AB0-A752-64589D09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187952"/>
            <a:ext cx="877824" cy="216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D05FE94A-6722-4FF7-A038-85FBBC65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1993392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Sản phẩm &amp; biến thể</a:t>
            </a:r>
          </a:p>
        </p:txBody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EC1179AF-FDF8-49D7-9D36-096ED88F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76272" y="2148840"/>
            <a:ext cx="1499615" cy="1536192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50256E00-93A0-474D-9176-F0AF07BA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2395728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Tồn kho &amp; đơn hàng</a:t>
            </a:r>
          </a:p>
        </p:txBody>
      </p:sp>
      <p:sp>
        <p:nvSpPr>
          <p:cNvPr id="38" name="Connector 37">
            <a:extLst xmlns:a="http://schemas.openxmlformats.org/drawingml/2006/main">
              <a:ext uri="{FF2B5EF4-FFF2-40B4-BE49-F238E27FC236}">
                <a16:creationId xmlns:a16="http://schemas.microsoft.com/office/drawing/2014/main" id="{6D6E94A1-234F-4AAA-B0F6-2E3D2475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76272" y="2551176"/>
            <a:ext cx="1499615" cy="1133856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8F5D3826-CB4D-4F48-A60D-FA8FE9AC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2798064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Khuyến mãi &amp; voucher</a:t>
            </a:r>
          </a:p>
        </p:txBody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B35D573F-A825-4E25-8393-C24A1BF3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76272" y="2953512"/>
            <a:ext cx="1499615" cy="731520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A966EAD8-8914-4BA5-A87C-4A423255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3200400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Affiliate &amp; hoa hồng</a:t>
            </a:r>
          </a:p>
        </p:txBody>
      </p:sp>
      <p:sp>
        <p:nvSpPr>
          <p:cNvPr id="42" name="Connector 41">
            <a:extLst xmlns:a="http://schemas.openxmlformats.org/drawingml/2006/main">
              <a:ext uri="{FF2B5EF4-FFF2-40B4-BE49-F238E27FC236}">
                <a16:creationId xmlns:a16="http://schemas.microsoft.com/office/drawing/2014/main" id="{249C15E5-869D-486E-A770-A40CF1AC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76272" y="3355848"/>
            <a:ext cx="1499615" cy="329184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11F926E1-0B74-4FCD-AC06-ABB2309C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3602736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Tin tức &amp; SEO</a:t>
            </a:r>
          </a:p>
        </p:txBody>
      </p:sp>
      <p:sp>
        <p:nvSpPr>
          <p:cNvPr id="44" name="Connector 43">
            <a:extLst xmlns:a="http://schemas.openxmlformats.org/drawingml/2006/main">
              <a:ext uri="{FF2B5EF4-FFF2-40B4-BE49-F238E27FC236}">
                <a16:creationId xmlns:a16="http://schemas.microsoft.com/office/drawing/2014/main" id="{F9EEA570-4F7E-4B4F-B77F-A54906F8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685032"/>
            <a:ext cx="1499615" cy="73152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A4BE9B85-69AC-4F9F-88F8-DEDD44A8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4005072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Chat &amp; hỗ trợ</a:t>
            </a:r>
          </a:p>
        </p:txBody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E4E934E1-B828-45EA-80BD-CC506371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685032"/>
            <a:ext cx="1499615" cy="475488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D6D73EAA-7902-4D88-B7DB-7E5AA3B9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4407408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Nhân sự &amp; chấm công</a:t>
            </a:r>
          </a:p>
        </p:txBody>
      </p:sp>
      <p:sp>
        <p:nvSpPr>
          <p:cNvPr id="48" name="Connector 47">
            <a:extLst xmlns:a="http://schemas.openxmlformats.org/drawingml/2006/main">
              <a:ext uri="{FF2B5EF4-FFF2-40B4-BE49-F238E27FC236}">
                <a16:creationId xmlns:a16="http://schemas.microsoft.com/office/drawing/2014/main" id="{79F4BFA8-98E7-4DA7-BEA8-225906F7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685032"/>
            <a:ext cx="1499615" cy="877824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BD87EBA7-D9A0-48E1-969A-7DD41726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4809744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Báo cáo &amp; nhật ký</a:t>
            </a:r>
          </a:p>
        </p:txBody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30D71EA5-59DE-4DC6-8085-F00DD2F1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685032"/>
            <a:ext cx="1499615" cy="1280160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B500E3E6-5B96-4975-92BF-C5450120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5212080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Phân quyền chi tiết</a:t>
            </a:r>
          </a:p>
        </p:txBody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FE55968A-4A4B-42A1-858E-BF1C553C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685032"/>
            <a:ext cx="1499615" cy="1682496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461AE6E3-E54E-4985-A25E-57C48D5E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5001768"/>
            <a:ext cx="960120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3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Khám phá sản phẩm</a:t>
            </a:r>
          </a:p>
        </p:txBody>
      </p:sp>
      <p:cxnSp>
        <p:nvCxnSpPr>
          <p:cNvPr id="206" name="Connector 53"/>
          <p:cNvCxnSpPr>
            <a:stCxn xmlns:a="http://schemas.openxmlformats.org/drawingml/2006/main" id="28" idx="2"/>
          </p:cNvCxnSpPr>
          <p:nvPr/>
        </p:nvCxnSpPr>
        <p:spPr>
          <a:xfrm xmlns:a="http://schemas.openxmlformats.org/drawingml/2006/main">
            <a:off x="1965960" y="4279392"/>
            <a:ext cx="0" cy="722376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77FFA683-6B9B-4D46-83BF-F91B8FC5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139696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Yêu thích &amp; đã xem</a:t>
            </a:r>
          </a:p>
        </p:txBody>
      </p:sp>
      <p:sp>
        <p:nvSpPr>
          <p:cNvPr id="56" name="Connector 55">
            <a:extLst xmlns:a="http://schemas.openxmlformats.org/drawingml/2006/main">
              <a:ext uri="{FF2B5EF4-FFF2-40B4-BE49-F238E27FC236}">
                <a16:creationId xmlns:a16="http://schemas.microsoft.com/office/drawing/2014/main" id="{8EF2E4A3-8E11-4A68-89D2-B63138F8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23760" y="2295144"/>
            <a:ext cx="1664208" cy="1499616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D7D16021-3CD8-47AE-B2CB-85B52901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578608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Giỏ hàng &amp; combo</a:t>
            </a:r>
          </a:p>
        </p:txBody>
      </p:sp>
      <p:sp>
        <p:nvSpPr>
          <p:cNvPr id="58" name="Connector 57">
            <a:extLst xmlns:a="http://schemas.openxmlformats.org/drawingml/2006/main">
              <a:ext uri="{FF2B5EF4-FFF2-40B4-BE49-F238E27FC236}">
                <a16:creationId xmlns:a16="http://schemas.microsoft.com/office/drawing/2014/main" id="{1C836C77-8D81-4192-AC12-BE9386E1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23760" y="2734056"/>
            <a:ext cx="1664208" cy="1060704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049863E4-A3A1-4964-AE0B-9295E35F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017520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Thanh toán đa kênh</a:t>
            </a:r>
          </a:p>
        </p:txBody>
      </p:sp>
      <p:sp>
        <p:nvSpPr>
          <p:cNvPr id="60" name="Connector 59">
            <a:extLst xmlns:a="http://schemas.openxmlformats.org/drawingml/2006/main">
              <a:ext uri="{FF2B5EF4-FFF2-40B4-BE49-F238E27FC236}">
                <a16:creationId xmlns:a16="http://schemas.microsoft.com/office/drawing/2014/main" id="{537494ED-9919-41B0-8777-8A829AD0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23760" y="3172968"/>
            <a:ext cx="1664208" cy="621792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Oval 60">
            <a:extLst xmlns:a="http://schemas.openxmlformats.org/drawingml/2006/main">
              <a:ext uri="{FF2B5EF4-FFF2-40B4-BE49-F238E27FC236}">
                <a16:creationId xmlns:a16="http://schemas.microsoft.com/office/drawing/2014/main" id="{C62A7952-DBD2-44C4-B69B-EC8425D1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456432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Theo dõi đơn hàng</a:t>
            </a:r>
          </a:p>
        </p:txBody>
      </p:sp>
      <p:sp>
        <p:nvSpPr>
          <p:cNvPr id="62" name="Connector 61">
            <a:extLst xmlns:a="http://schemas.openxmlformats.org/drawingml/2006/main">
              <a:ext uri="{FF2B5EF4-FFF2-40B4-BE49-F238E27FC236}">
                <a16:creationId xmlns:a16="http://schemas.microsoft.com/office/drawing/2014/main" id="{F02FFA82-D01C-4D0B-B1DB-0B4544BF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23760" y="3611879"/>
            <a:ext cx="1664208" cy="182881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3" name="Oval 62">
            <a:extLst xmlns:a="http://schemas.openxmlformats.org/drawingml/2006/main">
              <a:ext uri="{FF2B5EF4-FFF2-40B4-BE49-F238E27FC236}">
                <a16:creationId xmlns:a16="http://schemas.microsoft.com/office/drawing/2014/main" id="{348C915F-0ADB-4CCF-ACD2-57A2FCFA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895344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Xu &amp; vòng quay</a:t>
            </a:r>
          </a:p>
        </p:txBody>
      </p:sp>
      <p:sp>
        <p:nvSpPr>
          <p:cNvPr id="64" name="Connector 63">
            <a:extLst xmlns:a="http://schemas.openxmlformats.org/drawingml/2006/main">
              <a:ext uri="{FF2B5EF4-FFF2-40B4-BE49-F238E27FC236}">
                <a16:creationId xmlns:a16="http://schemas.microsoft.com/office/drawing/2014/main" id="{F36E0CB9-2357-4D90-8498-F5C1C524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794760"/>
            <a:ext cx="1664208" cy="256031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Oval 64">
            <a:extLst xmlns:a="http://schemas.openxmlformats.org/drawingml/2006/main">
              <a:ext uri="{FF2B5EF4-FFF2-40B4-BE49-F238E27FC236}">
                <a16:creationId xmlns:a16="http://schemas.microsoft.com/office/drawing/2014/main" id="{659881C4-A567-4BAD-A355-B888E5BF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334256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Affiliate center</a:t>
            </a:r>
          </a:p>
        </p:txBody>
      </p:sp>
      <p:sp>
        <p:nvSpPr>
          <p:cNvPr id="66" name="Connector 65">
            <a:extLst xmlns:a="http://schemas.openxmlformats.org/drawingml/2006/main">
              <a:ext uri="{FF2B5EF4-FFF2-40B4-BE49-F238E27FC236}">
                <a16:creationId xmlns:a16="http://schemas.microsoft.com/office/drawing/2014/main" id="{3C40F2E8-5DB0-4D68-B5EB-B957DDE7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794760"/>
            <a:ext cx="1664208" cy="694944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7" name="Oval 66">
            <a:extLst xmlns:a="http://schemas.openxmlformats.org/drawingml/2006/main">
              <a:ext uri="{FF2B5EF4-FFF2-40B4-BE49-F238E27FC236}">
                <a16:creationId xmlns:a16="http://schemas.microsoft.com/office/drawing/2014/main" id="{629B1D6A-B2A6-494D-AF20-04E568AB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773168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Chat realtime</a:t>
            </a:r>
          </a:p>
        </p:txBody>
      </p:sp>
      <p:sp>
        <p:nvSpPr>
          <p:cNvPr id="68" name="Connector 67">
            <a:extLst xmlns:a="http://schemas.openxmlformats.org/drawingml/2006/main">
              <a:ext uri="{FF2B5EF4-FFF2-40B4-BE49-F238E27FC236}">
                <a16:creationId xmlns:a16="http://schemas.microsoft.com/office/drawing/2014/main" id="{0151DB8C-7B2C-4A6F-85A6-E0CE5375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794760"/>
            <a:ext cx="1664208" cy="1133856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9" name="Oval 68">
            <a:extLst xmlns:a="http://schemas.openxmlformats.org/drawingml/2006/main">
              <a:ext uri="{FF2B5EF4-FFF2-40B4-BE49-F238E27FC236}">
                <a16:creationId xmlns:a16="http://schemas.microsoft.com/office/drawing/2014/main" id="{BD5214BE-9E12-46C6-9A0C-4C60D740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212080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Đánh giá sau mua</a:t>
            </a:r>
          </a:p>
        </p:txBody>
      </p:sp>
      <p:sp>
        <p:nvSpPr>
          <p:cNvPr id="70" name="Connector 69">
            <a:extLst xmlns:a="http://schemas.openxmlformats.org/drawingml/2006/main">
              <a:ext uri="{FF2B5EF4-FFF2-40B4-BE49-F238E27FC236}">
                <a16:creationId xmlns:a16="http://schemas.microsoft.com/office/drawing/2014/main" id="{5EA524B8-6C6B-4383-BD84-8F607D35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794760"/>
            <a:ext cx="1664208" cy="1572768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1" name="Oval 70">
            <a:extLst xmlns:a="http://schemas.openxmlformats.org/drawingml/2006/main">
              <a:ext uri="{FF2B5EF4-FFF2-40B4-BE49-F238E27FC236}">
                <a16:creationId xmlns:a16="http://schemas.microsoft.com/office/drawing/2014/main" id="{C15D50FB-494B-48E5-B8B7-AF87038A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983480"/>
            <a:ext cx="868680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Web &amp; Mobile</a:t>
            </a:r>
          </a:p>
        </p:txBody>
      </p:sp>
      <p:sp>
        <p:nvSpPr>
          <p:cNvPr id="72" name="Oval 71">
            <a:extLst xmlns:a="http://schemas.openxmlformats.org/drawingml/2006/main">
              <a:ext uri="{FF2B5EF4-FFF2-40B4-BE49-F238E27FC236}">
                <a16:creationId xmlns:a16="http://schemas.microsoft.com/office/drawing/2014/main" id="{22DB4FD1-CD28-4251-BAAB-8ABE6282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4983480"/>
            <a:ext cx="822960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Sanctum + Reverb</a:t>
            </a:r>
          </a:p>
        </p:txBody>
      </p:sp>
      <p:cxnSp>
        <p:nvCxnSpPr>
          <p:cNvPr id="225" name="Connector 72"/>
          <p:cNvCxnSpPr>
            <a:stCxn xmlns:a="http://schemas.openxmlformats.org/drawingml/2006/main" id="34" idx="2"/>
          </p:cNvCxnSpPr>
          <p:nvPr/>
        </p:nvCxnSpPr>
        <p:spPr>
          <a:xfrm xmlns:a="http://schemas.openxmlformats.org/drawingml/2006/main" flipH="1">
            <a:off x="6748272" y="4389120"/>
            <a:ext cx="246888" cy="594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4" name="Connector 73">
            <a:extLst xmlns:a="http://schemas.openxmlformats.org/drawingml/2006/main">
              <a:ext uri="{FF2B5EF4-FFF2-40B4-BE49-F238E27FC236}">
                <a16:creationId xmlns:a16="http://schemas.microsoft.com/office/drawing/2014/main" id="{98FDA816-77BE-4363-BB57-6FEC02A4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389120"/>
            <a:ext cx="640080" cy="594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5" name="Connector 74">
            <a:extLst xmlns:a="http://schemas.openxmlformats.org/drawingml/2006/main">
              <a:ext uri="{FF2B5EF4-FFF2-40B4-BE49-F238E27FC236}">
                <a16:creationId xmlns:a16="http://schemas.microsoft.com/office/drawing/2014/main" id="{61D229D7-DC28-45A3-9ACD-E4DE8555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6032" y="6446520"/>
            <a:ext cx="402336" cy="41148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6" name="Connector 75">
            <a:extLst xmlns:a="http://schemas.openxmlformats.org/drawingml/2006/main">
              <a:ext uri="{FF2B5EF4-FFF2-40B4-BE49-F238E27FC236}">
                <a16:creationId xmlns:a16="http://schemas.microsoft.com/office/drawing/2014/main" id="{E07CAB4F-5A78-435F-88CD-8578C5AE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46520"/>
            <a:ext cx="576072" cy="30175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7" name="Oval 76">
            <a:extLst xmlns:a="http://schemas.openxmlformats.org/drawingml/2006/main">
              <a:ext uri="{FF2B5EF4-FFF2-40B4-BE49-F238E27FC236}">
                <a16:creationId xmlns:a16="http://schemas.microsoft.com/office/drawing/2014/main" id="{2D8BC9A8-2D59-470F-98B5-C9790CEB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367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8" name="Oval 77">
            <a:extLst xmlns:a="http://schemas.openxmlformats.org/drawingml/2006/main">
              <a:ext uri="{FF2B5EF4-FFF2-40B4-BE49-F238E27FC236}">
                <a16:creationId xmlns:a16="http://schemas.microsoft.com/office/drawing/2014/main" id="{65B73FD3-9D73-4B2C-915D-A46E3C76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662025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3D3F56D3-14F0-4675-B7E0-87B7AF85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144768"/>
            <a:ext cx="685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E63E6"/>
                </a:solidFill>
                <a:latin typeface="Arial"/>
                <a:ea typeface="Arial"/>
                <a:cs typeface="Arial"/>
              </a:rPr>
              <a:t>• • • •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E63E6"/>
                </a:solidFill>
                <a:latin typeface="Arial"/>
                <a:ea typeface="Arial"/>
                <a:cs typeface="Arial"/>
              </a:rPr>
              <a:t>• • • •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E63E6"/>
                </a:solidFill>
                <a:latin typeface="Arial"/>
                <a:ea typeface="Arial"/>
                <a:cs typeface="Arial"/>
              </a:rPr>
              <a:t>• • • •</a:t>
            </a:r>
          </a:p>
        </p:txBody>
      </p:sp>
      <p:pic>
        <p:nvPicPr>
          <p:cNvPr id="232" name="Picture 7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af99d887b4f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1174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E7B1636-80BB-4FF5-8404-F2320BAC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975" y="309890"/>
            <a:ext cx="58064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BA ĐIỂM TẠO KHÁC BIỆT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56B2D4C6-A5EA-4C60-BACF-45D79B17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960120"/>
            <a:ext cx="566928" cy="0"/>
          </a:xfrm>
          <a:prstGeom xmlns:a="http://schemas.openxmlformats.org/drawingml/2006/main" prst="line">
            <a:avLst/>
          </a:prstGeom>
          <a:ln xmlns:a="http://schemas.openxmlformats.org/drawingml/2006/main" w="27940">
            <a:solidFill>
              <a:srgbClr val="1869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09063F39-CF58-40F0-AA10-06DEFA06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627" y="9372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69E6"/>
          </a:solidFill>
          <a:ln xmlns:a="http://schemas.openxmlformats.org/drawingml/2006/main" w="254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68D3C22F-C75D-492B-9A59-F579274F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372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69E6"/>
          </a:solidFill>
          <a:ln xmlns:a="http://schemas.openxmlformats.org/drawingml/2006/main" w="254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83750A9E-6AC8-468B-BBA2-5A29180E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372" y="9372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69E6"/>
          </a:solidFill>
          <a:ln xmlns:a="http://schemas.openxmlformats.org/drawingml/2006/main" w="254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A40DB33A-6A66-4BBF-B940-7493C629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72768"/>
            <a:ext cx="0" cy="322783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F9B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C1A6C3E7-0A25-4220-B551-5034611D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88366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42C99924-F11A-440B-ACAB-E6603EF2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023359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FF349A2B-601F-470C-AA4F-75A55C25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87000" y="731520"/>
            <a:ext cx="521208" cy="126187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F9B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B5364E58-780B-4FBF-8745-F0F4BB7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93392"/>
            <a:ext cx="411480" cy="1828799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F9B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3EB9DAD4-C69B-48B3-B035-215FAC02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63093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C91645C2-2BE2-4260-85F1-6BC0A9B0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71907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397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8ECB1C17-2E04-4535-A6DA-6DD63045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712463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19E3AF0-56D8-4591-B7EA-604BFBC4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353312"/>
            <a:ext cx="6355080" cy="13350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C0F092F4-C413-486D-9003-1173EDEC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417320"/>
            <a:ext cx="6208776" cy="12070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BBD8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80F0952E-4DAC-4A03-BA5B-7C64CD73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600200"/>
            <a:ext cx="841248" cy="8412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2032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29B237F-86B4-4F26-8028-D45DD87B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792224"/>
            <a:ext cx="475488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EBE0982C-20E4-45EE-98D1-A5E27191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86537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FADE38A4-FF75-430F-9ED2-9DA54AAD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194560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1869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8C14B753-6323-4A5C-9F1A-F359EF20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600200"/>
            <a:ext cx="0" cy="832104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82AF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066316A-57E2-46AA-9B60-45930B7B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563624"/>
            <a:ext cx="347472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Chấm công bằng</a:t>
            </a:r>
          </a:p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nhận diện khuôn mặt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3E9676B-7670-4CE0-AA3E-0BC77509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2048256"/>
            <a:ext cx="3794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9" b="0">
                <a:solidFill>
                  <a:srgbClr val="4B5C78"/>
                </a:solidFill>
                <a:latin typeface="Arial"/>
                <a:ea typeface="Arial"/>
                <a:cs typeface="Arial"/>
              </a:rPr>
              <a:t>Đăng ký khuôn mặt, check-in/check-out, ca làm, lịch sử và đơn nghỉ trên cùng hệ thống.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F535E3A-B4FF-49F6-8C17-01DA1611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563624"/>
            <a:ext cx="65836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D2E7F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FEA110E4-AB4F-4BA1-8D63-5169C6E4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20921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C84EEB41-B6F1-4E6F-9C48-F61CCA06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20921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7AE56357-7302-4132-B601-5A3468B3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20921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8512B5A0-0C43-4CA4-98CF-B457E1DC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20921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36343F5C-3A98-4161-B499-F29697A0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21835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EF08E3C4-C100-4FD4-A520-6F8381B2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21835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E9F97034-BF54-4428-AD34-4E623867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21835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56DDB9B1-29F8-45FF-8FE0-0ACB502A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21835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72C53D80-6DD3-4BC2-A885-5FECAAE5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22750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CFA9F49C-0B00-4837-BBB0-0A5A853B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22750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1D040BD1-F753-4BD2-8418-C6737C90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22750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CA3A9AC2-010B-4B0C-BA7D-4C75299B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22750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358152D7-10CD-4F30-8038-FDF13B1A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23664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C246A344-32F3-4DAE-8051-16BBFE1B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23664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827CA9E7-45F4-4782-951E-6525E274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23664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Oval 39">
            <a:extLst xmlns:a="http://schemas.openxmlformats.org/drawingml/2006/main">
              <a:ext uri="{FF2B5EF4-FFF2-40B4-BE49-F238E27FC236}">
                <a16:creationId xmlns:a16="http://schemas.microsoft.com/office/drawing/2014/main" id="{14CD6BC9-8012-47A6-9471-1034A887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23664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A65152E4-33C4-44A3-91FD-A2D8A08A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999232"/>
            <a:ext cx="6355080" cy="13350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7CE7A9DB-2B02-4FB6-B64D-51C7C23A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063239"/>
            <a:ext cx="6208776" cy="12070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BBD8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63F7A669-2095-42D9-B313-4A39B0C0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246120"/>
            <a:ext cx="841248" cy="8412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2032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F1178E44-981A-43EA-A20F-E052EBF3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383279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1869E6"/>
                </a:solidFill>
                <a:latin typeface="Arial"/>
                <a:ea typeface="Arial"/>
                <a:cs typeface="Arial"/>
              </a:rPr>
              <a:t>✚</a:t>
            </a:r>
          </a:p>
        </p:txBody>
      </p:sp>
      <p:sp>
        <p:nvSpPr>
          <p:cNvPr id="45" name="Connector 44">
            <a:extLst xmlns:a="http://schemas.openxmlformats.org/drawingml/2006/main">
              <a:ext uri="{FF2B5EF4-FFF2-40B4-BE49-F238E27FC236}">
                <a16:creationId xmlns:a16="http://schemas.microsoft.com/office/drawing/2014/main" id="{BF1BBA05-ACE6-4AB6-B789-4BADB1FB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246120"/>
            <a:ext cx="0" cy="832104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82AF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67853843-87DA-48EE-BDF2-74340DFC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3209544"/>
            <a:ext cx="347472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Affiliate có ví và</a:t>
            </a:r>
          </a:p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quy tắc tài chính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4926B90F-FFEA-4B97-AD95-0335F664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3694176"/>
            <a:ext cx="3794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9" b="0">
                <a:solidFill>
                  <a:srgbClr val="4B5C78"/>
                </a:solidFill>
                <a:latin typeface="Arial"/>
                <a:ea typeface="Arial"/>
                <a:cs typeface="Arial"/>
              </a:rPr>
              <a:t>Hoa hồng theo trạng thái đơn, số dư khả dụng, giữ tiền, rút tiền và chống gửi trùng.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140FB69-9011-463E-9D6C-F9F21668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209544"/>
            <a:ext cx="65836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D2E7F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405AB16E-F417-4240-ADAD-E16EF909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37380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Oval 49">
            <a:extLst xmlns:a="http://schemas.openxmlformats.org/drawingml/2006/main">
              <a:ext uri="{FF2B5EF4-FFF2-40B4-BE49-F238E27FC236}">
                <a16:creationId xmlns:a16="http://schemas.microsoft.com/office/drawing/2014/main" id="{1DE4B419-77AE-4731-9F84-AD3630BF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37380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D0A02CE0-7DEF-4E73-836D-761F0EF8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37380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CEE2365A-DC28-4170-A3E2-017CC194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37380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40F18A8B-F983-4E23-9FC5-96C80896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38295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1D5142FD-EFAE-4219-9AB7-12F83D88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38295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4BC11A70-DF2D-4C40-904B-4985539C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38295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Oval 55">
            <a:extLst xmlns:a="http://schemas.openxmlformats.org/drawingml/2006/main">
              <a:ext uri="{FF2B5EF4-FFF2-40B4-BE49-F238E27FC236}">
                <a16:creationId xmlns:a16="http://schemas.microsoft.com/office/drawing/2014/main" id="{CAB0150E-046E-4FE8-92D5-ADBEF4AC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38295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8582F96A-38F0-4D21-8CD2-9F500950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39209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Oval 57">
            <a:extLst xmlns:a="http://schemas.openxmlformats.org/drawingml/2006/main">
              <a:ext uri="{FF2B5EF4-FFF2-40B4-BE49-F238E27FC236}">
                <a16:creationId xmlns:a16="http://schemas.microsoft.com/office/drawing/2014/main" id="{490BAA3E-4483-4C87-B106-03246B1D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39209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93342C78-0C7F-4706-8840-70222049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39209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Oval 59">
            <a:extLst xmlns:a="http://schemas.openxmlformats.org/drawingml/2006/main">
              <a:ext uri="{FF2B5EF4-FFF2-40B4-BE49-F238E27FC236}">
                <a16:creationId xmlns:a16="http://schemas.microsoft.com/office/drawing/2014/main" id="{A11DF172-39AE-4DAD-B103-5A979258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39209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Oval 60">
            <a:extLst xmlns:a="http://schemas.openxmlformats.org/drawingml/2006/main">
              <a:ext uri="{FF2B5EF4-FFF2-40B4-BE49-F238E27FC236}">
                <a16:creationId xmlns:a16="http://schemas.microsoft.com/office/drawing/2014/main" id="{091A74BE-D069-41C6-80DA-6A935306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40123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Oval 61">
            <a:extLst xmlns:a="http://schemas.openxmlformats.org/drawingml/2006/main">
              <a:ext uri="{FF2B5EF4-FFF2-40B4-BE49-F238E27FC236}">
                <a16:creationId xmlns:a16="http://schemas.microsoft.com/office/drawing/2014/main" id="{1D990E35-85A2-4EEF-9D5D-2D10A5EC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40123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Oval 62">
            <a:extLst xmlns:a="http://schemas.openxmlformats.org/drawingml/2006/main">
              <a:ext uri="{FF2B5EF4-FFF2-40B4-BE49-F238E27FC236}">
                <a16:creationId xmlns:a16="http://schemas.microsoft.com/office/drawing/2014/main" id="{04DC8D79-91A4-4011-9D8C-71367567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40123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Oval 63">
            <a:extLst xmlns:a="http://schemas.openxmlformats.org/drawingml/2006/main">
              <a:ext uri="{FF2B5EF4-FFF2-40B4-BE49-F238E27FC236}">
                <a16:creationId xmlns:a16="http://schemas.microsoft.com/office/drawing/2014/main" id="{C315F227-3E91-4EAB-B479-F7D4166E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40123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46EE6FFB-2AB9-4A7A-8B49-03FDE066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645152"/>
            <a:ext cx="6355080" cy="13350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403E56AC-67AC-48EB-B808-4AA0B0BF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709160"/>
            <a:ext cx="6208776" cy="12070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BBD8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Oval 66">
            <a:extLst xmlns:a="http://schemas.openxmlformats.org/drawingml/2006/main">
              <a:ext uri="{FF2B5EF4-FFF2-40B4-BE49-F238E27FC236}">
                <a16:creationId xmlns:a16="http://schemas.microsoft.com/office/drawing/2014/main" id="{24844996-342D-479B-90C1-CC1DBBC0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892040"/>
            <a:ext cx="841248" cy="8412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2032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Oval 67">
            <a:extLst xmlns:a="http://schemas.openxmlformats.org/drawingml/2006/main">
              <a:ext uri="{FF2B5EF4-FFF2-40B4-BE49-F238E27FC236}">
                <a16:creationId xmlns:a16="http://schemas.microsoft.com/office/drawing/2014/main" id="{EE3F15BC-02D2-46D5-8903-2E780024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1937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B8093B4E-7C62-4650-B962-4EAE17F2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5056632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869E6"/>
                </a:solidFill>
                <a:latin typeface="Arial"/>
                <a:ea typeface="Arial"/>
                <a:cs typeface="Arial"/>
              </a:rPr>
              <a:t>•••</a:t>
            </a:r>
          </a:p>
        </p:txBody>
      </p:sp>
      <p:sp>
        <p:nvSpPr>
          <p:cNvPr id="70" name="Rounded Rectangle 69">
            <a:extLst xmlns:a="http://schemas.openxmlformats.org/drawingml/2006/main">
              <a:ext uri="{FF2B5EF4-FFF2-40B4-BE49-F238E27FC236}">
                <a16:creationId xmlns:a16="http://schemas.microsoft.com/office/drawing/2014/main" id="{8701FEA0-E465-4918-B838-331634D2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5056632"/>
            <a:ext cx="347472" cy="2377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1" name="Connector 70">
            <a:extLst xmlns:a="http://schemas.openxmlformats.org/drawingml/2006/main">
              <a:ext uri="{FF2B5EF4-FFF2-40B4-BE49-F238E27FC236}">
                <a16:creationId xmlns:a16="http://schemas.microsoft.com/office/drawing/2014/main" id="{FCB78246-DDCB-4555-BB9C-A473992A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892040"/>
            <a:ext cx="0" cy="832104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82AF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C58182E1-9780-41FC-A6D1-B44ED49E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4855464"/>
            <a:ext cx="347472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Offline sync và</a:t>
            </a:r>
          </a:p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realtime operations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F938E5D6-CB18-40D0-83F1-18A7418C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5340096"/>
            <a:ext cx="3794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9" b="0">
                <a:solidFill>
                  <a:srgbClr val="4B5C78"/>
                </a:solidFill>
                <a:latin typeface="Arial"/>
                <a:ea typeface="Arial"/>
                <a:cs typeface="Arial"/>
              </a:rPr>
              <a:t>Hàng đợi thao tác khi mất mạng kết hợp chat và cập nhật trạng thái đơn theo thời gian thực.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4D1C18CF-5656-404B-B5E6-D0024E3B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855464"/>
            <a:ext cx="65836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D2E7F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5" name="Oval 74">
            <a:extLst xmlns:a="http://schemas.openxmlformats.org/drawingml/2006/main">
              <a:ext uri="{FF2B5EF4-FFF2-40B4-BE49-F238E27FC236}">
                <a16:creationId xmlns:a16="http://schemas.microsoft.com/office/drawing/2014/main" id="{159C6C7F-3277-4FD2-AD36-51AAA45E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53839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6" name="Oval 75">
            <a:extLst xmlns:a="http://schemas.openxmlformats.org/drawingml/2006/main">
              <a:ext uri="{FF2B5EF4-FFF2-40B4-BE49-F238E27FC236}">
                <a16:creationId xmlns:a16="http://schemas.microsoft.com/office/drawing/2014/main" id="{97297138-457F-4D98-9D12-716FE12F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53839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7" name="Oval 76">
            <a:extLst xmlns:a="http://schemas.openxmlformats.org/drawingml/2006/main">
              <a:ext uri="{FF2B5EF4-FFF2-40B4-BE49-F238E27FC236}">
                <a16:creationId xmlns:a16="http://schemas.microsoft.com/office/drawing/2014/main" id="{9ECF2E05-D9FB-4A4E-8D90-C7624C29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53839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8" name="Oval 77">
            <a:extLst xmlns:a="http://schemas.openxmlformats.org/drawingml/2006/main">
              <a:ext uri="{FF2B5EF4-FFF2-40B4-BE49-F238E27FC236}">
                <a16:creationId xmlns:a16="http://schemas.microsoft.com/office/drawing/2014/main" id="{520196F5-79D6-4FF0-A772-B3241EDA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53839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9" name="Oval 78">
            <a:extLst xmlns:a="http://schemas.openxmlformats.org/drawingml/2006/main">
              <a:ext uri="{FF2B5EF4-FFF2-40B4-BE49-F238E27FC236}">
                <a16:creationId xmlns:a16="http://schemas.microsoft.com/office/drawing/2014/main" id="{4F98D4E1-C319-438E-92A7-3535DF7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54754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0" name="Oval 79">
            <a:extLst xmlns:a="http://schemas.openxmlformats.org/drawingml/2006/main">
              <a:ext uri="{FF2B5EF4-FFF2-40B4-BE49-F238E27FC236}">
                <a16:creationId xmlns:a16="http://schemas.microsoft.com/office/drawing/2014/main" id="{6CF2B7F3-F68E-449D-BD98-3AAD2188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54754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Oval 80">
            <a:extLst xmlns:a="http://schemas.openxmlformats.org/drawingml/2006/main">
              <a:ext uri="{FF2B5EF4-FFF2-40B4-BE49-F238E27FC236}">
                <a16:creationId xmlns:a16="http://schemas.microsoft.com/office/drawing/2014/main" id="{7558B3F3-AB3D-404C-8CAD-9784F262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54754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2" name="Oval 81">
            <a:extLst xmlns:a="http://schemas.openxmlformats.org/drawingml/2006/main">
              <a:ext uri="{FF2B5EF4-FFF2-40B4-BE49-F238E27FC236}">
                <a16:creationId xmlns:a16="http://schemas.microsoft.com/office/drawing/2014/main" id="{03F4A494-EC73-4257-B61E-D9AF2B6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54754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3" name="Oval 82">
            <a:extLst xmlns:a="http://schemas.openxmlformats.org/drawingml/2006/main">
              <a:ext uri="{FF2B5EF4-FFF2-40B4-BE49-F238E27FC236}">
                <a16:creationId xmlns:a16="http://schemas.microsoft.com/office/drawing/2014/main" id="{E4BB14D1-4980-43ED-96E3-29D89441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55668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4" name="Oval 83">
            <a:extLst xmlns:a="http://schemas.openxmlformats.org/drawingml/2006/main">
              <a:ext uri="{FF2B5EF4-FFF2-40B4-BE49-F238E27FC236}">
                <a16:creationId xmlns:a16="http://schemas.microsoft.com/office/drawing/2014/main" id="{BC23DEFE-DCAA-4CD6-99EA-30F299E8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55668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5" name="Oval 84">
            <a:extLst xmlns:a="http://schemas.openxmlformats.org/drawingml/2006/main">
              <a:ext uri="{FF2B5EF4-FFF2-40B4-BE49-F238E27FC236}">
                <a16:creationId xmlns:a16="http://schemas.microsoft.com/office/drawing/2014/main" id="{4CAA87C7-77B5-4D7A-B8CC-07E1A3D7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55668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6" name="Oval 85">
            <a:extLst xmlns:a="http://schemas.openxmlformats.org/drawingml/2006/main">
              <a:ext uri="{FF2B5EF4-FFF2-40B4-BE49-F238E27FC236}">
                <a16:creationId xmlns:a16="http://schemas.microsoft.com/office/drawing/2014/main" id="{0BD849D7-9248-4ACA-9628-47FA3FF2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55668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7" name="Oval 86">
            <a:extLst xmlns:a="http://schemas.openxmlformats.org/drawingml/2006/main">
              <a:ext uri="{FF2B5EF4-FFF2-40B4-BE49-F238E27FC236}">
                <a16:creationId xmlns:a16="http://schemas.microsoft.com/office/drawing/2014/main" id="{CF08964D-DEAB-47AB-9A89-337EE37A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56583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8" name="Oval 87">
            <a:extLst xmlns:a="http://schemas.openxmlformats.org/drawingml/2006/main">
              <a:ext uri="{FF2B5EF4-FFF2-40B4-BE49-F238E27FC236}">
                <a16:creationId xmlns:a16="http://schemas.microsoft.com/office/drawing/2014/main" id="{F1DC368B-410B-4521-A7DC-61CE89C5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56583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9" name="Oval 88">
            <a:extLst xmlns:a="http://schemas.openxmlformats.org/drawingml/2006/main">
              <a:ext uri="{FF2B5EF4-FFF2-40B4-BE49-F238E27FC236}">
                <a16:creationId xmlns:a16="http://schemas.microsoft.com/office/drawing/2014/main" id="{B978C66F-DB50-401C-B052-A5B4AF61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56583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0" name="Oval 89">
            <a:extLst xmlns:a="http://schemas.openxmlformats.org/drawingml/2006/main">
              <a:ext uri="{FF2B5EF4-FFF2-40B4-BE49-F238E27FC236}">
                <a16:creationId xmlns:a16="http://schemas.microsoft.com/office/drawing/2014/main" id="{35271E6B-31BE-4A37-B2F9-D783FDFA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56583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1" name="Arc 90">
            <a:extLst xmlns:a="http://schemas.openxmlformats.org/drawingml/2006/main">
              <a:ext uri="{FF2B5EF4-FFF2-40B4-BE49-F238E27FC236}">
                <a16:creationId xmlns:a16="http://schemas.microsoft.com/office/drawing/2014/main" id="{C607D8EB-03AF-425B-8D40-687217A0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6062472"/>
            <a:ext cx="3017520" cy="105156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28600">
            <a:solidFill>
              <a:srgbClr val="CDE2F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2" name="Arc 91">
            <a:extLst xmlns:a="http://schemas.openxmlformats.org/drawingml/2006/main">
              <a:ext uri="{FF2B5EF4-FFF2-40B4-BE49-F238E27FC236}">
                <a16:creationId xmlns:a16="http://schemas.microsoft.com/office/drawing/2014/main" id="{F488332F-F425-4887-B9B4-66646FD4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5448" y="6108192"/>
            <a:ext cx="3017520" cy="105156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7800">
            <a:solidFill>
              <a:srgbClr val="D7E7F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3" name="Arc 92">
            <a:extLst xmlns:a="http://schemas.openxmlformats.org/drawingml/2006/main">
              <a:ext uri="{FF2B5EF4-FFF2-40B4-BE49-F238E27FC236}">
                <a16:creationId xmlns:a16="http://schemas.microsoft.com/office/drawing/2014/main" id="{14D8B7FC-8BBB-49B1-89BE-79D3A56E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" y="6153912"/>
            <a:ext cx="3017520" cy="105156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27000">
            <a:solidFill>
              <a:srgbClr val="E1ECF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4" name="Oval 93">
            <a:extLst xmlns:a="http://schemas.openxmlformats.org/drawingml/2006/main">
              <a:ext uri="{FF2B5EF4-FFF2-40B4-BE49-F238E27FC236}">
                <a16:creationId xmlns:a16="http://schemas.microsoft.com/office/drawing/2014/main" id="{FFF98C48-359E-432C-9DC4-1DF8146B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878" y="604052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5" name="Oval 94">
            <a:extLst xmlns:a="http://schemas.openxmlformats.org/drawingml/2006/main">
              <a:ext uri="{FF2B5EF4-FFF2-40B4-BE49-F238E27FC236}">
                <a16:creationId xmlns:a16="http://schemas.microsoft.com/office/drawing/2014/main" id="{18374281-8F08-432D-AEB9-5EAF4834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3462" y="604052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6" name="Oval 95">
            <a:extLst xmlns:a="http://schemas.openxmlformats.org/drawingml/2006/main">
              <a:ext uri="{FF2B5EF4-FFF2-40B4-BE49-F238E27FC236}">
                <a16:creationId xmlns:a16="http://schemas.microsoft.com/office/drawing/2014/main" id="{78E03EEE-4E5E-4147-B4DF-68D0DB71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046" y="604052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7" name="Oval 96">
            <a:extLst xmlns:a="http://schemas.openxmlformats.org/drawingml/2006/main">
              <a:ext uri="{FF2B5EF4-FFF2-40B4-BE49-F238E27FC236}">
                <a16:creationId xmlns:a16="http://schemas.microsoft.com/office/drawing/2014/main" id="{8B8A8072-51DC-4900-90B2-9F872BE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630" y="604052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8" name="Oval 97">
            <a:extLst xmlns:a="http://schemas.openxmlformats.org/drawingml/2006/main">
              <a:ext uri="{FF2B5EF4-FFF2-40B4-BE49-F238E27FC236}">
                <a16:creationId xmlns:a16="http://schemas.microsoft.com/office/drawing/2014/main" id="{9C20D83E-C3C4-4F98-844D-270F1469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878" y="614111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9" name="Oval 98">
            <a:extLst xmlns:a="http://schemas.openxmlformats.org/drawingml/2006/main">
              <a:ext uri="{FF2B5EF4-FFF2-40B4-BE49-F238E27FC236}">
                <a16:creationId xmlns:a16="http://schemas.microsoft.com/office/drawing/2014/main" id="{8F97EF5A-0CC4-4DA5-B027-EAA19B93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3462" y="614111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0" name="Oval 99">
            <a:extLst xmlns:a="http://schemas.openxmlformats.org/drawingml/2006/main">
              <a:ext uri="{FF2B5EF4-FFF2-40B4-BE49-F238E27FC236}">
                <a16:creationId xmlns:a16="http://schemas.microsoft.com/office/drawing/2014/main" id="{886D554D-F489-438B-8506-7EA19AC6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046" y="614111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1" name="Oval 100">
            <a:extLst xmlns:a="http://schemas.openxmlformats.org/drawingml/2006/main">
              <a:ext uri="{FF2B5EF4-FFF2-40B4-BE49-F238E27FC236}">
                <a16:creationId xmlns:a16="http://schemas.microsoft.com/office/drawing/2014/main" id="{83D0E46D-04F6-42EE-9548-A0C14FD1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630" y="614111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2" name="Oval 101">
            <a:extLst xmlns:a="http://schemas.openxmlformats.org/drawingml/2006/main">
              <a:ext uri="{FF2B5EF4-FFF2-40B4-BE49-F238E27FC236}">
                <a16:creationId xmlns:a16="http://schemas.microsoft.com/office/drawing/2014/main" id="{071A4919-7D65-4F1E-9916-750D1D1C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878" y="62416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3" name="Oval 102">
            <a:extLst xmlns:a="http://schemas.openxmlformats.org/drawingml/2006/main">
              <a:ext uri="{FF2B5EF4-FFF2-40B4-BE49-F238E27FC236}">
                <a16:creationId xmlns:a16="http://schemas.microsoft.com/office/drawing/2014/main" id="{2EAB9B86-2514-448C-AACA-B543B6E8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3462" y="62416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4" name="Oval 103">
            <a:extLst xmlns:a="http://schemas.openxmlformats.org/drawingml/2006/main">
              <a:ext uri="{FF2B5EF4-FFF2-40B4-BE49-F238E27FC236}">
                <a16:creationId xmlns:a16="http://schemas.microsoft.com/office/drawing/2014/main" id="{40125F95-105D-401F-AA20-5D905E51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046" y="62416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5" name="Oval 104">
            <a:extLst xmlns:a="http://schemas.openxmlformats.org/drawingml/2006/main">
              <a:ext uri="{FF2B5EF4-FFF2-40B4-BE49-F238E27FC236}">
                <a16:creationId xmlns:a16="http://schemas.microsoft.com/office/drawing/2014/main" id="{B2314CB3-43D9-426C-8645-29013A49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630" y="62416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6" name="Oval 105">
            <a:extLst xmlns:a="http://schemas.openxmlformats.org/drawingml/2006/main">
              <a:ext uri="{FF2B5EF4-FFF2-40B4-BE49-F238E27FC236}">
                <a16:creationId xmlns:a16="http://schemas.microsoft.com/office/drawing/2014/main" id="{11DBA07E-2130-4495-967B-C6BF9C4D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878" y="63422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7" name="Oval 106">
            <a:extLst xmlns:a="http://schemas.openxmlformats.org/drawingml/2006/main">
              <a:ext uri="{FF2B5EF4-FFF2-40B4-BE49-F238E27FC236}">
                <a16:creationId xmlns:a16="http://schemas.microsoft.com/office/drawing/2014/main" id="{A6832A51-42B7-4C0A-82E6-69465FDD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3462" y="63422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8" name="Oval 107">
            <a:extLst xmlns:a="http://schemas.openxmlformats.org/drawingml/2006/main">
              <a:ext uri="{FF2B5EF4-FFF2-40B4-BE49-F238E27FC236}">
                <a16:creationId xmlns:a16="http://schemas.microsoft.com/office/drawing/2014/main" id="{2D0D61E9-274D-406E-8BA4-483E5622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046" y="63422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9" name="Oval 108">
            <a:extLst xmlns:a="http://schemas.openxmlformats.org/drawingml/2006/main">
              <a:ext uri="{FF2B5EF4-FFF2-40B4-BE49-F238E27FC236}">
                <a16:creationId xmlns:a16="http://schemas.microsoft.com/office/drawing/2014/main" id="{E5F2DC73-C23B-4AAB-9FF4-68B0A77E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630" y="63422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9" name="Picture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153b45b334d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3584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6FBA5FA-8F57-4799-99AE-658201DA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74320"/>
            <a:ext cx="3383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112/112 TEST ĐẠT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4959B8EA-08D4-49B0-BB40-11CCC764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859536"/>
            <a:ext cx="493776" cy="0"/>
          </a:xfrm>
          <a:prstGeom xmlns:a="http://schemas.openxmlformats.org/drawingml/2006/main" prst="line">
            <a:avLst/>
          </a:prstGeom>
          <a:ln xmlns:a="http://schemas.openxmlformats.org/drawingml/2006/main" w="26670">
            <a:solidFill>
              <a:srgbClr val="19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0D169271-E54E-4242-B18F-6B0689F1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8542" y="837590"/>
            <a:ext cx="43891" cy="438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57B5DE59-CC60-487F-BDD2-F3FBBE4A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414" y="837590"/>
            <a:ext cx="43891" cy="438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4D62722B-32C0-41AF-94B7-EB895E71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6286" y="837590"/>
            <a:ext cx="43891" cy="438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E1E2855E-2AB7-4120-89FA-EC60505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438912"/>
            <a:ext cx="749808" cy="8229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EB081D24-46CE-4824-9D45-BC60D62D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8912"/>
            <a:ext cx="1764792" cy="566928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080F46A5-910F-4FDD-8611-3104669D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7" y="301751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80DEC758-11DC-46C4-80D5-E3A4D4AA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1" y="379476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2C4B3C54-4E9E-4981-9050-50E37275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89611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4FF"/>
          </a:solidFill>
          <a:ln xmlns:a="http://schemas.openxmlformats.org/drawingml/2006/main" w="1143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14AFCF0D-D5CF-4E1B-8824-C7771C49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96012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B0B6E74F-3E40-4B90-BE23-0DA639BD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38912"/>
            <a:ext cx="777240" cy="27432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F2D89874-1450-4AC8-B165-6D485F97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018520" y="182880"/>
            <a:ext cx="1170432" cy="53035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A47BCB03-6916-4C77-B8D4-C0CCB6AE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292607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05653F1A-2376-4887-9D47-4414D9D1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6217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4FF"/>
          </a:solidFill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BE2B27D-BB71-4ADB-A42D-472DED5C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4709160" cy="3310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E0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8D55616-94C1-43B7-95F4-937949D6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1508760"/>
            <a:ext cx="5897880" cy="3310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E0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4D6E6C6-ACB3-4DA4-A46F-AFF9795C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399032"/>
            <a:ext cx="15544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4FD71AC-D4CA-4E52-8C1E-353D048C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426464"/>
            <a:ext cx="1554480" cy="231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4F4A92E6-64F7-4C70-99C6-1C396F6D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1399032"/>
            <a:ext cx="342900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128E5A-953D-43F9-B7A0-7A6D9DC5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1426464"/>
            <a:ext cx="3429000" cy="2209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BỔ THEO NHÓM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E3C25ED-6C6D-49CD-A6D8-93CA4274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1828800"/>
            <a:ext cx="169164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112 / 112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BDFB6E2-8004-4CAA-99D2-F5CC5C3D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28800"/>
            <a:ext cx="169164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112 TEST</a:t>
            </a:r>
          </a:p>
        </p:txBody>
      </p:sp>
      <p:graphicFrame>
        <p:nvGraphicFramePr>
          <p:cNvPr id="92" name="Chart 24"/>
          <p:cNvGraphicFramePr/>
          <p:nvPr/>
        </p:nvGraphicFramePr>
        <p:xfrm>
          <a:off xmlns:a="http://schemas.openxmlformats.org/drawingml/2006/main" x="1572768" y="2212848"/>
          <a:ext xmlns:a="http://schemas.openxmlformats.org/drawingml/2006/main" cx="2971800" cy="1920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3303e9b0a0480c"/>
          </a:graphicData>
        </a:graphic>
      </p:graphicFrame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EE005F22-0FF7-4225-85B1-7AF45D9F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" y="430225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B25C"/>
          </a:solidFill>
          <a:ln xmlns:a="http://schemas.openxmlformats.org/drawingml/2006/main" w="2540">
            <a:solidFill>
              <a:srgbClr val="32B25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B8BE5DF-F1B3-469C-9880-6F2F1890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5196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6FBE46E-9DD2-4A43-8B36-AEE8B229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4224528"/>
            <a:ext cx="685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2B25C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5AD16D7E-2BD1-46CA-9DCD-093C3E82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430225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B30"/>
          </a:solidFill>
          <a:ln xmlns:a="http://schemas.openxmlformats.org/drawingml/2006/main" w="2540">
            <a:solidFill>
              <a:srgbClr val="F43B3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B0EEB92-2DBB-4D64-A892-191B14AE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42519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E876AAC-EC96-4D9D-BD8B-E0F5ACD6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24528"/>
            <a:ext cx="685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43B30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graphicFrame>
        <p:nvGraphicFramePr>
          <p:cNvPr id="99" name="Chart 31"/>
          <p:cNvGraphicFramePr/>
          <p:nvPr/>
        </p:nvGraphicFramePr>
        <p:xfrm>
          <a:off xmlns:a="http://schemas.openxmlformats.org/drawingml/2006/main" x="5943600" y="2240280"/>
          <a:ext xmlns:a="http://schemas.openxmlformats.org/drawingml/2006/main" cx="2880360" cy="19659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c9a9e00418457d"/>
          </a:graphicData>
        </a:graphic>
      </p:graphicFrame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1FBF1093-2C75-497F-90F7-725BD562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1988819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4869383-817A-46FF-AA0F-A4F70C7C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1938528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Admin &amp; bảo mật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ACB68C9-7603-4E8C-8F9E-22486777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1938528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1EBBE216-2846-4EF6-AD4A-1AAAA995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2345436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B30"/>
          </a:solidFill>
          <a:ln xmlns:a="http://schemas.openxmlformats.org/drawingml/2006/main" w="2540">
            <a:solidFill>
              <a:srgbClr val="F43B3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0CD53AA-501A-4720-A4B2-97BDFD6D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295144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Xác thực tài khoản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FCB31214-7865-47AD-BC7C-47863B5B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2295144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9F55BBD4-A276-49E2-BE26-6BB35113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2702051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C"/>
          </a:solidFill>
          <a:ln xmlns:a="http://schemas.openxmlformats.org/drawingml/2006/main" w="2540">
            <a:solidFill>
              <a:srgbClr val="FFB80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6220D3E3-76DB-4D2B-94EA-B400330D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651760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Affiliate &amp; ví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7E821BE2-C535-4B29-9114-7711E783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2651760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9E0E111B-DDEA-40E9-9304-F84827AE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3058668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B25C"/>
          </a:solidFill>
          <a:ln xmlns:a="http://schemas.openxmlformats.org/drawingml/2006/main" w="2540">
            <a:solidFill>
              <a:srgbClr val="32B25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FD7F9BC1-F183-4569-A81C-0199BDC3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008376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Marketing &amp; nội dung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D91EE693-EE8E-4107-99E9-84CF557C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008376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26B5B549-00B0-4DFF-B3B1-A8AD6BB4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3415284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000"/>
          </a:solidFill>
          <a:ln xmlns:a="http://schemas.openxmlformats.org/drawingml/2006/main" w="2540">
            <a:solidFill>
              <a:srgbClr val="FF7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42529E74-11F9-469F-B734-1BEB02CE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364992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Mua hàng &amp; đánh giá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07F15711-9056-4835-83BC-18E06616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364992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544F8F52-A357-490D-83E4-B9D4EA62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3771900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B8BF"/>
          </a:solidFill>
          <a:ln xmlns:a="http://schemas.openxmlformats.org/drawingml/2006/main" w="2540">
            <a:solidFill>
              <a:srgbClr val="44B8B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9F82D81F-60A9-488A-8957-506ACDF5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721607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Core UI &amp; bảo vệ file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0D752B72-6C35-4A4C-AFF0-43E11C89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721607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AC8AB12C-91FD-4FEF-B144-F26D38A9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3771900"/>
            <a:ext cx="100584" cy="100584"/>
          </a:xfrm>
          <a:prstGeom xmlns:a="http://schemas.openxmlformats.org/drawingml/2006/main" prst="ellipse">
            <a:avLst/>
          </a:prstGeom>
          <a:ln xmlns:a="http://schemas.openxmlformats.org/drawingml/2006/main" w="2540">
            <a:solidFill>
              <a:srgbClr val="44B8B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8E854AFA-5C0F-453E-9858-CAC4AD82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4078224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1063AE40-481C-4143-818C-D70FF157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078224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B24E8F0B-26D3-495E-84E2-F791BB8C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7488"/>
            <a:ext cx="10771632" cy="9326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C9E0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DF22B85E-F506-4EE1-98F4-F0BB5BF5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276088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08E258E2-8430-4D62-8B56-5EBF50E3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303520"/>
            <a:ext cx="365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98E75218-2C04-47DE-837F-F4F597A3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5212080"/>
            <a:ext cx="1097280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BẰNG CHỨNG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6B87FE1B-8662-4808-B13C-A4E8ED3F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5468112"/>
            <a:ext cx="4069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05F75"/>
                </a:solidFill>
                <a:latin typeface="Arial"/>
                <a:ea typeface="Arial"/>
                <a:cs typeface="Arial"/>
              </a:rPr>
              <a:t>112/112 test đạt với 338 assertions. Frontend production build thành công hơn 2.000 module.</a:t>
            </a:r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2D30EFFD-D56C-4C54-8C10-4D6DD4EA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230368"/>
            <a:ext cx="192024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CDC67927-8BE2-482E-BCDC-54D177AD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85232"/>
            <a:ext cx="1700784" cy="1996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1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ASSERTIONS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007AA0E0-D8E6-4A10-BE81-A52DB76F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468112"/>
            <a:ext cx="1700784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964E1"/>
                </a:solidFill>
                <a:latin typeface="Arial"/>
                <a:ea typeface="Arial"/>
                <a:cs typeface="Arial"/>
              </a:rPr>
              <a:t>338</a:t>
            </a:r>
          </a:p>
        </p:txBody>
      </p:sp>
      <p:sp>
        <p:nvSpPr>
          <p:cNvPr id="62" name="Rounded Rectangle 61">
            <a:extLst xmlns:a="http://schemas.openxmlformats.org/drawingml/2006/main">
              <a:ext uri="{FF2B5EF4-FFF2-40B4-BE49-F238E27FC236}">
                <a16:creationId xmlns:a16="http://schemas.microsoft.com/office/drawing/2014/main" id="{726AF74F-B7CE-4A7F-AF00-62471355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5230368"/>
            <a:ext cx="2267712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845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2C5691D7-F94D-4C53-8039-2A008400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5285232"/>
            <a:ext cx="2048256" cy="1996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10" b="1">
                <a:solidFill>
                  <a:srgbClr val="8453E6"/>
                </a:solidFill>
                <a:latin typeface="Arial"/>
                <a:ea typeface="Arial"/>
                <a:cs typeface="Arial"/>
              </a:rPr>
              <a:t>NGÀY KIỂM TRA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E6B141E7-58C8-4241-B300-E98D8C87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5468112"/>
            <a:ext cx="2048256" cy="281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8453E6"/>
                </a:solidFill>
                <a:latin typeface="Arial"/>
                <a:ea typeface="Arial"/>
                <a:cs typeface="Arial"/>
              </a:rPr>
              <a:t>29 / 08 / 2026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F6B25F9D-7242-400B-8271-ACFAE877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245352"/>
            <a:ext cx="2926080" cy="185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>
                <a:solidFill>
                  <a:srgbClr val="505F75"/>
                </a:solidFill>
                <a:latin typeface="Arial"/>
                <a:ea typeface="Arial"/>
                <a:cs typeface="Arial"/>
              </a:rPr>
              <a:t>AUTOMATED QUALITY GATE</a:t>
            </a:r>
          </a:p>
        </p:txBody>
      </p:sp>
      <p:pic>
        <p:nvPicPr>
          <p:cNvPr id="133" name="Picture 6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1b566af4f46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3842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2FEFFEF9-EA7A-4F2D-BE6B-27A472D2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685800" cy="121615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582B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C02116E5-7845-4D09-9D9A-A47AFF4B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270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B6FAD35F-80FB-417C-9C9B-23DBE420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B3DED1B5-6B93-401B-BB11-A379E142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5800" y="502920"/>
            <a:ext cx="914400" cy="8229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582B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36635AC9-3E75-40CC-AB25-495C0F43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931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A409F463-DEDE-4909-9AD8-A777A355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"/>
            <a:ext cx="1371600" cy="3657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582B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E996BB4-BF07-4CFA-A18A-0D3B9BCA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74980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DF0CF10D-94E9-46C4-B3D4-0D856197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897880"/>
            <a:ext cx="868680" cy="73152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582B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77B1A2A7-F9C7-4D71-BF34-381D7248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565099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270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C1ABCE5-9F19-4E7A-A629-0E854E79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2004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08285E"/>
                </a:solidFill>
                <a:latin typeface="Arial"/>
                <a:ea typeface="Arial"/>
                <a:cs typeface="Arial"/>
              </a:rPr>
              <a:t>QUY MÔ SẢN PHẨM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33CF17C-AEEF-404C-8E3E-D74F5017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804672"/>
            <a:ext cx="45720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Không đo bằng số slide — đo bằng phạm vi nghiệp vụ đã triển khai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C638FFA9-580C-4B3E-9B04-3D75A7AC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097280"/>
            <a:ext cx="566928" cy="0"/>
          </a:xfrm>
          <a:prstGeom xmlns:a="http://schemas.openxmlformats.org/drawingml/2006/main" prst="line">
            <a:avLst/>
          </a:prstGeom>
          <a:ln xmlns:a="http://schemas.openxmlformats.org/drawingml/2006/main" w="26670">
            <a:solidFill>
              <a:srgbClr val="1D69D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A9A4BEB-D0DF-429E-8DBB-FB7CC206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481328"/>
            <a:ext cx="10012680" cy="44074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ED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2" name="Table 14"/>
          <p:cNvGraphicFramePr/>
          <p:nvPr/>
        </p:nvGraphicFramePr>
        <p:xfrm>
          <a:off xmlns:a="http://schemas.openxmlformats.org/drawingml/2006/main" x="1417320" y="1847088"/>
          <a:ext xmlns:a="http://schemas.openxmlformats.org/drawingml/2006/main" cx="8092440" cy="3429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423160"/>
                <a:gridCol w="1143000"/>
                <a:gridCol w="914400"/>
                <a:gridCol w="914400"/>
                <a:gridCol w="914400"/>
                <a:gridCol w="1280160"/>
              </a:tblGrid>
              <a:tr h="4297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STT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Hạng mục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Số lượng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Ý nghĩa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Web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Mobile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Controller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Xử lý nghiệp vụ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Miền dữ liệu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Migration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Tiến hóa CSDL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Màn hình khách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Trải nghiệm web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Màn hình admin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Vận hành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Màn hình mobile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Trải nghiệm di động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Automated test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112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Độ tin cậy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/>
                        <a:t>8</a:t>
                      </a:r>
                      <a:endParaRPr/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Assertions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/>
                        <a:t>338</a:t>
                      </a:r>
                      <a:endParaRPr/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/>
                        <a:t>Bằng chứng kiểm thử</a:t>
                      </a:r>
                      <a:endParaRPr/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/>
                        <a:t/>
                      </a:r>
                      <a:endParaRPr/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/>
                        <a:t/>
                      </a:r>
                      <a:endParaRPr/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2FE6B26-C67D-4EAC-8E07-D5583E86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1847088"/>
            <a:ext cx="109728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A17AA10-222D-4E0C-8897-06465606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1965960"/>
            <a:ext cx="914400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1D69DC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221F66B-B327-4E7F-9209-DF5C4122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2212848"/>
            <a:ext cx="91440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b="1">
                <a:solidFill>
                  <a:srgbClr val="08285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10B9D58-EA21-4EBB-B87E-053E4EF7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3108960"/>
            <a:ext cx="109728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0160">
            <a:solidFill>
              <a:srgbClr val="23A0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7766858-355A-414B-8963-8081420B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3227832"/>
            <a:ext cx="914400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3A069"/>
                </a:solidFill>
                <a:latin typeface="Arial"/>
                <a:ea typeface="Arial"/>
                <a:cs typeface="Arial"/>
              </a:rPr>
              <a:t>TEST PASS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FCF8B5D-5E94-420F-891E-64CEAE21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347472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23A069"/>
                </a:solidFill>
                <a:latin typeface="Arial"/>
                <a:ea typeface="Arial"/>
                <a:cs typeface="Arial"/>
              </a:rPr>
              <a:t>112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972FD81-A045-4895-B7EE-7BD4771E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4370832"/>
            <a:ext cx="109728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ED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BAA8F5A-95BE-4004-B8E4-57387149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4489704"/>
            <a:ext cx="914400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526074"/>
                </a:solidFill>
                <a:latin typeface="Arial"/>
                <a:ea typeface="Arial"/>
                <a:cs typeface="Arial"/>
              </a:rPr>
              <a:t>NỀN TẢNG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CFF6AA1-1721-4C70-A302-737CE3FA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4736592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8285E"/>
                </a:solidFill>
                <a:latin typeface="Arial"/>
                <a:ea typeface="Arial"/>
                <a:cs typeface="Arial"/>
              </a:rPr>
              <a:t>Web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8285E"/>
                </a:solidFill>
                <a:latin typeface="Arial"/>
                <a:ea typeface="Arial"/>
                <a:cs typeface="Arial"/>
              </a:rPr>
              <a:t>Mobile • API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B1C1979-6712-41BD-BAA9-3D7F67EB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596128"/>
            <a:ext cx="768096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Hệ thống gồm 50 controller, 53 model, 74 migration, 26 màn hình web, 37 màn hình quản trị và 23 màn hình mobile.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18879D9-F33B-4D69-97C1-1F04AE0A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6473952"/>
            <a:ext cx="292608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NEXTGEN PROJECT SCALE</a:t>
            </a:r>
          </a:p>
        </p:txBody>
      </p:sp>
      <p:pic>
        <p:nvPicPr>
          <p:cNvPr id="54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f05015fd049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5186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EBD7044E-E063-4C13-9844-AF32642E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987551"/>
            <a:ext cx="10744200" cy="472744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8FAB2ECF-BDEE-4BF1-B70A-A4A4F053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"/>
            <a:ext cx="1325880" cy="27432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A91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C6F0417E-8C16-4A3B-91A5-E8C79196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731520"/>
            <a:ext cx="960120" cy="86868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A91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2BA3D640-A826-49DA-9996-E3B68823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338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66A1D4CC-DAEC-4783-9FE8-8D18F56D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6217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5890961F-53B9-461F-A206-7DB769A0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168" y="134416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270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208373B-8A03-450B-B358-99FD12AC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BA3BE8A3-6C8F-442B-85AA-9AC234D8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486400"/>
            <a:ext cx="960120" cy="64008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A91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FEF78883-E357-4946-94E9-80AB64A3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71600" y="5742432"/>
            <a:ext cx="1508760" cy="384048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A91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737CABF9-3679-4047-9C2E-3E8C7516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39496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36E5C20F-5ACE-4BC3-A51A-9FF7E037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587959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270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C775FE47-67A0-4957-B042-FA2388E4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32" y="563270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802E824-C22D-4F1B-BA18-83F7424C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572768"/>
            <a:ext cx="141732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DD83807-3B08-4406-82AF-0F44E317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618488"/>
            <a:ext cx="141732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F42E18A-E3CE-4810-B895-D1BCACCB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82" y="1983741"/>
            <a:ext cx="4553712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Một hành trình xuyên suốt</a:t>
            </a:r>
            <a:endParaRPr sz="2900" b="1">
              <a:solidFill>
                <a:srgbClr val="07285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</a:pPr>
            <a:r>
              <a:rPr sz="290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thay vì trình diễn rời rạc</a:t>
            </a:r>
            <a:endParaRPr sz="2900" b="1">
              <a:solidFill>
                <a:srgbClr val="0728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553BC0D-7E3B-4929-9A27-560E064F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182112"/>
            <a:ext cx="6035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F5F78"/>
                </a:solidFill>
                <a:latin typeface="Arial"/>
                <a:ea typeface="Arial"/>
                <a:cs typeface="Arial"/>
              </a:rPr>
              <a:t>Demo chứng minh dữ liệu được liên kết từ khách hàng đến quản trị và tăng trưởng.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B1A5C65-48F2-4324-9FF5-D052DD48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840480"/>
            <a:ext cx="2487168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GIAO DIỆN THỰC TẾ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45FEC5D1-58E2-4523-A31C-188A25C3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096512"/>
            <a:ext cx="157276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6825E07C-8FF2-4EDE-939C-2444D09B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19" y="419709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448F5E2-09A3-42AB-8649-23D58F01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19" y="418795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01C1039-A599-4B53-864E-8BA40810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4169664"/>
            <a:ext cx="111556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Khám phá sản phẩm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0474125A-2ACC-44A0-9EC4-19E85C4B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96512"/>
            <a:ext cx="192024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A7C90CC3-B1C6-4730-A1C6-91FEB764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19709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CE6054A8-190C-406B-A852-FB57ABF3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18795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56FA475-D6FE-48B7-8C4B-C9656007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4169664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Giỏ hàng &amp; voucher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2F77DB4F-F567-49E3-BBF6-C5487317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96512"/>
            <a:ext cx="1874519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DB26C1C2-93E1-419A-9666-43B57120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19709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0FE24C76-173F-423A-942F-9C20DECF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18795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15998E21-B05F-4254-8448-7381E1CD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169664"/>
            <a:ext cx="141731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Thanh toán &amp; đơn hàng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E228C710-DA79-4E17-AE7A-767DA5FC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645152"/>
            <a:ext cx="19385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48412D27-F3E1-4275-81B4-0F1E2D85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19" y="474573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04850DCF-79F0-4311-9226-E52F261E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19" y="473659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CF03319D-DB34-44D4-BB88-4C23A224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4718304"/>
            <a:ext cx="148132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Admin xử lý đơn</a:t>
            </a: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4077358F-2231-4D67-B41C-44D097E4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645152"/>
            <a:ext cx="2084831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Oval 45">
            <a:extLst xmlns:a="http://schemas.openxmlformats.org/drawingml/2006/main">
              <a:ext uri="{FF2B5EF4-FFF2-40B4-BE49-F238E27FC236}">
                <a16:creationId xmlns:a16="http://schemas.microsoft.com/office/drawing/2014/main" id="{9EFE09BA-EA7B-44A0-A861-BD820C5D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74573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347E8067-681A-4470-BDB9-C1CFA63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73659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D635D0F8-A623-48CC-BCB0-7D8879D4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79" y="4718304"/>
            <a:ext cx="1627631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Affiliate &amp; loyalty</a:t>
            </a:r>
          </a:p>
        </p:txBody>
      </p:sp>
      <p:sp>
        <p:nvSpPr>
          <p:cNvPr id="49" name="Rounded Rectangle 48">
            <a:extLst xmlns:a="http://schemas.openxmlformats.org/drawingml/2006/main">
              <a:ext uri="{FF2B5EF4-FFF2-40B4-BE49-F238E27FC236}">
                <a16:creationId xmlns:a16="http://schemas.microsoft.com/office/drawing/2014/main" id="{1F1B1747-14C1-4395-A5CA-CAD3FB43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645152"/>
            <a:ext cx="19659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Oval 49">
            <a:extLst xmlns:a="http://schemas.openxmlformats.org/drawingml/2006/main">
              <a:ext uri="{FF2B5EF4-FFF2-40B4-BE49-F238E27FC236}">
                <a16:creationId xmlns:a16="http://schemas.microsoft.com/office/drawing/2014/main" id="{36A81E3C-858D-483F-B4FF-409E6589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474573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552B7A2F-845D-42DB-A2DD-C389BA0F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473659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80706BCC-51B3-421D-BE5A-EDBD6EBD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718304"/>
            <a:ext cx="1508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Chấm công khuôn mặt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8F05975F-8CD5-4207-AFFD-B2EC8505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230368"/>
            <a:ext cx="6217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Luồng demo:  Mua hàng  →  Thanh toán  →  Realtime  →  Quản trị  →  Loyalty  →  Face ID</a:t>
            </a:r>
          </a:p>
        </p:txBody>
      </p:sp>
      <p:sp>
        <p:nvSpPr>
          <p:cNvPr id="54" name="Connector 53">
            <a:extLst xmlns:a="http://schemas.openxmlformats.org/drawingml/2006/main">
              <a:ext uri="{FF2B5EF4-FFF2-40B4-BE49-F238E27FC236}">
                <a16:creationId xmlns:a16="http://schemas.microsoft.com/office/drawing/2014/main" id="{8CA2A2FB-FA1B-44A5-B952-03454D9D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6053328"/>
            <a:ext cx="998524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BED9F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82671F33-0972-436F-AAB1-D2BEA5A3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6199632"/>
            <a:ext cx="301752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50" b="0">
                <a:solidFill>
                  <a:srgbClr val="4F5F78"/>
                </a:solidFill>
                <a:latin typeface="Arial"/>
                <a:ea typeface="Arial"/>
                <a:cs typeface="Arial"/>
              </a:rPr>
              <a:t>NEXTGEN END-TO-END DEMO</a:t>
            </a:r>
          </a:p>
        </p:txBody>
      </p:sp>
      <p:pic>
        <p:nvPicPr>
          <p:cNvPr id="102" name="Picture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0d4f3018e4ea9"/>
          <a:srcRect xmlns:a="http://schemas.openxmlformats.org/drawingml/2006/main" l="0" t="7859" r="0" b="78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1796" y="1824228"/>
            <a:ext cx="4192444" cy="1988820"/>
          </a:xfrm>
          <a:prstGeom xmlns:a="http://schemas.openxmlformats.org/drawingml/2006/main" prst="rect">
            <a:avLst/>
          </a:prstGeom>
        </p:spPr>
      </p:pic>
      <p:pic>
        <p:nvPicPr>
          <p:cNvPr id="103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f071a4fb745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789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026FF86-465C-43EA-A8AE-C8A58340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777240"/>
            <a:ext cx="8366760" cy="5074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285FB9B2-D693-4405-A8F2-FF625892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11480"/>
            <a:ext cx="1554480" cy="30175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72E11B82-62B5-41D3-83AB-F7C1DF57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713232"/>
            <a:ext cx="1069848" cy="950976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15667223-94E1-411A-B9F8-94750A74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716768" y="530352"/>
            <a:ext cx="758952" cy="1133856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124826EF-4166-48CF-8102-9BC030FF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7" y="29260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2C36D009-F9F8-4F2B-8D4A-2227FCA5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60350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69D5B0A-93D3-445F-943F-C09192E3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13898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397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AC8C4CE4-28FE-49C7-930C-979AE444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15361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628D8E4-DA98-438A-8037-3D622676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424" y="44805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28055B1-0F23-487B-BF8A-F9B421FF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155448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•••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007F63F6-101F-4B14-B368-AA3DA3C1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577840"/>
            <a:ext cx="1097280" cy="566928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380F7608-8F6E-4754-B44D-729365FC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17320" y="5687568"/>
            <a:ext cx="1508760" cy="45720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5A36BF51-4DD7-4E6F-B75E-4CCF1685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687568"/>
            <a:ext cx="1417320" cy="45720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3B60B1B5-5949-423A-B95A-D348E0EF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" y="5495544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3CF30C42-5676-4B02-8013-CB794C15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588873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397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04F37129-CCCC-4A58-A93D-C6D57450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602589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2C1D540-ED71-4685-9D03-37DACC06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557784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4D9EE10C-2978-4174-8F1F-97417112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602589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CFF5057-CE8C-4BD1-903D-B5CCE5C3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261872"/>
            <a:ext cx="237744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236E5A0-FEE9-4F9A-9089-84137EDD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298448"/>
            <a:ext cx="23774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D1F03B6-1633-4F0F-95AC-EDD3B7C5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47088"/>
            <a:ext cx="6446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80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NEXTGEN ECOSYSTEM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2B1980C-AD1F-44DD-A839-8BAC914C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97480"/>
            <a:ext cx="67208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F5F78"/>
                </a:solidFill>
                <a:latin typeface="Arial"/>
                <a:ea typeface="Arial"/>
                <a:cs typeface="Arial"/>
              </a:rPr>
              <a:t>Kết nối khách hàng, vận hành và tăng trưởng</a:t>
            </a:r>
          </a:p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F5F78"/>
                </a:solidFill>
                <a:latin typeface="Arial"/>
                <a:ea typeface="Arial"/>
                <a:cs typeface="Arial"/>
              </a:rPr>
              <a:t>trên web, mobile và realtime.</a:t>
            </a:r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706D5651-C22C-4D97-BC75-CD758206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593592"/>
            <a:ext cx="73152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969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BC6783A7-E0EE-4F3F-9D79-903FF89D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027" y="357073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036BA97C-8E3D-4468-9806-2248D46E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188" y="357073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AA52579D-EB75-4E00-A380-A6FC7032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348" y="357073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6F65DEDE-6428-41CB-AEDF-5A417FD5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977639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4DD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C3C71372-13C4-41DA-84D3-3F193D6B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422452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397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99BEB82-4849-41C6-8D57-BF501D6D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4279392"/>
            <a:ext cx="47548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4F9F851-8B32-4F13-BEEA-966956EC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133087"/>
            <a:ext cx="3246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Q&amp;A • THẢO LUẬN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53C9556-93C2-4CDB-81CC-4A156086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443984"/>
            <a:ext cx="3246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4F5F78"/>
                </a:solidFill>
                <a:latin typeface="Arial"/>
                <a:ea typeface="Arial"/>
                <a:cs typeface="Arial"/>
              </a:rPr>
              <a:t>Sẵn sàng trình diễn luồng nghiệp vụ thực tế.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A41F8C2-72EF-42BF-8244-A86E4CE4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85232"/>
            <a:ext cx="4389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Predator Group  •  NextGen Laptop Ecosystem</a:t>
            </a:r>
          </a:p>
        </p:txBody>
      </p:sp>
      <p:pic>
        <p:nvPicPr>
          <p:cNvPr id="67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6496111f047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9114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2026-08-29T12:44:56.7650000Z</dcterms:created>
  <dcterms:modified xsi:type="dcterms:W3CDTF">2026-08-29T12:44:56.7650000Z</dcterms:modified>
</coreProperties>
</file>